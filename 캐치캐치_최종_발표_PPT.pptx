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  <p:sldMasterId id="2147483663" r:id="rId2"/>
    <p:sldMasterId id="2147483685" r:id="rId3"/>
    <p:sldMasterId id="2147483698" r:id="rId4"/>
  </p:sldMasterIdLst>
  <p:notesMasterIdLst>
    <p:notesMasterId r:id="rId29"/>
  </p:notesMasterIdLst>
  <p:sldIdLst>
    <p:sldId id="303" r:id="rId5"/>
    <p:sldId id="302" r:id="rId6"/>
    <p:sldId id="308" r:id="rId7"/>
    <p:sldId id="324" r:id="rId8"/>
    <p:sldId id="334" r:id="rId9"/>
    <p:sldId id="310" r:id="rId10"/>
    <p:sldId id="331" r:id="rId11"/>
    <p:sldId id="330" r:id="rId12"/>
    <p:sldId id="311" r:id="rId13"/>
    <p:sldId id="312" r:id="rId14"/>
    <p:sldId id="332" r:id="rId15"/>
    <p:sldId id="325" r:id="rId16"/>
    <p:sldId id="326" r:id="rId17"/>
    <p:sldId id="288" r:id="rId18"/>
    <p:sldId id="333" r:id="rId19"/>
    <p:sldId id="314" r:id="rId20"/>
    <p:sldId id="327" r:id="rId21"/>
    <p:sldId id="328" r:id="rId22"/>
    <p:sldId id="256" r:id="rId23"/>
    <p:sldId id="316" r:id="rId24"/>
    <p:sldId id="290" r:id="rId25"/>
    <p:sldId id="315" r:id="rId26"/>
    <p:sldId id="317" r:id="rId27"/>
    <p:sldId id="329" r:id="rId28"/>
  </p:sldIdLst>
  <p:sldSz cx="9144000" cy="5143500" type="screen16x9"/>
  <p:notesSz cx="5143500" cy="9144000"/>
  <p:embeddedFontLst>
    <p:embeddedFont>
      <p:font typeface="나눔고딕 ExtraBold" panose="020B0600000101010101" charset="-127"/>
      <p:bold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Noto Sans" panose="020B0502040504020204" pitchFamily="34" charset="0"/>
      <p:regular r:id="rId35"/>
      <p:bold r:id="rId36"/>
      <p:italic r:id="rId37"/>
      <p:boldItalic r:id="rId38"/>
    </p:embeddedFont>
    <p:embeddedFont>
      <p:font typeface="Yu Gothic" panose="020B0400000000000000" pitchFamily="34" charset="-128"/>
      <p:regular r:id="rId39"/>
      <p:bold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맑은 고딕" panose="020B0503020000020004" pitchFamily="50" charset="-127"/>
      <p:regular r:id="rId41"/>
      <p:bold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동환" initials="/김" lastIdx="1" clrIdx="0">
    <p:extLst>
      <p:ext uri="{19B8F6BF-5375-455C-9EA6-DF929625EA0E}">
        <p15:presenceInfo xmlns:p15="http://schemas.microsoft.com/office/powerpoint/2012/main" userId="S::wlffjt2929@office.inha.ac.kr::abcfffe0-e3ae-4234-928f-81db5622f0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BFF"/>
    <a:srgbClr val="8AF0A6"/>
    <a:srgbClr val="0B356E"/>
    <a:srgbClr val="DFA72A"/>
    <a:srgbClr val="09161E"/>
    <a:srgbClr val="09151B"/>
    <a:srgbClr val="0F4CB8"/>
    <a:srgbClr val="09151C"/>
    <a:srgbClr val="113E90"/>
    <a:srgbClr val="8AB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101" autoAdjust="0"/>
  </p:normalViewPr>
  <p:slideViewPr>
    <p:cSldViewPr snapToGrid="0" snapToObjects="1">
      <p:cViewPr>
        <p:scale>
          <a:sx n="100" d="100"/>
          <a:sy n="100" d="100"/>
        </p:scale>
        <p:origin x="946" y="-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85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고객 청구 데이터 기반 </a:t>
            </a:r>
            <a:r>
              <a:rPr lang="ko-KR" altLang="en-US" dirty="0" err="1"/>
              <a:t>머신러닝</a:t>
            </a:r>
            <a:r>
              <a:rPr lang="ko-KR" altLang="en-US" dirty="0"/>
              <a:t> 프로젝트를 담당한 </a:t>
            </a:r>
            <a:r>
              <a:rPr lang="en-US" altLang="ko-KR" dirty="0"/>
              <a:t>3</a:t>
            </a:r>
            <a:r>
              <a:rPr lang="ko-KR" altLang="en-US" dirty="0"/>
              <a:t>조 </a:t>
            </a:r>
            <a:r>
              <a:rPr lang="ko-KR" altLang="en-US" dirty="0" err="1"/>
              <a:t>캐치캐치입니다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97F22D-506C-4E8A-BD33-6D21351038F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787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 목차는 문제정의부터 최종결과 </a:t>
            </a:r>
            <a:r>
              <a:rPr lang="en-US" altLang="ko-KR" dirty="0"/>
              <a:t>&amp; </a:t>
            </a:r>
            <a:r>
              <a:rPr lang="ko-KR" altLang="en-US" dirty="0"/>
              <a:t>인사이트까지 </a:t>
            </a:r>
            <a:r>
              <a:rPr lang="en-US" altLang="ko-KR" dirty="0"/>
              <a:t>5</a:t>
            </a:r>
            <a:r>
              <a:rPr lang="ko-KR" altLang="en-US" dirty="0"/>
              <a:t>개로 </a:t>
            </a:r>
            <a:r>
              <a:rPr lang="ko-KR" altLang="en-US" dirty="0" err="1"/>
              <a:t>구성되어있습니다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저희의 문제는 보험사기고객인지 아닌지 판별하는 </a:t>
            </a:r>
            <a:r>
              <a:rPr lang="ko-KR" altLang="en-US" dirty="0" err="1"/>
              <a:t>이진분류문제이고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사기의심고객의</a:t>
            </a:r>
            <a:r>
              <a:rPr lang="ko-KR" altLang="en-US" dirty="0"/>
              <a:t> 비율이 </a:t>
            </a:r>
            <a:r>
              <a:rPr lang="en-US" altLang="ko-KR" dirty="0"/>
              <a:t>8.76% </a:t>
            </a:r>
            <a:r>
              <a:rPr lang="ko-KR" altLang="en-US" dirty="0"/>
              <a:t>에 해당하는 클래스불균형 문제입니다</a:t>
            </a:r>
            <a:r>
              <a:rPr lang="en-US" altLang="ko-KR" dirty="0"/>
              <a:t>. </a:t>
            </a:r>
            <a:r>
              <a:rPr lang="ko-KR" altLang="en-US" dirty="0"/>
              <a:t>이에 따라 </a:t>
            </a:r>
            <a:r>
              <a:rPr lang="en-US" altLang="ko-KR" dirty="0"/>
              <a:t>Recall </a:t>
            </a:r>
            <a:r>
              <a:rPr lang="ko-KR" altLang="en-US" dirty="0"/>
              <a:t>지표와 </a:t>
            </a:r>
            <a:r>
              <a:rPr lang="en-US" altLang="ko-KR" dirty="0"/>
              <a:t>F1 Score </a:t>
            </a:r>
            <a:r>
              <a:rPr lang="ko-KR" altLang="en-US" dirty="0"/>
              <a:t>를 지표로 사용하였습니다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Recall </a:t>
            </a:r>
            <a:r>
              <a:rPr lang="ko-KR" altLang="en-US" dirty="0"/>
              <a:t>의 경우 실제 보험사기꾼 으로 판별된 인원중에 사기꾼으로 예측했던 비율이며</a:t>
            </a:r>
            <a:r>
              <a:rPr lang="en-US" altLang="ko-KR" dirty="0"/>
              <a:t>, </a:t>
            </a:r>
            <a:r>
              <a:rPr lang="ko-KR" altLang="en-US" dirty="0"/>
              <a:t>하나의 사기가 보험회사에서 큰 손해로 이어지기에</a:t>
            </a:r>
            <a:r>
              <a:rPr lang="en-US" altLang="ko-KR" dirty="0"/>
              <a:t> </a:t>
            </a:r>
            <a:r>
              <a:rPr lang="ko-KR" altLang="en-US" dirty="0"/>
              <a:t>사기 의심고객을 놓치지 않는 것에 우선순위를 두었기 때문입니다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Precision </a:t>
            </a:r>
            <a:r>
              <a:rPr lang="ko-KR" altLang="en-US" dirty="0"/>
              <a:t>의 경우 사기라고 의심한 인원중에 </a:t>
            </a:r>
            <a:r>
              <a:rPr lang="ko-KR" altLang="en-US" dirty="0" err="1"/>
              <a:t>실제사기꾼인</a:t>
            </a:r>
            <a:r>
              <a:rPr lang="ko-KR" altLang="en-US" dirty="0"/>
              <a:t> 비율인데</a:t>
            </a:r>
            <a:r>
              <a:rPr lang="en-US" altLang="ko-KR" dirty="0"/>
              <a:t>, </a:t>
            </a:r>
            <a:r>
              <a:rPr lang="ko-KR" altLang="en-US" dirty="0"/>
              <a:t>이 비율이 낮으면 많은 것에 비해 실제 사기꾼은 적다는 것이므로 고객입장에서 기분이 </a:t>
            </a:r>
            <a:r>
              <a:rPr lang="ko-KR" altLang="en-US" dirty="0" err="1"/>
              <a:t>나쁠수도</a:t>
            </a:r>
            <a:r>
              <a:rPr lang="ko-KR" altLang="en-US" dirty="0"/>
              <a:t> 있지만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고객에게 이러한 이야기를 </a:t>
            </a:r>
            <a:r>
              <a:rPr lang="ko-KR" altLang="en-US" dirty="0" err="1"/>
              <a:t>하지않으면</a:t>
            </a:r>
            <a:r>
              <a:rPr lang="ko-KR" altLang="en-US" dirty="0"/>
              <a:t> 고객은 모르기 때문에 </a:t>
            </a:r>
            <a:r>
              <a:rPr lang="en-US" altLang="ko-KR" dirty="0"/>
              <a:t>Recall</a:t>
            </a:r>
            <a:r>
              <a:rPr lang="ko-KR" altLang="en-US" dirty="0"/>
              <a:t>에 우선순위를 두었습니다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또한 이번 프로젝트의 주요목표는 최고의 성능을 내는 모델을 </a:t>
            </a:r>
            <a:r>
              <a:rPr lang="ko-KR" altLang="en-US" dirty="0" err="1"/>
              <a:t>만들어보자보다는</a:t>
            </a:r>
            <a:r>
              <a:rPr lang="ko-KR" altLang="en-US" dirty="0"/>
              <a:t> </a:t>
            </a:r>
            <a:r>
              <a:rPr lang="ko-KR" altLang="en-US" dirty="0" err="1"/>
              <a:t>전처리</a:t>
            </a:r>
            <a:r>
              <a:rPr lang="ko-KR" altLang="en-US" dirty="0"/>
              <a:t> 전략이 성능에 얼마나 영향을 미치는지 </a:t>
            </a:r>
            <a:r>
              <a:rPr lang="ko-KR" altLang="en-US" dirty="0" err="1"/>
              <a:t>비교해보자에</a:t>
            </a:r>
            <a:r>
              <a:rPr lang="ko-KR" altLang="en-US" dirty="0"/>
              <a:t> 중점을 두었습니다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데이터의 구성은 다음과 같이 되어있습니다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실제 데이터를 살펴보면 </a:t>
            </a:r>
            <a:r>
              <a:rPr lang="en-US" altLang="ko-KR" dirty="0"/>
              <a:t>1</a:t>
            </a:r>
            <a:r>
              <a:rPr lang="ko-KR" altLang="en-US" dirty="0"/>
              <a:t>명의 고객이 여러 청구 이력을 가지는 구조이므로 고객을 기준으로 청구데이터들을 집계합니다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513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타깃 변수와 학습대상은 다음과 같이 고려하였습니다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연령분포는 나이를 가로축</a:t>
            </a:r>
            <a:r>
              <a:rPr lang="en-US" altLang="ko-KR" dirty="0"/>
              <a:t>, </a:t>
            </a:r>
            <a:r>
              <a:rPr lang="ko-KR" altLang="en-US" dirty="0"/>
              <a:t>세로를 비율로 하여 보험사기꾼</a:t>
            </a:r>
            <a:r>
              <a:rPr lang="en-US" altLang="ko-KR" dirty="0"/>
              <a:t>, </a:t>
            </a:r>
            <a:r>
              <a:rPr lang="ko-KR" altLang="en-US" dirty="0"/>
              <a:t>비사기꾼 모두 정규분포에 가까운 형태로 존재하는 구조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1E00-D6F9-1819-3A77-60837C8A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C4FA5-11B1-CD73-081D-3EE2CDD13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E3E4B-F386-F6F1-E555-A0E8A6D0E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….. </a:t>
            </a:r>
            <a:r>
              <a:rPr lang="ko-KR" altLang="en-US" dirty="0" err="1"/>
              <a:t>소개후</a:t>
            </a:r>
            <a:endParaRPr lang="en-US" altLang="ko-KR" dirty="0"/>
          </a:p>
          <a:p>
            <a:r>
              <a:rPr lang="ko-KR" altLang="en-US" dirty="0"/>
              <a:t>저희는 </a:t>
            </a:r>
            <a:r>
              <a:rPr lang="ko-KR" altLang="en-US" dirty="0" err="1"/>
              <a:t>이런식으로</a:t>
            </a:r>
            <a:r>
              <a:rPr lang="ko-KR" altLang="en-US" dirty="0"/>
              <a:t> 고객데이터들에 대한 </a:t>
            </a:r>
            <a:r>
              <a:rPr lang="en-US" altLang="ko-KR" dirty="0"/>
              <a:t>EDA </a:t>
            </a:r>
            <a:r>
              <a:rPr lang="ko-KR" altLang="en-US" dirty="0"/>
              <a:t>통해 유의미한 인사이트를 얻고자 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4EF7D-737E-E9D6-696E-735E348A666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2163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3819A-478F-6E2A-23F7-3F8D0C26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A482E-0F11-0F9D-8163-56DB38F70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B0915-E594-8B9D-FAFF-4576F97EB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MNAR </a:t>
            </a:r>
            <a:r>
              <a:rPr lang="ko-KR" altLang="en-US" dirty="0"/>
              <a:t>즉 </a:t>
            </a:r>
            <a:r>
              <a:rPr lang="ko-KR" altLang="en-US" dirty="0" err="1"/>
              <a:t>비무작위</a:t>
            </a:r>
            <a:r>
              <a:rPr lang="ko-KR" altLang="en-US" dirty="0"/>
              <a:t> </a:t>
            </a:r>
            <a:r>
              <a:rPr lang="ko-KR" altLang="en-US" dirty="0" err="1"/>
              <a:t>결측으로</a:t>
            </a:r>
            <a:r>
              <a:rPr lang="ko-KR" altLang="en-US" dirty="0"/>
              <a:t> 판단가능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MCAR </a:t>
            </a:r>
          </a:p>
          <a:p>
            <a:pPr lvl="1"/>
            <a:r>
              <a:rPr lang="ko-KR" altLang="en-US" dirty="0"/>
              <a:t>완전히 무작위 결측</a:t>
            </a:r>
          </a:p>
          <a:p>
            <a:pPr lvl="1"/>
            <a:r>
              <a:rPr lang="ko-KR" altLang="en-US" dirty="0"/>
              <a:t>결측 여부가 어떤 </a:t>
            </a:r>
            <a:r>
              <a:rPr lang="ko-KR" altLang="en-US" dirty="0" err="1"/>
              <a:t>변수와도</a:t>
            </a:r>
            <a:r>
              <a:rPr lang="ko-KR" altLang="en-US" dirty="0"/>
              <a:t> 관련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데이터 값 </a:t>
            </a:r>
            <a:r>
              <a:rPr lang="ko-KR" altLang="en-US" dirty="0" err="1"/>
              <a:t>자체와도</a:t>
            </a:r>
            <a:r>
              <a:rPr lang="en-US" altLang="ko-KR" dirty="0"/>
              <a:t>, </a:t>
            </a:r>
            <a:r>
              <a:rPr lang="ko-KR" altLang="en-US" dirty="0"/>
              <a:t>다른 </a:t>
            </a:r>
            <a:r>
              <a:rPr lang="ko-KR" altLang="en-US" dirty="0" err="1"/>
              <a:t>변수와도</a:t>
            </a:r>
            <a:r>
              <a:rPr lang="ko-KR" altLang="en-US" dirty="0"/>
              <a:t> 무관</a:t>
            </a:r>
          </a:p>
          <a:p>
            <a:pPr lvl="1"/>
            <a:r>
              <a:rPr lang="ko-KR" altLang="en-US" dirty="0"/>
              <a:t>예를 들어 설문지 인쇄오류</a:t>
            </a:r>
            <a:r>
              <a:rPr lang="en-US" altLang="ko-KR" dirty="0"/>
              <a:t>, </a:t>
            </a:r>
            <a:r>
              <a:rPr lang="ko-KR" altLang="en-US" dirty="0"/>
              <a:t>센서가 랜덤하게 꺼짐</a:t>
            </a:r>
          </a:p>
          <a:p>
            <a:pPr lvl="1"/>
            <a:r>
              <a:rPr lang="ko-KR" altLang="en-US" dirty="0" err="1"/>
              <a:t>결측이</a:t>
            </a:r>
            <a:r>
              <a:rPr lang="ko-KR" altLang="en-US" dirty="0"/>
              <a:t> 완전 랜덤</a:t>
            </a:r>
          </a:p>
          <a:p>
            <a:pPr lvl="1"/>
            <a:r>
              <a:rPr lang="ko-KR" altLang="en-US" dirty="0"/>
              <a:t>제거해도 편향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단순 삭제가능</a:t>
            </a:r>
          </a:p>
          <a:p>
            <a:pPr lvl="1"/>
            <a:r>
              <a:rPr lang="ko-KR" altLang="en-US" dirty="0"/>
              <a:t>평균대치도 안전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MAR </a:t>
            </a:r>
          </a:p>
          <a:p>
            <a:pPr lvl="1"/>
            <a:r>
              <a:rPr lang="ko-KR" altLang="en-US" dirty="0"/>
              <a:t>다른 변수에는 의존하지만</a:t>
            </a:r>
            <a:r>
              <a:rPr lang="en-US" altLang="ko-KR" dirty="0"/>
              <a:t>, </a:t>
            </a:r>
            <a:r>
              <a:rPr lang="ko-KR" altLang="en-US" dirty="0"/>
              <a:t>자기 값에는 의존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결측 여부가 다른 변수와는 관련 있음</a:t>
            </a:r>
          </a:p>
          <a:p>
            <a:pPr lvl="1"/>
            <a:r>
              <a:rPr lang="ko-KR" altLang="en-US" dirty="0"/>
              <a:t>하지만 </a:t>
            </a:r>
            <a:r>
              <a:rPr lang="ko-KR" altLang="en-US" dirty="0" err="1"/>
              <a:t>결측된</a:t>
            </a:r>
            <a:r>
              <a:rPr lang="ko-KR" altLang="en-US" dirty="0"/>
              <a:t> 값 자체와는 직접 관련 없음</a:t>
            </a:r>
          </a:p>
          <a:p>
            <a:pPr lvl="1"/>
            <a:r>
              <a:rPr lang="ko-KR" altLang="en-US" dirty="0"/>
              <a:t>소득 질문에서 젊은 사람이 더 많이 응답 안함</a:t>
            </a:r>
          </a:p>
          <a:p>
            <a:pPr lvl="2"/>
            <a:r>
              <a:rPr lang="ko-KR" altLang="en-US" dirty="0"/>
              <a:t>이는 나이와 </a:t>
            </a:r>
            <a:r>
              <a:rPr lang="ko-KR" altLang="en-US" dirty="0" err="1"/>
              <a:t>결측이</a:t>
            </a:r>
            <a:r>
              <a:rPr lang="ko-KR" altLang="en-US" dirty="0"/>
              <a:t> 관련됨</a:t>
            </a:r>
          </a:p>
          <a:p>
            <a:pPr lvl="1"/>
            <a:r>
              <a:rPr lang="ko-KR" altLang="en-US" dirty="0" err="1"/>
              <a:t>조건부랜덤</a:t>
            </a:r>
            <a:endParaRPr lang="ko-KR" altLang="en-US" dirty="0"/>
          </a:p>
          <a:p>
            <a:pPr lvl="1"/>
            <a:r>
              <a:rPr lang="ko-KR" altLang="en-US" dirty="0"/>
              <a:t>적절히 처리 시 편향 줄일 수 있음</a:t>
            </a:r>
          </a:p>
          <a:p>
            <a:r>
              <a:rPr lang="ko-KR" altLang="en-US" dirty="0"/>
              <a:t>회귀대치</a:t>
            </a:r>
            <a:r>
              <a:rPr lang="en-US" altLang="ko-KR" dirty="0"/>
              <a:t>, </a:t>
            </a:r>
            <a:r>
              <a:rPr lang="ko-KR" altLang="en-US" dirty="0"/>
              <a:t>다중 대치</a:t>
            </a:r>
            <a:r>
              <a:rPr lang="en-US" altLang="ko-KR" dirty="0"/>
              <a:t>, </a:t>
            </a:r>
            <a:r>
              <a:rPr lang="ko-KR" altLang="en-US" dirty="0"/>
              <a:t>모델 기반 처리</a:t>
            </a:r>
          </a:p>
          <a:p>
            <a:endParaRPr lang="en-US" altLang="ko-KR" dirty="0"/>
          </a:p>
          <a:p>
            <a:r>
              <a:rPr lang="en-US" altLang="ko-KR" dirty="0"/>
              <a:t>MNAR </a:t>
            </a:r>
          </a:p>
          <a:p>
            <a:pPr lvl="1"/>
            <a:r>
              <a:rPr lang="ko-KR" altLang="en-US" dirty="0" err="1"/>
              <a:t>결측이</a:t>
            </a:r>
            <a:r>
              <a:rPr lang="ko-KR" altLang="en-US" dirty="0"/>
              <a:t> 자기 값 자체에 의존</a:t>
            </a:r>
          </a:p>
          <a:p>
            <a:pPr lvl="1"/>
            <a:r>
              <a:rPr lang="ko-KR" altLang="en-US" dirty="0"/>
              <a:t>결측 여부가 그 값 자체와 직접 관련 있음</a:t>
            </a:r>
          </a:p>
          <a:p>
            <a:pPr lvl="1"/>
            <a:r>
              <a:rPr lang="ko-KR" altLang="en-US" dirty="0"/>
              <a:t>소득이 높은 사람이 소득 응답을 회피</a:t>
            </a:r>
          </a:p>
          <a:p>
            <a:pPr lvl="1"/>
            <a:r>
              <a:rPr lang="ko-KR" altLang="en-US" dirty="0"/>
              <a:t>우울증이 심한 사람은 설문 안함</a:t>
            </a:r>
          </a:p>
          <a:p>
            <a:pPr lvl="1"/>
            <a:r>
              <a:rPr lang="ko-KR" altLang="en-US" dirty="0"/>
              <a:t>단순 대치하면 심각한 편향 발생</a:t>
            </a:r>
          </a:p>
          <a:p>
            <a:pPr lvl="1"/>
            <a:r>
              <a:rPr lang="ko-KR" altLang="en-US" dirty="0"/>
              <a:t>별도 모델링 필요</a:t>
            </a:r>
          </a:p>
          <a:p>
            <a:pPr lvl="1"/>
            <a:r>
              <a:rPr lang="ko-KR" altLang="en-US" dirty="0"/>
              <a:t>결측 자체를 하나의 변수로 사용</a:t>
            </a:r>
          </a:p>
          <a:p>
            <a:pPr lvl="1"/>
            <a:r>
              <a:rPr lang="ko-KR" altLang="en-US" dirty="0"/>
              <a:t>도메인 지식 기반 접근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AD174-6F07-7A42-E110-7F091F4FDDD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9147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청구건수와 사기꾼 비율을 살펴보면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청구건수에 따라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기하 급수적으로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올라감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ko-KR" altLang="en-US" dirty="0" err="1"/>
              <a:t>결측치까지가</a:t>
            </a:r>
            <a:r>
              <a:rPr lang="ko-KR" altLang="en-US" dirty="0"/>
              <a:t> 김동환 파트</a:t>
            </a:r>
            <a:r>
              <a:rPr lang="en-US" altLang="ko-KR" dirty="0"/>
              <a:t>]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4633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3757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13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C7E511-6820-0989-00AD-9767B8C12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96B8-42EC-4A41-B119-98AB68BF00FF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BFE2DE-B2A0-7F02-4D78-3A799BAE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9ECCD-A8E7-1479-7123-9DC0235A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DE3AD-73B3-414A-81F5-43AB96E83F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74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05CCB-ADBE-DD71-8116-190692F8D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4A8B8B-68C7-B12E-9D0F-73940E504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A0A39-DDF5-1D64-A6D1-0113FED7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5A3C5E-A214-8B32-5F2E-6E06124A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59B855-C1D0-D616-DC2E-0F56F8B6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1754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7C40D-B814-BB24-14AE-FA50D167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596CFB-4AAB-2C81-0B55-875238C7C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9E5B3-1263-4310-2941-477E08FF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DD856-6718-EF4D-0078-2DC9F7F4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92A857-EB0A-5136-A3B0-4458AA64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2258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30ADE-BEC2-1F80-8B21-05177EBA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9F9AE5-1363-53B4-3ADE-ECB2D0810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AB715A-BC79-0241-6B3F-8049F5A7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984378-0B1F-5577-879C-D783313B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E110F-FE3E-1E3F-6357-A2FE2A15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6862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D5B19-744E-6DC1-D282-82C47F68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A39A4-20E6-E2FC-D2DD-3A07C07D0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1620EA-969C-F052-6B9F-48BF5B2D3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F6BF93-88B7-CBEF-6350-DAFFE29C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23593F-967D-2921-7A29-DFA49FEE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3C12C3-0820-8BE0-D9C2-5F8BF15D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418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D54F29-2DB2-967C-79CA-50A6FA23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43297C-2DC0-A071-1437-1BA90A0FE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AB02B1-4DF5-C994-095B-5C9715463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264C70-CF89-1D16-2BA0-E043937B3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80A94C-FB54-D30C-9E94-7727BFCB4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FDDC68-9F12-AE75-D2CA-CE102F575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42DF44-D09A-1AED-4364-5019176E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48D153-721F-F1C6-3600-90142A7F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753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968CC-6924-FC02-64F6-7AEF9607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901B00B-CCAF-08BD-FDAF-DC9929A3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30B087-57ED-5467-3FD5-29C4F52E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9F5700-7BB6-7B57-B931-F29519FC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7581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19B813-7C24-23AA-6344-E2C90C6A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DD1474-F4B6-EE74-B1AC-0F4193EE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76E7CA-C730-9F37-234F-AEB67DC9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5333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0025B-D7CC-7B86-3310-049F2A0F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23583-71CC-2453-A989-FF6F4DD27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FC42C2-535A-4C67-2FCF-0F131E49B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925814-7EA9-553E-0F5C-39150A4D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6D8980-9961-199E-ACBA-4A01C1D9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A256DF-7023-CF48-C557-15213EE2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62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3426D7-66B4-D62F-C147-F1ADC608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A201C6-FFF8-1942-81DE-342C409DD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0A36A5-EDE9-07C5-412F-2E136F5E4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69BD2B-2FAA-1591-C364-10967233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BA1A98-CF0C-0D72-4721-63A04CDA0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D63563-C33D-9A3E-E853-1805BC01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3099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57CED-5CAF-268F-B16A-C6FB5B05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CC7D2-A155-817A-2200-6E5A9495B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DED705-FA41-BE8C-6A60-E9DFE65F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A4D40-A1DC-4DDE-77D8-786314F7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AF579A-D2AE-268D-707A-01411957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2337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F6584F-C79D-8910-A9A7-6C059A17F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7D25F2-3D08-BD40-F55B-625E57795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D78CA-B345-37F9-3E48-ED4E4359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5CFA6-6C7A-7DDA-2AC3-28F28040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DF015-C61B-3616-E7CE-8F8A213F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2336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958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252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102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10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792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8673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8500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F1FF5-19FB-B363-8072-A1AD9783F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61BFE3-43FA-F14B-111F-7DA9FCAA1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CE42F5-9F49-BD75-E1DF-A98FE530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D167C-6CF7-32F1-526E-8ADBA89E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819D8-1A0D-0C52-2BF2-83ADDE78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855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EEF1A-5BD0-EF52-D3CD-CF9BF068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57F14A-E6C0-D24B-E5D2-1EF0969FC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CB582-AE02-97B3-6D18-D21BD60F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EF51B9-66BC-D4A4-C8A1-0C8E7F52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5F2F38-1B7D-168E-0FD9-823151D7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571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5DCB7-60A7-7751-D55F-E189D346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9B0442-F822-6EF6-E84A-908914C22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2EDEB8-BD07-762A-9390-F2FD50BB1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17E16-C264-ED42-6E9C-AAFD1AE5C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B4466-2ECA-7A2E-F54A-CB4FBFFD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4017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96491-85AC-7B8B-FA37-0E3CF867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3407A-FA8E-C9C1-E866-087BFA699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F421FC-A4F7-1622-BE46-C5F59B760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16ABD7-37DB-4494-5E42-D6E86E28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4AB460-16D8-D9FF-993D-76A54275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F3CB3D-9F34-D860-544D-48A92362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7793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83016-9EE2-D114-288E-5F5216537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9B7887-F537-1896-2D12-E04BAE1A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81054A-6CDF-F8FE-BFD2-AF32E97B0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0FFC5A-6ADE-CAA7-594F-CFAD65A2B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5A136F-7DD9-46B6-4E84-183D82DF5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D92DBD-34ED-DA3A-98AA-2989B4EA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67C07-7EDD-C844-FF6E-F7E96A5D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DED594-6F36-3EC7-D6C7-03D06075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6103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80E35-1273-D8E1-F17D-32903EA2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396ED2-A853-D9F2-2311-03167CD8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2EB931-9F1B-A519-D585-47B3085B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136DDE-6410-2E81-F145-030DA5F6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948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C9D26E-A1AA-7CFB-86BA-A56041DF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F1DCF5-CDAA-72E6-0265-D9075605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64159-F8FC-42D5-395E-AB231562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174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9C487-2BA8-9D0E-CB85-2F07FA3F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84B50-6382-4A3D-0F16-2BFFE1AB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31A5E8-4679-4F45-2AEB-D04AB4BB1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2C4981-724B-AEFB-62CD-8DFB4A9D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38D7FA-E641-AA44-E9C0-31DB252DC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6CAE94-FB99-EA75-6AD8-E14506EF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313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B1D8A-2F9C-3789-683F-B589A05D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DBBD60-A03E-EC02-5F6C-DB40BEEE7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F60C46-E837-2577-6ED7-CCA44306C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CA4895-DB3D-F3AA-7505-63798407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9F425-0133-3FA9-D8D5-C1DD9CC7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927AA0-8859-E4B7-493E-4826B6EC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3894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D107D-46AC-398A-04E3-33556DEF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490E51-D0F9-BE94-EBD3-0A4335D2D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2F05B-C191-0D56-8618-7A43F328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C09792-CAED-5619-1D3A-5EF1E6E1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A69BC-9887-DB33-0A8B-9CB7FA13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241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CEA85A8-387F-E0D7-DFDC-304F3BA65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E96FA2-59EE-6AB0-F29F-FBE823AE7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A49BB6-B6A2-DA54-BA2D-54188F8C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EC29E4-618C-E1B4-8A9A-F7CEEBA4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5B810-A09D-73CF-0E05-EA69A95A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7426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7A6CC-1979-9965-0A1E-A69DB087D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62FC8C-7F2A-1B18-1669-7A4B6EE43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5A6EFE-5C53-8C92-02C4-A6B356D59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9B87B-04DB-EEA7-C3B7-53769D0BB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7D49E7-8AFC-8443-2B36-49B8524A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5094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687A2-E213-2D6A-E57A-EBDD828C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9D712-A35A-2A29-0ACC-CBBAAED2A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6AFAB-0CD4-99BB-AA47-3F9C8BD7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C397CB-68A8-7069-8BC1-8886283A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C2789-0A31-1EBD-CC50-1512832BA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764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DA608-11DF-1A65-8746-1C6B1008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6C21C1-3AFA-1F4A-8055-BD1CAAED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82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CBDE4-D193-0F23-6BC1-B7D1C1353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0F5151-6B6A-DEE7-CA32-09C72B16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8189DD-173D-44C5-8ECE-DA0E5C53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5891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B6811-052B-FE66-4725-7D9F9FB9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17DD2-C1F6-B242-A35F-7456EAF58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F7488E-8469-FFC8-018C-25083A260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DA9895-EA85-3A67-B56D-4D5ED65E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2C2E26-54C2-0B47-1B35-C2A8D9D3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748207-D350-A1EF-55FE-E523577D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F39C3-952B-F797-4EA4-82B904EA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C70D2B-C2B6-417F-8A22-926CC8FB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F4F382-B1A2-FDB0-92DE-EFDA9FE4B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65A2D2-E63A-E541-AB1B-65F65C7C8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906AEF-7B88-E3EF-87D4-509774C3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4F64F9-4D04-18EF-BA39-19B83EBFA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03222E-C210-907D-3D5F-165F4993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794803-8A5F-EB67-2884-B7EE6D1B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593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DC81C-562E-12DB-796F-5BFF2F03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AD5EC2-C62E-D119-3E44-F12A269D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C69B79-7F77-B88D-EE71-0A3F328B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D91410-FDA6-9528-5D6A-997DD74A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9978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D7A6A8-7C21-D7FE-A66F-E0E3EDDA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C57F8A-73D1-1D7F-70A1-4AA103BE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0759C9-88F9-7583-1FC4-E06A2D1E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514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1F4A-12BD-697F-AEA9-13B88ED2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1C6C81-31CE-33A7-9463-3ACEF962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24F5BC-1E3E-AAAD-AAC5-2B210C85B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91C73E-5116-7369-479B-A15651DF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A3212-7A79-D030-646D-2945F5F8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D04CC-1646-C1AF-7AE6-79193ECE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8307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51EE9-ADA3-5E0C-2843-71FF584DE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A59901-6C30-B191-513D-4B83C40BF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6C8E5-6DB9-2713-786C-E7C29DEA5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3B51CA-BA31-D3A0-7F8B-7CE53187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6D4E76-0DE5-ED68-E89C-6B987075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8DA89B-0F3D-E563-6056-22E754E2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725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7F864-C048-F33C-0454-C28F5F99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B0CB6E-A442-6FD0-3342-A3AA7D171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96C208-1FEF-6287-7547-3A7C2C0FA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42AA34-961C-EB9D-F6E5-83A8A371F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36AA2C-CBCC-2CF7-DF33-13990101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300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788AA3-F383-4E89-21FA-980603301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4C91BA-01FB-3E77-A81D-D7EC064C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CC35DA-BA70-CBBF-910E-3A7F8632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F140E-AD82-7C38-8299-BFED9390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BA4E8-A605-7FAA-E625-19C16C2B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3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4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97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2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14300" indent="-114300" algn="l">
        <a:lnSpc>
          <a:spcPct val="90000"/>
        </a:lnSpc>
        <a:spcBef>
          <a:spcPts val="500"/>
        </a:spcBef>
        <a:buChar char="•"/>
        <a:defRPr sz="1400">
          <a:solidFill>
            <a:schemeClr val="tx1"/>
          </a:solidFill>
          <a:latin typeface="+mn-lt"/>
          <a:ea typeface="+mn-lt"/>
          <a:cs typeface="+mn-lt"/>
        </a:defRPr>
      </a:lvl1pPr>
      <a:lvl2pPr marL="342900" indent="-114300" algn="l">
        <a:lnSpc>
          <a:spcPct val="90000"/>
        </a:lnSpc>
        <a:spcBef>
          <a:spcPts val="250"/>
        </a:spcBef>
        <a:buChar char="•"/>
        <a:defRPr sz="1200">
          <a:solidFill>
            <a:schemeClr val="tx1"/>
          </a:solidFill>
          <a:latin typeface="+mn-lt"/>
          <a:ea typeface="+mn-lt"/>
          <a:cs typeface="+mn-lt"/>
        </a:defRPr>
      </a:lvl2pPr>
      <a:lvl3pPr marL="571500" indent="-114300" algn="l">
        <a:lnSpc>
          <a:spcPct val="90000"/>
        </a:lnSpc>
        <a:spcBef>
          <a:spcPts val="250"/>
        </a:spcBef>
        <a:buChar char="•"/>
        <a:defRPr sz="1000">
          <a:solidFill>
            <a:schemeClr val="tx1"/>
          </a:solidFill>
          <a:latin typeface="+mn-lt"/>
          <a:ea typeface="+mn-lt"/>
          <a:cs typeface="+mn-lt"/>
        </a:defRPr>
      </a:lvl3pPr>
      <a:lvl4pPr marL="800100" indent="-114300" algn="l">
        <a:lnSpc>
          <a:spcPct val="90000"/>
        </a:lnSpc>
        <a:spcBef>
          <a:spcPts val="250"/>
        </a:spcBef>
        <a:buChar char="•"/>
        <a:defRPr sz="900">
          <a:solidFill>
            <a:schemeClr val="tx1"/>
          </a:solidFill>
          <a:latin typeface="+mn-lt"/>
          <a:ea typeface="+mn-lt"/>
          <a:cs typeface="+mn-lt"/>
        </a:defRPr>
      </a:lvl4pPr>
      <a:lvl5pPr marL="1028700" indent="-114300" algn="l">
        <a:lnSpc>
          <a:spcPct val="90000"/>
        </a:lnSpc>
        <a:spcBef>
          <a:spcPts val="250"/>
        </a:spcBef>
        <a:buChar char="•"/>
        <a:defRPr sz="900">
          <a:solidFill>
            <a:schemeClr val="tx1"/>
          </a:solidFill>
          <a:latin typeface="+mn-lt"/>
          <a:ea typeface="+mn-lt"/>
          <a:cs typeface="+mn-lt"/>
        </a:defRPr>
      </a:lvl5pPr>
      <a:lvl6pPr marL="1257300" indent="-114300" algn="l">
        <a:lnSpc>
          <a:spcPct val="90000"/>
        </a:lnSpc>
        <a:spcBef>
          <a:spcPts val="250"/>
        </a:spcBef>
        <a:buChar char="•"/>
        <a:defRPr sz="900">
          <a:solidFill>
            <a:schemeClr val="tx1"/>
          </a:solidFill>
          <a:latin typeface="+mn-lt"/>
          <a:ea typeface="+mn-lt"/>
          <a:cs typeface="+mn-lt"/>
        </a:defRPr>
      </a:lvl6pPr>
      <a:lvl7pPr marL="1485900" indent="-114300" algn="l">
        <a:lnSpc>
          <a:spcPct val="90000"/>
        </a:lnSpc>
        <a:spcBef>
          <a:spcPts val="250"/>
        </a:spcBef>
        <a:buChar char="•"/>
        <a:defRPr sz="900">
          <a:solidFill>
            <a:schemeClr val="tx1"/>
          </a:solidFill>
          <a:latin typeface="+mn-lt"/>
          <a:ea typeface="+mn-lt"/>
          <a:cs typeface="+mn-lt"/>
        </a:defRPr>
      </a:lvl7pPr>
      <a:lvl8pPr marL="1714500" indent="-114300" algn="l">
        <a:lnSpc>
          <a:spcPct val="90000"/>
        </a:lnSpc>
        <a:spcBef>
          <a:spcPts val="250"/>
        </a:spcBef>
        <a:buChar char="•"/>
        <a:defRPr sz="900">
          <a:solidFill>
            <a:schemeClr val="tx1"/>
          </a:solidFill>
          <a:latin typeface="+mn-lt"/>
          <a:ea typeface="+mn-lt"/>
          <a:cs typeface="+mn-lt"/>
        </a:defRPr>
      </a:lvl8pPr>
      <a:lvl9pPr marL="1943100" indent="-114300" algn="l">
        <a:lnSpc>
          <a:spcPct val="90000"/>
        </a:lnSpc>
        <a:spcBef>
          <a:spcPts val="250"/>
        </a:spcBef>
        <a:buChar char="•"/>
        <a:defRPr sz="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1pPr>
      <a:lvl2pPr marL="2286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2pPr>
      <a:lvl3pPr marL="4572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3pPr>
      <a:lvl4pPr marL="6858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4pPr>
      <a:lvl5pPr marL="9144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5pPr>
      <a:lvl6pPr marL="11430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6pPr>
      <a:lvl7pPr marL="13716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7pPr>
      <a:lvl8pPr marL="16002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8pPr>
      <a:lvl9pPr marL="1828800" algn="l">
        <a:buNone/>
        <a:defRPr sz="9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36EE14-BDEF-FE4C-2B12-9B1B58CC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1F3E1B-DB54-7FC5-782F-2440A61D4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650006-EF3F-E882-C324-F43F76789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FC7A8-9CBD-4AF6-BB12-7A378531E765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0F919-D36A-BF25-75E8-BEF033263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12A36F-C281-08AA-3EA3-1EB2769B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AA13A-3D91-461B-AF7B-E09EFC71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43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</p:sldLayoutIdLst>
  <p:hf sldNum="0"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F67ABB-C4C5-B28D-F42E-C536C426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B94B65-34A8-9D4E-C6B8-804E760A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C76859-CB83-2FB4-B200-7FFF1667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A8FB7-1A81-42ED-85E4-8F1A09BDD312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19E84-E8E0-7858-BAA9-46878F772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6E259C-E028-DFAA-73E1-38DFE80DE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4F327-B440-460D-82D0-8D04FF46C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67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B0CECE-DF78-FE57-A718-3F6D0E9E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D76F5A-95A8-DE9F-0223-48D69D3A1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1C62D8-79BD-3F78-EF58-7D9B751EA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44992-3778-4BD3-90D8-A9B007AFAE93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B2FBCC-567B-0150-D159-28AF457E5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7609F-6141-4E23-B1C2-AFF267D00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49315-864A-4F72-BAEF-B28C0EE5D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43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342900" rtl="0" eaLnBrk="1" latinLnBrk="1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1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1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29EC16-88BE-BAC3-2532-BD4A257B15B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6EC138-B741-B929-18D7-FAC3465CB298}"/>
              </a:ext>
            </a:extLst>
          </p:cNvPr>
          <p:cNvSpPr/>
          <p:nvPr/>
        </p:nvSpPr>
        <p:spPr>
          <a:xfrm>
            <a:off x="0" y="0"/>
            <a:ext cx="5572125" cy="5143500"/>
          </a:xfrm>
          <a:prstGeom prst="rect">
            <a:avLst/>
          </a:prstGeom>
          <a:solidFill>
            <a:srgbClr val="0D2D3A">
              <a:alpha val="8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 dirty="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715A8A-349C-0B8D-F03D-B5CA0C764E49}"/>
              </a:ext>
            </a:extLst>
          </p:cNvPr>
          <p:cNvSpPr/>
          <p:nvPr/>
        </p:nvSpPr>
        <p:spPr>
          <a:xfrm>
            <a:off x="6572250" y="0"/>
            <a:ext cx="2609850" cy="5143500"/>
          </a:xfrm>
          <a:prstGeom prst="rect">
            <a:avLst/>
          </a:prstGeom>
          <a:solidFill>
            <a:srgbClr val="041016">
              <a:alpha val="8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CCDFFC-F545-0AE4-A17F-320D881ADF4E}"/>
              </a:ext>
            </a:extLst>
          </p:cNvPr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21F1A6-CC0A-DFB7-1ED6-7D63D93AD12C}"/>
              </a:ext>
            </a:extLst>
          </p:cNvPr>
          <p:cNvSpPr/>
          <p:nvPr/>
        </p:nvSpPr>
        <p:spPr>
          <a:xfrm>
            <a:off x="609600" y="838200"/>
            <a:ext cx="38100" cy="3333750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B1FDDA0-BEDA-D299-C0EB-521CC29A116E}"/>
              </a:ext>
            </a:extLst>
          </p:cNvPr>
          <p:cNvSpPr/>
          <p:nvPr/>
        </p:nvSpPr>
        <p:spPr>
          <a:xfrm>
            <a:off x="6400800" y="1200150"/>
            <a:ext cx="66675" cy="66675"/>
          </a:xfrm>
          <a:prstGeom prst="ellipse">
            <a:avLst/>
          </a:prstGeom>
          <a:solidFill>
            <a:srgbClr val="2D6DF6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C8B736-6A22-A492-CC07-0C09023C5B6B}"/>
              </a:ext>
            </a:extLst>
          </p:cNvPr>
          <p:cNvSpPr/>
          <p:nvPr/>
        </p:nvSpPr>
        <p:spPr>
          <a:xfrm>
            <a:off x="7524750" y="876300"/>
            <a:ext cx="38100" cy="38100"/>
          </a:xfrm>
          <a:prstGeom prst="ellipse">
            <a:avLst/>
          </a:prstGeom>
          <a:solidFill>
            <a:srgbClr val="2D6DF6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56CD710-9D1D-154F-C0A8-895D77222F99}"/>
              </a:ext>
            </a:extLst>
          </p:cNvPr>
          <p:cNvSpPr/>
          <p:nvPr/>
        </p:nvSpPr>
        <p:spPr>
          <a:xfrm>
            <a:off x="8324850" y="1638300"/>
            <a:ext cx="47625" cy="47625"/>
          </a:xfrm>
          <a:prstGeom prst="ellipse">
            <a:avLst/>
          </a:prstGeom>
          <a:solidFill>
            <a:srgbClr val="2D6DF6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61E5A0D-09EC-30DC-B1EC-28E2A7FACA1A}"/>
              </a:ext>
            </a:extLst>
          </p:cNvPr>
          <p:cNvSpPr/>
          <p:nvPr/>
        </p:nvSpPr>
        <p:spPr>
          <a:xfrm>
            <a:off x="6896100" y="2362200"/>
            <a:ext cx="76200" cy="76200"/>
          </a:xfrm>
          <a:prstGeom prst="ellipse">
            <a:avLst/>
          </a:prstGeom>
          <a:solidFill>
            <a:srgbClr val="2D6DF6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8370628-01CF-76E7-48D8-18BC0D5B49FD}"/>
              </a:ext>
            </a:extLst>
          </p:cNvPr>
          <p:cNvSpPr/>
          <p:nvPr/>
        </p:nvSpPr>
        <p:spPr>
          <a:xfrm>
            <a:off x="8191500" y="2952750"/>
            <a:ext cx="57150" cy="57150"/>
          </a:xfrm>
          <a:prstGeom prst="ellipse">
            <a:avLst/>
          </a:prstGeom>
          <a:solidFill>
            <a:srgbClr val="2D6DF6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8C20E4F-E15D-3801-82A6-73EA5A77DAB3}"/>
              </a:ext>
            </a:extLst>
          </p:cNvPr>
          <p:cNvSpPr/>
          <p:nvPr/>
        </p:nvSpPr>
        <p:spPr>
          <a:xfrm>
            <a:off x="6858000" y="3867150"/>
            <a:ext cx="47625" cy="47625"/>
          </a:xfrm>
          <a:prstGeom prst="ellipse">
            <a:avLst/>
          </a:prstGeom>
          <a:solidFill>
            <a:srgbClr val="2D6DF6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31F975D-59BF-F281-8B9E-4E74E36B265F}"/>
              </a:ext>
            </a:extLst>
          </p:cNvPr>
          <p:cNvSpPr/>
          <p:nvPr/>
        </p:nvSpPr>
        <p:spPr>
          <a:xfrm>
            <a:off x="7905750" y="4171950"/>
            <a:ext cx="66675" cy="66675"/>
          </a:xfrm>
          <a:prstGeom prst="ellipse">
            <a:avLst/>
          </a:prstGeom>
          <a:solidFill>
            <a:srgbClr val="2D6DF6">
              <a:alpha val="5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DB56999-231D-E258-B06D-DB7BD502D6ED}"/>
              </a:ext>
            </a:extLst>
          </p:cNvPr>
          <p:cNvCxnSpPr/>
          <p:nvPr/>
        </p:nvCxnSpPr>
        <p:spPr>
          <a:xfrm>
            <a:off x="6438900" y="1238250"/>
            <a:ext cx="495300" cy="1162050"/>
          </a:xfrm>
          <a:prstGeom prst="line">
            <a:avLst/>
          </a:prstGeom>
          <a:ln w="11430" cap="flat" cmpd="sng" algn="ctr">
            <a:solidFill>
              <a:srgbClr val="5A9BFF">
                <a:alpha val="3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A830A37-9D4A-EDD7-7DFC-A393627962B8}"/>
              </a:ext>
            </a:extLst>
          </p:cNvPr>
          <p:cNvCxnSpPr/>
          <p:nvPr/>
        </p:nvCxnSpPr>
        <p:spPr>
          <a:xfrm>
            <a:off x="6934200" y="2400300"/>
            <a:ext cx="1295400" cy="590550"/>
          </a:xfrm>
          <a:prstGeom prst="line">
            <a:avLst/>
          </a:prstGeom>
          <a:ln w="11430" cap="flat" cmpd="sng" algn="ctr">
            <a:solidFill>
              <a:srgbClr val="5A9BFF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68FCBC1-871A-57E8-4FDA-2CBB195453D6}"/>
              </a:ext>
            </a:extLst>
          </p:cNvPr>
          <p:cNvCxnSpPr/>
          <p:nvPr/>
        </p:nvCxnSpPr>
        <p:spPr>
          <a:xfrm flipH="1">
            <a:off x="6896100" y="2400300"/>
            <a:ext cx="38100" cy="1504950"/>
          </a:xfrm>
          <a:prstGeom prst="line">
            <a:avLst/>
          </a:prstGeom>
          <a:ln w="11430" cap="flat" cmpd="sng" algn="ctr">
            <a:solidFill>
              <a:srgbClr val="5A9BFF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E39679F-666A-92E2-3E1E-246E24286667}"/>
              </a:ext>
            </a:extLst>
          </p:cNvPr>
          <p:cNvCxnSpPr/>
          <p:nvPr/>
        </p:nvCxnSpPr>
        <p:spPr>
          <a:xfrm>
            <a:off x="6896100" y="3905250"/>
            <a:ext cx="1047750" cy="304800"/>
          </a:xfrm>
          <a:prstGeom prst="line">
            <a:avLst/>
          </a:prstGeom>
          <a:ln w="11430" cap="flat" cmpd="sng" algn="ctr">
            <a:solidFill>
              <a:srgbClr val="5A9BFF">
                <a:alpha val="3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072A4B1-08A9-B643-BB42-550CEEF46DD2}"/>
              </a:ext>
            </a:extLst>
          </p:cNvPr>
          <p:cNvSpPr/>
          <p:nvPr/>
        </p:nvSpPr>
        <p:spPr>
          <a:xfrm>
            <a:off x="6477000" y="1924050"/>
            <a:ext cx="2000250" cy="1257300"/>
          </a:xfrm>
          <a:prstGeom prst="roundRect">
            <a:avLst/>
          </a:prstGeom>
          <a:solidFill>
            <a:srgbClr val="081D28">
              <a:alpha val="82000"/>
            </a:srgbClr>
          </a:solidFill>
          <a:ln w="12700">
            <a:solidFill>
              <a:srgbClr val="0B35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D790D1-BAEA-B10B-E513-63D51CF0DA52}"/>
              </a:ext>
            </a:extLst>
          </p:cNvPr>
          <p:cNvSpPr txBox="1"/>
          <p:nvPr/>
        </p:nvSpPr>
        <p:spPr>
          <a:xfrm>
            <a:off x="6743700" y="2190751"/>
            <a:ext cx="110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A/B/C</a:t>
            </a:r>
            <a:endParaRPr lang="ko-KR" altLang="en-US" b="1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91C093-8DB0-1C53-2F82-BD83C85FFED6}"/>
              </a:ext>
            </a:extLst>
          </p:cNvPr>
          <p:cNvSpPr txBox="1"/>
          <p:nvPr/>
        </p:nvSpPr>
        <p:spPr>
          <a:xfrm>
            <a:off x="6743700" y="2609850"/>
            <a:ext cx="1333500" cy="1269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25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Strategy Comparison</a:t>
            </a:r>
            <a:endParaRPr lang="ko-KR" altLang="en-US" sz="825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76A2CC6-682F-C547-3A8E-30DEC5D8DC0E}"/>
              </a:ext>
            </a:extLst>
          </p:cNvPr>
          <p:cNvSpPr/>
          <p:nvPr/>
        </p:nvSpPr>
        <p:spPr>
          <a:xfrm>
            <a:off x="990600" y="990600"/>
            <a:ext cx="1695450" cy="323850"/>
          </a:xfrm>
          <a:prstGeom prst="roundRect">
            <a:avLst/>
          </a:prstGeom>
          <a:solidFill>
            <a:srgbClr val="062A62"/>
          </a:solidFill>
          <a:ln w="12700">
            <a:solidFill>
              <a:srgbClr val="062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ACC9D-765E-1236-529D-B24BB2289971}"/>
              </a:ext>
            </a:extLst>
          </p:cNvPr>
          <p:cNvSpPr txBox="1"/>
          <p:nvPr/>
        </p:nvSpPr>
        <p:spPr>
          <a:xfrm>
            <a:off x="1143000" y="1076326"/>
            <a:ext cx="139065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r>
              <a:rPr lang="ko-KR" altLang="en-US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조 </a:t>
            </a:r>
            <a:r>
              <a:rPr lang="en-US" altLang="ko-KR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CATCHCATCH</a:t>
            </a:r>
            <a:endParaRPr lang="ko-KR" altLang="en-US" sz="105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A56CC0-62D0-CD63-7115-5BFE7C5D9BAB}"/>
              </a:ext>
            </a:extLst>
          </p:cNvPr>
          <p:cNvSpPr txBox="1"/>
          <p:nvPr/>
        </p:nvSpPr>
        <p:spPr>
          <a:xfrm>
            <a:off x="990600" y="1790700"/>
            <a:ext cx="476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24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보험사기 탐지를 위한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8108F7-D518-5730-E3F7-1E3DA49F3BBB}"/>
              </a:ext>
            </a:extLst>
          </p:cNvPr>
          <p:cNvSpPr txBox="1"/>
          <p:nvPr/>
        </p:nvSpPr>
        <p:spPr>
          <a:xfrm>
            <a:off x="990600" y="2324100"/>
            <a:ext cx="5143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3000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30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전략 비교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DA7BFE-ACC7-58F2-B01D-9635E38BD6EB}"/>
              </a:ext>
            </a:extLst>
          </p:cNvPr>
          <p:cNvSpPr txBox="1"/>
          <p:nvPr/>
        </p:nvSpPr>
        <p:spPr>
          <a:xfrm>
            <a:off x="990600" y="2914650"/>
            <a:ext cx="3429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27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및 최적화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15CB697-BE16-CE6C-586A-1DD994A76CBC}"/>
              </a:ext>
            </a:extLst>
          </p:cNvPr>
          <p:cNvCxnSpPr/>
          <p:nvPr/>
        </p:nvCxnSpPr>
        <p:spPr>
          <a:xfrm>
            <a:off x="1009650" y="3600450"/>
            <a:ext cx="2324100" cy="0"/>
          </a:xfrm>
          <a:prstGeom prst="line">
            <a:avLst/>
          </a:prstGeom>
          <a:ln w="31750" cap="flat" cmpd="sng" algn="ctr">
            <a:solidFill>
              <a:srgbClr val="2D6DF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4882C6-FE44-E9AC-C663-0C63BD5D76CD}"/>
              </a:ext>
            </a:extLst>
          </p:cNvPr>
          <p:cNvSpPr txBox="1"/>
          <p:nvPr/>
        </p:nvSpPr>
        <p:spPr>
          <a:xfrm>
            <a:off x="1009650" y="3848100"/>
            <a:ext cx="438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</a:t>
            </a:r>
            <a:r>
              <a:rPr lang="en-US" altLang="ko-KR" sz="12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 데이터 기반 </a:t>
            </a:r>
            <a:r>
              <a:rPr lang="ko-KR" altLang="en-US" sz="1200" dirty="0" err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머신러닝</a:t>
            </a:r>
            <a:r>
              <a:rPr lang="ko-KR" altLang="en-US" sz="12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프로젝트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54AAEC9-4FEA-201D-AA13-0F052C47835B}"/>
              </a:ext>
            </a:extLst>
          </p:cNvPr>
          <p:cNvSpPr>
            <a:spLocks noGrp="1"/>
          </p:cNvSpPr>
          <p:nvPr/>
        </p:nvSpPr>
        <p:spPr>
          <a:xfrm>
            <a:off x="5964184" y="4556321"/>
            <a:ext cx="2513066" cy="405765"/>
          </a:xfrm>
          <a:prstGeom prst="roundRect">
            <a:avLst>
              <a:gd name="adj" fmla="val 17606"/>
            </a:avLst>
          </a:prstGeom>
          <a:noFill/>
          <a:ln w="19050">
            <a:solidFill>
              <a:srgbClr val="225FC7"/>
            </a:solidFill>
            <a:prstDash val="solid"/>
          </a:ln>
        </p:spPr>
        <p:txBody>
          <a:bodyPr/>
          <a:lstStyle/>
          <a:p>
            <a:pPr defTabSz="685800"/>
            <a:endParaRPr lang="ko-KR" altLang="en-US" sz="1350">
              <a:solidFill>
                <a:prstClr val="black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B60D88-8CD0-1DFE-99E2-35D21900C63E}"/>
              </a:ext>
            </a:extLst>
          </p:cNvPr>
          <p:cNvSpPr txBox="1"/>
          <p:nvPr/>
        </p:nvSpPr>
        <p:spPr>
          <a:xfrm>
            <a:off x="6111626" y="4622959"/>
            <a:ext cx="22249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ko-KR" altLang="en-US" sz="135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김동환</a:t>
            </a:r>
            <a:r>
              <a:rPr lang="en-US" altLang="ko-KR" sz="135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350" dirty="0" err="1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차규진</a:t>
            </a:r>
            <a:r>
              <a:rPr lang="en-US" altLang="ko-KR" sz="135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,</a:t>
            </a:r>
            <a:r>
              <a:rPr lang="ko-KR" altLang="en-US" sz="135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 홍승민</a:t>
            </a:r>
          </a:p>
        </p:txBody>
      </p:sp>
    </p:spTree>
    <p:extLst>
      <p:ext uri="{BB962C8B-B14F-4D97-AF65-F5344CB8AC3E}">
        <p14:creationId xmlns:p14="http://schemas.microsoft.com/office/powerpoint/2010/main" val="2083484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g">
            <a:extLst>
              <a:ext uri="{FF2B5EF4-FFF2-40B4-BE49-F238E27FC236}">
                <a16:creationId xmlns:a16="http://schemas.microsoft.com/office/drawing/2014/main" id="{AC19A06B-E64B-40AB-8B71-9B920FE692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99266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7D0AF0A5-6DDC-4AC1-978E-A79694D70E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soft-glow">
            <a:extLst>
              <a:ext uri="{FF2B5EF4-FFF2-40B4-BE49-F238E27FC236}">
                <a16:creationId xmlns:a16="http://schemas.microsoft.com/office/drawing/2014/main" id="{45CDCE76-2105-46AD-A581-02F61A8BFB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3429000"/>
          </a:xfrm>
          <a:prstGeom prst="ellipse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4" name="top-line">
            <a:extLst>
              <a:ext uri="{FF2B5EF4-FFF2-40B4-BE49-F238E27FC236}">
                <a16:creationId xmlns:a16="http://schemas.microsoft.com/office/drawing/2014/main" id="{C8F51F0C-A9B0-454A-A3D5-B1707826EC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34137C-B74D-4260-8396-F3BA30AFCA9D}"/>
              </a:ext>
            </a:extLst>
          </p:cNvPr>
          <p:cNvSpPr>
            <a:spLocks noGrp="1"/>
          </p:cNvSpPr>
          <p:nvPr/>
        </p:nvSpPr>
        <p:spPr>
          <a:xfrm>
            <a:off x="523875" y="438150"/>
            <a:ext cx="8096250" cy="4191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400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2700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목차</a:t>
            </a:r>
            <a:endParaRPr sz="2700" dirty="0">
              <a:solidFill>
                <a:srgbClr val="F5F8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276957-61C2-45A3-B73E-303891E3DAAC}"/>
              </a:ext>
            </a:extLst>
          </p:cNvPr>
          <p:cNvSpPr>
            <a:spLocks noGrp="1"/>
          </p:cNvSpPr>
          <p:nvPr/>
        </p:nvSpPr>
        <p:spPr>
          <a:xfrm>
            <a:off x="523875" y="1438275"/>
            <a:ext cx="25717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F0CE8B-BFD0-40F5-9C64-79F9A2F52B1D}"/>
              </a:ext>
            </a:extLst>
          </p:cNvPr>
          <p:cNvSpPr>
            <a:spLocks noGrp="1"/>
          </p:cNvSpPr>
          <p:nvPr/>
        </p:nvSpPr>
        <p:spPr>
          <a:xfrm>
            <a:off x="523875" y="1685925"/>
            <a:ext cx="2571750" cy="19050"/>
          </a:xfrm>
          <a:prstGeom prst="rect">
            <a:avLst/>
          </a:prstGeom>
          <a:solidFill>
            <a:srgbClr val="5A9BFF"/>
          </a:solidFill>
          <a:ln w="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263A4C-0536-4F11-B549-28216F30EAC2}"/>
              </a:ext>
            </a:extLst>
          </p:cNvPr>
          <p:cNvSpPr>
            <a:spLocks noGrp="1"/>
          </p:cNvSpPr>
          <p:nvPr/>
        </p:nvSpPr>
        <p:spPr>
          <a:xfrm>
            <a:off x="523875" y="1790700"/>
            <a:ext cx="257175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dirty="0" err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575" dirty="0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dirty="0" err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정의</a:t>
            </a:r>
            <a:endParaRPr sz="1575" dirty="0">
              <a:solidFill>
                <a:srgbClr val="F4F7F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7F7014-B2EF-4E04-BB61-D32BF03825DD}"/>
              </a:ext>
            </a:extLst>
          </p:cNvPr>
          <p:cNvSpPr>
            <a:spLocks noGrp="1"/>
          </p:cNvSpPr>
          <p:nvPr/>
        </p:nvSpPr>
        <p:spPr>
          <a:xfrm>
            <a:off x="523875" y="2114550"/>
            <a:ext cx="25717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20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보험사기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탐지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목표와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Recall·F1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중심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평가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지표</a:t>
            </a:r>
            <a:endParaRPr sz="1013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FCA97B-1570-4803-A5E8-864FB41A1A37}"/>
              </a:ext>
            </a:extLst>
          </p:cNvPr>
          <p:cNvSpPr>
            <a:spLocks noGrp="1"/>
          </p:cNvSpPr>
          <p:nvPr/>
        </p:nvSpPr>
        <p:spPr>
          <a:xfrm>
            <a:off x="3257550" y="1438275"/>
            <a:ext cx="25717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36A248-8696-4FFE-9045-AD492113463F}"/>
              </a:ext>
            </a:extLst>
          </p:cNvPr>
          <p:cNvSpPr>
            <a:spLocks noGrp="1"/>
          </p:cNvSpPr>
          <p:nvPr/>
        </p:nvSpPr>
        <p:spPr>
          <a:xfrm>
            <a:off x="3257550" y="1685925"/>
            <a:ext cx="2571750" cy="19050"/>
          </a:xfrm>
          <a:prstGeom prst="rect">
            <a:avLst/>
          </a:prstGeom>
          <a:solidFill>
            <a:srgbClr val="5A9BFF"/>
          </a:solidFill>
          <a:ln w="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6616B8-74D3-4952-9F0B-AF7C992F6E28}"/>
              </a:ext>
            </a:extLst>
          </p:cNvPr>
          <p:cNvSpPr>
            <a:spLocks noGrp="1"/>
          </p:cNvSpPr>
          <p:nvPr/>
        </p:nvSpPr>
        <p:spPr>
          <a:xfrm>
            <a:off x="3257550" y="1790700"/>
            <a:ext cx="257175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dirty="0" err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575" dirty="0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dirty="0" err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소개</a:t>
            </a:r>
            <a:r>
              <a:rPr sz="1575" dirty="0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&amp; EDA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636BEF-AC32-4A6B-AE83-5A0FE13A966E}"/>
              </a:ext>
            </a:extLst>
          </p:cNvPr>
          <p:cNvSpPr>
            <a:spLocks noGrp="1"/>
          </p:cNvSpPr>
          <p:nvPr/>
        </p:nvSpPr>
        <p:spPr>
          <a:xfrm>
            <a:off x="3257550" y="2114550"/>
            <a:ext cx="25717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20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고객·청구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구성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타깃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불균형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품질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이슈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분석</a:t>
            </a:r>
            <a:endParaRPr sz="1013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9624121-DD4D-49DE-AC3A-3B35EE515816}"/>
              </a:ext>
            </a:extLst>
          </p:cNvPr>
          <p:cNvSpPr>
            <a:spLocks noGrp="1"/>
          </p:cNvSpPr>
          <p:nvPr/>
        </p:nvSpPr>
        <p:spPr>
          <a:xfrm>
            <a:off x="5991225" y="1438275"/>
            <a:ext cx="25717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C0A7052-1699-440A-A6FE-730249577B4B}"/>
              </a:ext>
            </a:extLst>
          </p:cNvPr>
          <p:cNvSpPr>
            <a:spLocks noGrp="1"/>
          </p:cNvSpPr>
          <p:nvPr/>
        </p:nvSpPr>
        <p:spPr>
          <a:xfrm>
            <a:off x="5991225" y="1685925"/>
            <a:ext cx="2571750" cy="19050"/>
          </a:xfrm>
          <a:prstGeom prst="rect">
            <a:avLst/>
          </a:prstGeom>
          <a:solidFill>
            <a:srgbClr val="5A9BFF"/>
          </a:solidFill>
          <a:ln w="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BB33A36-D0B0-46F2-BA30-97D640299DDE}"/>
              </a:ext>
            </a:extLst>
          </p:cNvPr>
          <p:cNvSpPr>
            <a:spLocks noGrp="1"/>
          </p:cNvSpPr>
          <p:nvPr/>
        </p:nvSpPr>
        <p:spPr>
          <a:xfrm>
            <a:off x="5991225" y="1790700"/>
            <a:ext cx="257175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전처리 전략 &amp; 모듈화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29D69C-EDF6-4B78-B69C-9907EEDF9F2F}"/>
              </a:ext>
            </a:extLst>
          </p:cNvPr>
          <p:cNvSpPr>
            <a:spLocks noGrp="1"/>
          </p:cNvSpPr>
          <p:nvPr/>
        </p:nvSpPr>
        <p:spPr>
          <a:xfrm>
            <a:off x="5991225" y="2114550"/>
            <a:ext cx="25717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20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A/B/C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전략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설계와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재사용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파이프라인</a:t>
            </a:r>
            <a:endParaRPr sz="1013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5CD36D-7751-4B1F-9407-14A34B02E686}"/>
              </a:ext>
            </a:extLst>
          </p:cNvPr>
          <p:cNvSpPr>
            <a:spLocks noGrp="1"/>
          </p:cNvSpPr>
          <p:nvPr/>
        </p:nvSpPr>
        <p:spPr>
          <a:xfrm>
            <a:off x="523875" y="2762250"/>
            <a:ext cx="25717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7A38E1-EB28-4DAE-8ABA-B9A2BA964498}"/>
              </a:ext>
            </a:extLst>
          </p:cNvPr>
          <p:cNvSpPr>
            <a:spLocks noGrp="1"/>
          </p:cNvSpPr>
          <p:nvPr/>
        </p:nvSpPr>
        <p:spPr>
          <a:xfrm>
            <a:off x="523875" y="3009900"/>
            <a:ext cx="2571750" cy="19050"/>
          </a:xfrm>
          <a:prstGeom prst="rect">
            <a:avLst/>
          </a:prstGeom>
          <a:solidFill>
            <a:srgbClr val="5A9BFF"/>
          </a:solidFill>
          <a:ln w="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AF13E4-FC1C-4F96-8A5D-5034D808FCF4}"/>
              </a:ext>
            </a:extLst>
          </p:cNvPr>
          <p:cNvSpPr>
            <a:spLocks noGrp="1"/>
          </p:cNvSpPr>
          <p:nvPr/>
        </p:nvSpPr>
        <p:spPr>
          <a:xfrm>
            <a:off x="523875" y="3114675"/>
            <a:ext cx="257175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실험 &amp; 최적화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995680E-C78F-45B4-82F1-D72B7407D1B4}"/>
              </a:ext>
            </a:extLst>
          </p:cNvPr>
          <p:cNvSpPr>
            <a:spLocks noGrp="1"/>
          </p:cNvSpPr>
          <p:nvPr/>
        </p:nvSpPr>
        <p:spPr>
          <a:xfrm>
            <a:off x="523874" y="3438525"/>
            <a:ext cx="2676525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20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공통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runner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비교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튜닝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threshold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최적화</a:t>
            </a:r>
            <a:endParaRPr sz="1013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190F1E-71B6-4AE8-8C25-8107D5EB08E5}"/>
              </a:ext>
            </a:extLst>
          </p:cNvPr>
          <p:cNvSpPr>
            <a:spLocks noGrp="1"/>
          </p:cNvSpPr>
          <p:nvPr/>
        </p:nvSpPr>
        <p:spPr>
          <a:xfrm>
            <a:off x="3257550" y="2762250"/>
            <a:ext cx="4048125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8E5F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E084ADE-8C24-419E-8794-2DBC1069B43F}"/>
              </a:ext>
            </a:extLst>
          </p:cNvPr>
          <p:cNvSpPr>
            <a:spLocks noGrp="1"/>
          </p:cNvSpPr>
          <p:nvPr/>
        </p:nvSpPr>
        <p:spPr>
          <a:xfrm>
            <a:off x="3257550" y="3009900"/>
            <a:ext cx="4048125" cy="19050"/>
          </a:xfrm>
          <a:prstGeom prst="rect">
            <a:avLst/>
          </a:prstGeom>
          <a:solidFill>
            <a:srgbClr val="5A9BFF"/>
          </a:solidFill>
          <a:ln w="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5B2051-E494-488D-B6D2-CC31F7719DB7}"/>
              </a:ext>
            </a:extLst>
          </p:cNvPr>
          <p:cNvSpPr>
            <a:spLocks noGrp="1"/>
          </p:cNvSpPr>
          <p:nvPr/>
        </p:nvSpPr>
        <p:spPr>
          <a:xfrm>
            <a:off x="3257550" y="3114675"/>
            <a:ext cx="4048125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최종 결과 &amp; 인사이트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A69A9B-E62F-4CF4-8816-3F64192F8E11}"/>
              </a:ext>
            </a:extLst>
          </p:cNvPr>
          <p:cNvSpPr>
            <a:spLocks noGrp="1"/>
          </p:cNvSpPr>
          <p:nvPr/>
        </p:nvSpPr>
        <p:spPr>
          <a:xfrm>
            <a:off x="3257550" y="3438525"/>
            <a:ext cx="4048125" cy="1905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20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test_member_abc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성능과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전처리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설계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관점의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10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1013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1264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g">
            <a:extLst>
              <a:ext uri="{FF2B5EF4-FFF2-40B4-BE49-F238E27FC236}">
                <a16:creationId xmlns:a16="http://schemas.microsoft.com/office/drawing/2014/main" id="{669B2AB8-E9D3-4F94-9897-A8EEA44AC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94242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A2B10867-94D5-480F-B9B8-A8103383C5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5737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glow">
            <a:extLst>
              <a:ext uri="{FF2B5EF4-FFF2-40B4-BE49-F238E27FC236}">
                <a16:creationId xmlns:a16="http://schemas.microsoft.com/office/drawing/2014/main" id="{2A14FF03-B52C-4ECB-AE77-3E5663FF20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3619500"/>
          </a:xfrm>
          <a:prstGeom prst="ellipse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4" name="top-line">
            <a:extLst>
              <a:ext uri="{FF2B5EF4-FFF2-40B4-BE49-F238E27FC236}">
                <a16:creationId xmlns:a16="http://schemas.microsoft.com/office/drawing/2014/main" id="{B9C7D1C7-958C-4700-9784-9CE5F4A3F8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653CB07-9CAD-41B6-9883-556BE20A17FA}"/>
              </a:ext>
            </a:extLst>
          </p:cNvPr>
          <p:cNvSpPr>
            <a:spLocks noGrp="1"/>
          </p:cNvSpPr>
          <p:nvPr/>
        </p:nvSpPr>
        <p:spPr>
          <a:xfrm>
            <a:off x="406400" y="190500"/>
            <a:ext cx="990600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28575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3FDA16-D9AE-4A7C-A169-765CC33F888D}"/>
              </a:ext>
            </a:extLst>
          </p:cNvPr>
          <p:cNvSpPr>
            <a:spLocks noGrp="1"/>
          </p:cNvSpPr>
          <p:nvPr/>
        </p:nvSpPr>
        <p:spPr>
          <a:xfrm>
            <a:off x="546100" y="327025"/>
            <a:ext cx="711200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023AB7-CD57-48B0-B3DF-6236855B3290}"/>
              </a:ext>
            </a:extLst>
          </p:cNvPr>
          <p:cNvSpPr>
            <a:spLocks noGrp="1"/>
          </p:cNvSpPr>
          <p:nvPr/>
        </p:nvSpPr>
        <p:spPr>
          <a:xfrm>
            <a:off x="409575" y="771525"/>
            <a:ext cx="404812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3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보험 사기 의심 고객 탐지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497F3C-33E2-47A0-A594-E5ED72E7F088}"/>
              </a:ext>
            </a:extLst>
          </p:cNvPr>
          <p:cNvSpPr>
            <a:spLocks noGrp="1"/>
          </p:cNvSpPr>
          <p:nvPr/>
        </p:nvSpPr>
        <p:spPr>
          <a:xfrm>
            <a:off x="409575" y="1190625"/>
            <a:ext cx="7071423" cy="3429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0000"/>
              </a:lnSpc>
              <a:defRPr sz="187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정보와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청구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이력을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결합해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SIU_CUST_YN이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Y인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고객을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찾는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단위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이진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분류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문제입니다</a:t>
            </a:r>
            <a:r>
              <a:rPr sz="9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FEEA3B-CBEE-40CF-8C7A-83CE49411092}"/>
              </a:ext>
            </a:extLst>
          </p:cNvPr>
          <p:cNvSpPr>
            <a:spLocks noGrp="1"/>
          </p:cNvSpPr>
          <p:nvPr/>
        </p:nvSpPr>
        <p:spPr>
          <a:xfrm>
            <a:off x="409575" y="1619250"/>
            <a:ext cx="1143000" cy="23813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4670CB-8132-418C-AEC6-FD8318829A58}"/>
              </a:ext>
            </a:extLst>
          </p:cNvPr>
          <p:cNvSpPr>
            <a:spLocks noGrp="1"/>
          </p:cNvSpPr>
          <p:nvPr/>
        </p:nvSpPr>
        <p:spPr>
          <a:xfrm>
            <a:off x="409575" y="1733550"/>
            <a:ext cx="40481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데이터 관점에서 본 난점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79A4C8-D9DD-479E-BEF4-BA914DD4B5EA}"/>
              </a:ext>
            </a:extLst>
          </p:cNvPr>
          <p:cNvSpPr>
            <a:spLocks noGrp="1"/>
          </p:cNvSpPr>
          <p:nvPr/>
        </p:nvSpPr>
        <p:spPr>
          <a:xfrm>
            <a:off x="409575" y="1990725"/>
            <a:ext cx="933450" cy="2095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7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20,607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E5112D-1A64-49A7-8C8C-B261FBF03DAE}"/>
              </a:ext>
            </a:extLst>
          </p:cNvPr>
          <p:cNvSpPr>
            <a:spLocks noGrp="1"/>
          </p:cNvSpPr>
          <p:nvPr/>
        </p:nvSpPr>
        <p:spPr>
          <a:xfrm>
            <a:off x="409575" y="2209800"/>
            <a:ext cx="93345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27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학습용</a:t>
            </a:r>
            <a:r>
              <a:rPr sz="6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638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0093B0-BBC4-4583-9D6B-E0DC86257AA4}"/>
              </a:ext>
            </a:extLst>
          </p:cNvPr>
          <p:cNvSpPr>
            <a:spLocks noGrp="1"/>
          </p:cNvSpPr>
          <p:nvPr/>
        </p:nvSpPr>
        <p:spPr>
          <a:xfrm>
            <a:off x="1447800" y="1990725"/>
            <a:ext cx="933450" cy="2095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700" b="1">
                <a:solidFill>
                  <a:srgbClr val="8AB9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B9FF"/>
                </a:solidFill>
                <a:latin typeface="Malgun Gothic"/>
                <a:ea typeface="Malgun Gothic"/>
                <a:cs typeface="Malgun Gothic"/>
              </a:rPr>
              <a:t>1,806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EC56882-DDBB-417A-BA7E-88B7CDBB77FF}"/>
              </a:ext>
            </a:extLst>
          </p:cNvPr>
          <p:cNvSpPr>
            <a:spLocks noGrp="1"/>
          </p:cNvSpPr>
          <p:nvPr/>
        </p:nvSpPr>
        <p:spPr>
          <a:xfrm>
            <a:off x="1447800" y="2209800"/>
            <a:ext cx="93345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27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사기</a:t>
            </a:r>
            <a:r>
              <a:rPr sz="6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의심</a:t>
            </a:r>
            <a:r>
              <a:rPr sz="6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638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1D08DE-143F-484C-8AA1-61E576325AE1}"/>
              </a:ext>
            </a:extLst>
          </p:cNvPr>
          <p:cNvSpPr>
            <a:spLocks noGrp="1"/>
          </p:cNvSpPr>
          <p:nvPr/>
        </p:nvSpPr>
        <p:spPr>
          <a:xfrm>
            <a:off x="2476500" y="1990725"/>
            <a:ext cx="933450" cy="2095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700" b="1">
                <a:solidFill>
                  <a:srgbClr val="8AB9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8AB9FF"/>
                </a:solidFill>
                <a:latin typeface="Malgun Gothic"/>
                <a:ea typeface="Malgun Gothic"/>
                <a:cs typeface="Malgun Gothic"/>
              </a:rPr>
              <a:t>8.76%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8A6E56-4135-4EFA-9CFE-375CE0A61945}"/>
              </a:ext>
            </a:extLst>
          </p:cNvPr>
          <p:cNvSpPr>
            <a:spLocks noGrp="1"/>
          </p:cNvSpPr>
          <p:nvPr/>
        </p:nvSpPr>
        <p:spPr>
          <a:xfrm>
            <a:off x="2476500" y="2209800"/>
            <a:ext cx="93345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27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사기</a:t>
            </a:r>
            <a:r>
              <a:rPr sz="63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3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비율</a:t>
            </a:r>
            <a:endParaRPr sz="638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4DF7B64-B8AB-43A5-9352-EFDEEAC0FE1C}"/>
              </a:ext>
            </a:extLst>
          </p:cNvPr>
          <p:cNvSpPr>
            <a:spLocks noGrp="1"/>
          </p:cNvSpPr>
          <p:nvPr/>
        </p:nvSpPr>
        <p:spPr>
          <a:xfrm>
            <a:off x="409575" y="2469909"/>
            <a:ext cx="4038600" cy="1219200"/>
          </a:xfrm>
          <a:prstGeom prst="roundRect">
            <a:avLst>
              <a:gd name="adj" fmla="val 6603"/>
            </a:avLst>
          </a:prstGeom>
          <a:noFill/>
          <a:ln w="14288">
            <a:solidFill>
              <a:srgbClr val="2746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5E9198-5A30-4C18-B274-F5996CCFE464}"/>
              </a:ext>
            </a:extLst>
          </p:cNvPr>
          <p:cNvSpPr>
            <a:spLocks noGrp="1"/>
          </p:cNvSpPr>
          <p:nvPr/>
        </p:nvSpPr>
        <p:spPr>
          <a:xfrm>
            <a:off x="523875" y="2574468"/>
            <a:ext cx="219075" cy="219075"/>
          </a:xfrm>
          <a:prstGeom prst="roundRect">
            <a:avLst>
              <a:gd name="adj" fmla="val 50000"/>
            </a:avLst>
          </a:prstGeom>
          <a:solidFill>
            <a:srgbClr val="0B356E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E38231B-7713-4BBF-BB1B-AF1FD2458423}"/>
              </a:ext>
            </a:extLst>
          </p:cNvPr>
          <p:cNvSpPr>
            <a:spLocks noGrp="1"/>
          </p:cNvSpPr>
          <p:nvPr/>
        </p:nvSpPr>
        <p:spPr>
          <a:xfrm>
            <a:off x="523875" y="2476501"/>
            <a:ext cx="219075" cy="2095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endParaRPr sz="750" b="1" dirty="0">
              <a:solidFill>
                <a:srgbClr val="DDEB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B984CEC-529B-48D0-AE7A-1B105299CC5F}"/>
              </a:ext>
            </a:extLst>
          </p:cNvPr>
          <p:cNvSpPr>
            <a:spLocks noGrp="1"/>
          </p:cNvSpPr>
          <p:nvPr/>
        </p:nvSpPr>
        <p:spPr>
          <a:xfrm>
            <a:off x="819150" y="2574468"/>
            <a:ext cx="3143250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클래스 불균형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F24D68E-BD97-46B2-B627-7BFC82B6BC2B}"/>
              </a:ext>
            </a:extLst>
          </p:cNvPr>
          <p:cNvSpPr>
            <a:spLocks noGrp="1"/>
          </p:cNvSpPr>
          <p:nvPr/>
        </p:nvSpPr>
        <p:spPr>
          <a:xfrm>
            <a:off x="819149" y="2745918"/>
            <a:ext cx="3629025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8000"/>
              </a:lnSpc>
              <a:defRPr sz="14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정상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고객이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대부분이므로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정확도만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높이는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모델은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사기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고객을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놓칠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있습니다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B94585A-9E10-4A6D-844C-BE5CC3460B51}"/>
              </a:ext>
            </a:extLst>
          </p:cNvPr>
          <p:cNvSpPr>
            <a:spLocks noGrp="1"/>
          </p:cNvSpPr>
          <p:nvPr/>
        </p:nvSpPr>
        <p:spPr>
          <a:xfrm>
            <a:off x="523875" y="2956598"/>
            <a:ext cx="219075" cy="219075"/>
          </a:xfrm>
          <a:prstGeom prst="roundRect">
            <a:avLst>
              <a:gd name="adj" fmla="val 50000"/>
            </a:avLst>
          </a:prstGeom>
          <a:solidFill>
            <a:srgbClr val="0B356E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2A1C51-3AA8-4589-85C9-C4B7B8DF3464}"/>
              </a:ext>
            </a:extLst>
          </p:cNvPr>
          <p:cNvSpPr>
            <a:spLocks noGrp="1"/>
          </p:cNvSpPr>
          <p:nvPr/>
        </p:nvSpPr>
        <p:spPr>
          <a:xfrm flipH="1">
            <a:off x="603136" y="3009901"/>
            <a:ext cx="114981" cy="17144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 dirty="0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E27651-41C7-457F-9825-95E25937E019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3143250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고객-청구 1:N 구조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4778A7-7668-46CD-A097-F795CDE6BF86}"/>
              </a:ext>
            </a:extLst>
          </p:cNvPr>
          <p:cNvSpPr>
            <a:spLocks noGrp="1"/>
          </p:cNvSpPr>
          <p:nvPr/>
        </p:nvSpPr>
        <p:spPr>
          <a:xfrm>
            <a:off x="819150" y="3124200"/>
            <a:ext cx="314325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8000"/>
              </a:lnSpc>
              <a:defRPr sz="14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청구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119,020건을 22,400명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단위로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재구성해야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합니다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CD0B51B-A450-4351-94E0-B6BAF6B44B91}"/>
              </a:ext>
            </a:extLst>
          </p:cNvPr>
          <p:cNvSpPr>
            <a:spLocks noGrp="1"/>
          </p:cNvSpPr>
          <p:nvPr/>
        </p:nvSpPr>
        <p:spPr>
          <a:xfrm>
            <a:off x="523875" y="3308566"/>
            <a:ext cx="219075" cy="219075"/>
          </a:xfrm>
          <a:prstGeom prst="roundRect">
            <a:avLst>
              <a:gd name="adj" fmla="val 50000"/>
            </a:avLst>
          </a:prstGeom>
          <a:solidFill>
            <a:srgbClr val="0B356E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5C8C9E8-B3E3-4A6E-B595-9F654AC5C8C9}"/>
              </a:ext>
            </a:extLst>
          </p:cNvPr>
          <p:cNvSpPr>
            <a:spLocks noGrp="1"/>
          </p:cNvSpPr>
          <p:nvPr/>
        </p:nvSpPr>
        <p:spPr>
          <a:xfrm>
            <a:off x="603816" y="3356648"/>
            <a:ext cx="219075" cy="2190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 dirty="0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C3F9C73-9849-40B9-9DD3-1CE82BCD0191}"/>
              </a:ext>
            </a:extLst>
          </p:cNvPr>
          <p:cNvSpPr>
            <a:spLocks noGrp="1"/>
          </p:cNvSpPr>
          <p:nvPr/>
        </p:nvSpPr>
        <p:spPr>
          <a:xfrm>
            <a:off x="819150" y="3305175"/>
            <a:ext cx="3143250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전처리 영향이 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414436-3B32-43CB-94A5-FE4B19A04916}"/>
              </a:ext>
            </a:extLst>
          </p:cNvPr>
          <p:cNvSpPr>
            <a:spLocks noGrp="1"/>
          </p:cNvSpPr>
          <p:nvPr/>
        </p:nvSpPr>
        <p:spPr>
          <a:xfrm>
            <a:off x="819150" y="3476625"/>
            <a:ext cx="314325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8000"/>
              </a:lnSpc>
              <a:defRPr sz="1425">
                <a:solidFill>
                  <a:srgbClr val="C9D6E2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결측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청구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패턴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금액·빈도·간격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집계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방식이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feature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품질을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1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좌우합니다</a:t>
            </a:r>
            <a:r>
              <a:rPr sz="71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183D852-65EB-48E4-B86E-6E19285FFC76}"/>
              </a:ext>
            </a:extLst>
          </p:cNvPr>
          <p:cNvSpPr>
            <a:spLocks noGrp="1"/>
          </p:cNvSpPr>
          <p:nvPr/>
        </p:nvSpPr>
        <p:spPr>
          <a:xfrm>
            <a:off x="409574" y="3774834"/>
            <a:ext cx="2031547" cy="609600"/>
          </a:xfrm>
          <a:prstGeom prst="roundRect">
            <a:avLst>
              <a:gd name="adj" fmla="val 15625"/>
            </a:avLst>
          </a:prstGeom>
          <a:solidFill>
            <a:srgbClr val="0B3B86"/>
          </a:solidFill>
          <a:ln w="11430">
            <a:solidFill>
              <a:srgbClr val="155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C86247-7CF7-4962-BD2C-18034D0CC7E4}"/>
              </a:ext>
            </a:extLst>
          </p:cNvPr>
          <p:cNvSpPr>
            <a:spLocks noGrp="1"/>
          </p:cNvSpPr>
          <p:nvPr/>
        </p:nvSpPr>
        <p:spPr>
          <a:xfrm>
            <a:off x="450396" y="3844443"/>
            <a:ext cx="1466850" cy="1524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950" b="1">
                <a:solidFill>
                  <a:srgbClr val="F2F8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dirty="0">
                <a:solidFill>
                  <a:srgbClr val="F2F8FF"/>
                </a:solidFill>
                <a:latin typeface="Malgun Gothic"/>
                <a:ea typeface="Malgun Gothic"/>
                <a:cs typeface="Malgun Gothic"/>
              </a:rPr>
              <a:t>Recall </a:t>
            </a:r>
            <a:r>
              <a:rPr sz="975" b="1" dirty="0" err="1">
                <a:solidFill>
                  <a:srgbClr val="F2F8FF"/>
                </a:solidFill>
                <a:latin typeface="Malgun Gothic"/>
                <a:ea typeface="Malgun Gothic"/>
                <a:cs typeface="Malgun Gothic"/>
              </a:rPr>
              <a:t>우선</a:t>
            </a:r>
            <a:endParaRPr sz="975" b="1" dirty="0">
              <a:solidFill>
                <a:srgbClr val="F2F8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A5B984E-1859-47FF-B01D-C30D5B4BD4AD}"/>
              </a:ext>
            </a:extLst>
          </p:cNvPr>
          <p:cNvSpPr>
            <a:spLocks noGrp="1"/>
          </p:cNvSpPr>
          <p:nvPr/>
        </p:nvSpPr>
        <p:spPr>
          <a:xfrm>
            <a:off x="442914" y="4048125"/>
            <a:ext cx="1885949" cy="2381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2000"/>
              </a:lnSpc>
              <a:defRPr sz="1350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사기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의심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고객을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놓치지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않는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것을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최우선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목표로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설정</a:t>
            </a:r>
            <a:endParaRPr sz="675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BEE9DED-6562-4328-BC63-9D3C761ED7FA}"/>
              </a:ext>
            </a:extLst>
          </p:cNvPr>
          <p:cNvSpPr>
            <a:spLocks noGrp="1"/>
          </p:cNvSpPr>
          <p:nvPr/>
        </p:nvSpPr>
        <p:spPr>
          <a:xfrm>
            <a:off x="2514600" y="3774834"/>
            <a:ext cx="1943100" cy="609600"/>
          </a:xfrm>
          <a:prstGeom prst="roundRect">
            <a:avLst>
              <a:gd name="adj" fmla="val 15625"/>
            </a:avLst>
          </a:prstGeom>
          <a:solidFill>
            <a:srgbClr val="0B3B86"/>
          </a:solidFill>
          <a:ln w="11430">
            <a:solidFill>
              <a:srgbClr val="155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786FD0C-3D2D-446A-A149-8217541BD808}"/>
              </a:ext>
            </a:extLst>
          </p:cNvPr>
          <p:cNvSpPr>
            <a:spLocks noGrp="1"/>
          </p:cNvSpPr>
          <p:nvPr/>
        </p:nvSpPr>
        <p:spPr>
          <a:xfrm>
            <a:off x="2555422" y="3857625"/>
            <a:ext cx="1466850" cy="1524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950" b="1">
                <a:solidFill>
                  <a:srgbClr val="F2F8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dirty="0">
                <a:solidFill>
                  <a:srgbClr val="F2F8FF"/>
                </a:solidFill>
                <a:latin typeface="Malgun Gothic"/>
                <a:ea typeface="Malgun Gothic"/>
                <a:cs typeface="Malgun Gothic"/>
              </a:rPr>
              <a:t>F1 </a:t>
            </a:r>
            <a:r>
              <a:rPr sz="975" b="1" dirty="0" err="1">
                <a:solidFill>
                  <a:srgbClr val="F2F8FF"/>
                </a:solidFill>
                <a:latin typeface="Malgun Gothic"/>
                <a:ea typeface="Malgun Gothic"/>
                <a:cs typeface="Malgun Gothic"/>
              </a:rPr>
              <a:t>병행</a:t>
            </a:r>
            <a:endParaRPr sz="975" b="1" dirty="0">
              <a:solidFill>
                <a:srgbClr val="F2F8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957ADBB-B8C1-4AFE-AC1A-BD3D1B1D65CE}"/>
              </a:ext>
            </a:extLst>
          </p:cNvPr>
          <p:cNvSpPr>
            <a:spLocks noGrp="1"/>
          </p:cNvSpPr>
          <p:nvPr/>
        </p:nvSpPr>
        <p:spPr>
          <a:xfrm>
            <a:off x="2555422" y="4039280"/>
            <a:ext cx="1892752" cy="2381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2000"/>
              </a:lnSpc>
              <a:defRPr sz="1350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과도한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오탐을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줄여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실무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활용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균형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성능</a:t>
            </a:r>
            <a:r>
              <a:rPr sz="67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675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B5ED27-C0C0-490A-8464-91B0DD7A55E2}"/>
              </a:ext>
            </a:extLst>
          </p:cNvPr>
          <p:cNvSpPr>
            <a:spLocks noGrp="1"/>
          </p:cNvSpPr>
          <p:nvPr/>
        </p:nvSpPr>
        <p:spPr>
          <a:xfrm>
            <a:off x="4791075" y="1498343"/>
            <a:ext cx="3943350" cy="2190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850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이번</a:t>
            </a:r>
            <a:r>
              <a:rPr sz="1425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프로젝트의</a:t>
            </a:r>
            <a:r>
              <a:rPr sz="1425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차별점</a:t>
            </a:r>
            <a:endParaRPr sz="1425" b="1" dirty="0">
              <a:solidFill>
                <a:srgbClr val="F2F6F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0214BF1-31C0-45EA-B4BB-A40F35632D93}"/>
              </a:ext>
            </a:extLst>
          </p:cNvPr>
          <p:cNvSpPr>
            <a:spLocks noGrp="1"/>
          </p:cNvSpPr>
          <p:nvPr/>
        </p:nvSpPr>
        <p:spPr>
          <a:xfrm>
            <a:off x="4791075" y="1841243"/>
            <a:ext cx="3687536" cy="5619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95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단일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모델을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잘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고르는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프로젝트가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전처리</a:t>
            </a:r>
            <a:r>
              <a:rPr sz="9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전략이</a:t>
            </a:r>
            <a:r>
              <a:rPr sz="9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성능에</a:t>
            </a:r>
            <a:r>
              <a:rPr sz="9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미치는</a:t>
            </a:r>
            <a:r>
              <a:rPr sz="9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영향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을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구조에서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비교하는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75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프로젝트입니다</a:t>
            </a:r>
            <a:r>
              <a:rPr sz="975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33113EA-7B8A-4956-A254-F7F687245738}"/>
              </a:ext>
            </a:extLst>
          </p:cNvPr>
          <p:cNvSpPr>
            <a:spLocks noGrp="1"/>
          </p:cNvSpPr>
          <p:nvPr/>
        </p:nvSpPr>
        <p:spPr>
          <a:xfrm>
            <a:off x="4791075" y="2520376"/>
            <a:ext cx="3762375" cy="976389"/>
          </a:xfrm>
          <a:prstGeom prst="roundRect">
            <a:avLst>
              <a:gd name="adj" fmla="val 10731"/>
            </a:avLst>
          </a:prstGeom>
          <a:solidFill>
            <a:srgbClr val="0B3B8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84A9D76-BC72-44C0-978B-1767D1CD3DC2}"/>
              </a:ext>
            </a:extLst>
          </p:cNvPr>
          <p:cNvSpPr>
            <a:spLocks noGrp="1"/>
          </p:cNvSpPr>
          <p:nvPr/>
        </p:nvSpPr>
        <p:spPr>
          <a:xfrm>
            <a:off x="4933950" y="2631818"/>
            <a:ext cx="34766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정상 고객 vs 사기 의심 고객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9245595-DD94-4EDD-9CBE-622F51E06206}"/>
              </a:ext>
            </a:extLst>
          </p:cNvPr>
          <p:cNvSpPr>
            <a:spLocks noGrp="1"/>
          </p:cNvSpPr>
          <p:nvPr/>
        </p:nvSpPr>
        <p:spPr>
          <a:xfrm>
            <a:off x="4933950" y="2898518"/>
            <a:ext cx="3238500" cy="485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725">
                <a:solidFill>
                  <a:srgbClr val="E3EE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이진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분류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문제라도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어떤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feature를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만들고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어떤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결측을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보존하거나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제거하며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어떤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threshold를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선택하느냐에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따라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결과가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달라집니다</a:t>
            </a:r>
            <a:r>
              <a:rPr sz="863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4A8E54C-7B8B-44C8-A613-ECB5606D3744}"/>
              </a:ext>
            </a:extLst>
          </p:cNvPr>
          <p:cNvSpPr>
            <a:spLocks noGrp="1"/>
          </p:cNvSpPr>
          <p:nvPr/>
        </p:nvSpPr>
        <p:spPr>
          <a:xfrm>
            <a:off x="4791076" y="3620589"/>
            <a:ext cx="2689922" cy="810734"/>
          </a:xfrm>
          <a:prstGeom prst="roundRect">
            <a:avLst>
              <a:gd name="adj" fmla="val 40000"/>
            </a:avLst>
          </a:prstGeom>
          <a:solidFill>
            <a:srgbClr val="146FF5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E24314-B8EC-45B7-8094-69C58D8F6B6D}"/>
              </a:ext>
            </a:extLst>
          </p:cNvPr>
          <p:cNvSpPr>
            <a:spLocks noGrp="1"/>
          </p:cNvSpPr>
          <p:nvPr/>
        </p:nvSpPr>
        <p:spPr>
          <a:xfrm>
            <a:off x="5693177" y="3938587"/>
            <a:ext cx="2905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350" b="1">
                <a:solidFill>
                  <a:srgbClr val="EAF3FF"/>
                </a:solidFill>
                <a:latin typeface="Malgun Gothic"/>
                <a:ea typeface="Malgun Gothic"/>
                <a:cs typeface="Malgun Gothic"/>
              </a:defRPr>
            </a:pPr>
            <a:r>
              <a:rPr sz="980" b="1" dirty="0" err="1">
                <a:solidFill>
                  <a:srgbClr val="EAF3FF"/>
                </a:solidFill>
                <a:latin typeface="Malgun Gothic"/>
                <a:ea typeface="Malgun Gothic"/>
                <a:cs typeface="Malgun Gothic"/>
              </a:rPr>
              <a:t>정상</a:t>
            </a:r>
            <a:r>
              <a:rPr sz="980" b="1" dirty="0">
                <a:solidFill>
                  <a:srgbClr val="EAF3FF"/>
                </a:solidFill>
                <a:latin typeface="Malgun Gothic"/>
                <a:ea typeface="Malgun Gothic"/>
                <a:cs typeface="Malgun Gothic"/>
              </a:rPr>
              <a:t> 18,801명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5815F85-8B5C-47BA-8FBF-AC170B6D265B}"/>
              </a:ext>
            </a:extLst>
          </p:cNvPr>
          <p:cNvSpPr>
            <a:spLocks noGrp="1"/>
          </p:cNvSpPr>
          <p:nvPr/>
        </p:nvSpPr>
        <p:spPr>
          <a:xfrm>
            <a:off x="7541289" y="3620589"/>
            <a:ext cx="1012162" cy="763845"/>
          </a:xfrm>
          <a:prstGeom prst="roundRect">
            <a:avLst>
              <a:gd name="adj" fmla="val 40000"/>
            </a:avLst>
          </a:prstGeom>
          <a:solidFill>
            <a:srgbClr val="8AB9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2401CBD-200F-4294-87EB-809C40653382}"/>
              </a:ext>
            </a:extLst>
          </p:cNvPr>
          <p:cNvSpPr>
            <a:spLocks noGrp="1"/>
          </p:cNvSpPr>
          <p:nvPr/>
        </p:nvSpPr>
        <p:spPr>
          <a:xfrm>
            <a:off x="7725258" y="3933720"/>
            <a:ext cx="1086192" cy="244537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975" b="1">
                <a:solidFill>
                  <a:srgbClr val="06101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b="1" dirty="0">
                <a:solidFill>
                  <a:srgbClr val="09151C"/>
                </a:solidFill>
                <a:latin typeface="Malgun Gothic"/>
                <a:ea typeface="Malgun Gothic"/>
                <a:cs typeface="Malgun Gothic"/>
              </a:rPr>
              <a:t>사기 </a:t>
            </a:r>
            <a:r>
              <a:rPr lang="en-US" altLang="ko-KR" b="1" dirty="0">
                <a:solidFill>
                  <a:srgbClr val="09151C"/>
                </a:solidFill>
                <a:latin typeface="Malgun Gothic"/>
                <a:ea typeface="Malgun Gothic"/>
                <a:cs typeface="Malgun Gothic"/>
              </a:rPr>
              <a:t>1,806</a:t>
            </a:r>
            <a:r>
              <a:rPr lang="ko-KR" altLang="en-US" b="1" dirty="0">
                <a:solidFill>
                  <a:srgbClr val="09151C"/>
                </a:solidFill>
                <a:latin typeface="Malgun Gothic"/>
                <a:ea typeface="Malgun Gothic"/>
                <a:cs typeface="Malgun Gothic"/>
              </a:rPr>
              <a:t>명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27A48D6-95B1-A33C-2805-402BAFD1979E}"/>
              </a:ext>
            </a:extLst>
          </p:cNvPr>
          <p:cNvSpPr>
            <a:spLocks noGrp="1"/>
          </p:cNvSpPr>
          <p:nvPr/>
        </p:nvSpPr>
        <p:spPr>
          <a:xfrm flipH="1">
            <a:off x="603136" y="2625486"/>
            <a:ext cx="114981" cy="17144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DDEB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750" b="1" dirty="0">
                <a:solidFill>
                  <a:srgbClr val="DDEB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750" b="1" dirty="0">
              <a:solidFill>
                <a:srgbClr val="DDEBF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2974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1C2509-9B94-5175-49F6-8FA147E98A09}"/>
              </a:ext>
            </a:extLst>
          </p:cNvPr>
          <p:cNvSpPr/>
          <p:nvPr/>
        </p:nvSpPr>
        <p:spPr>
          <a:xfrm>
            <a:off x="-36823" y="0"/>
            <a:ext cx="9221015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 dirty="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F445F6-5211-01EF-B9AF-B611D34D51F6}"/>
              </a:ext>
            </a:extLst>
          </p:cNvPr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9896DD6-C232-8077-2D96-0707C155C239}"/>
              </a:ext>
            </a:extLst>
          </p:cNvPr>
          <p:cNvSpPr/>
          <p:nvPr/>
        </p:nvSpPr>
        <p:spPr>
          <a:xfrm>
            <a:off x="406399" y="190500"/>
            <a:ext cx="1099911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0F244-B56F-001C-7104-4A8D855054F6}"/>
              </a:ext>
            </a:extLst>
          </p:cNvPr>
          <p:cNvSpPr txBox="1"/>
          <p:nvPr/>
        </p:nvSpPr>
        <p:spPr>
          <a:xfrm>
            <a:off x="546100" y="330200"/>
            <a:ext cx="850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2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 소개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F36F7-5883-6CE7-12DB-DE9F40FB41CD}"/>
              </a:ext>
            </a:extLst>
          </p:cNvPr>
          <p:cNvSpPr txBox="1"/>
          <p:nvPr/>
        </p:nvSpPr>
        <p:spPr>
          <a:xfrm>
            <a:off x="457200" y="1028700"/>
            <a:ext cx="4953000" cy="3577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232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 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5CD5E-D1F2-B422-3FD8-DC2C15C2E91F}"/>
              </a:ext>
            </a:extLst>
          </p:cNvPr>
          <p:cNvSpPr txBox="1"/>
          <p:nvPr/>
        </p:nvSpPr>
        <p:spPr>
          <a:xfrm>
            <a:off x="476250" y="1581150"/>
            <a:ext cx="752475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 단위 예측을 위해 청구 데이터를 고객 단위 </a:t>
            </a:r>
            <a:r>
              <a:rPr lang="en-US" altLang="ko-KR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</a:t>
            </a:r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재구성하는 것이 핵심 </a:t>
            </a:r>
            <a:r>
              <a:rPr lang="ko-KR" altLang="en-US" sz="1200" b="1" dirty="0" err="1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과제입니다</a:t>
            </a:r>
            <a:r>
              <a:rPr lang="en-US" altLang="ko-KR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FBF82CB-C338-C9AD-4DF5-1CCFBBC47C52}"/>
              </a:ext>
            </a:extLst>
          </p:cNvPr>
          <p:cNvSpPr/>
          <p:nvPr/>
        </p:nvSpPr>
        <p:spPr>
          <a:xfrm>
            <a:off x="457200" y="2133600"/>
            <a:ext cx="2381250" cy="1104900"/>
          </a:xfrm>
          <a:prstGeom prst="roundRect">
            <a:avLst/>
          </a:prstGeom>
          <a:solidFill>
            <a:srgbClr val="0B1823"/>
          </a:solidFill>
          <a:ln w="15240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7921A-E7D6-DE46-7A5A-49D4D494B24E}"/>
              </a:ext>
            </a:extLst>
          </p:cNvPr>
          <p:cNvSpPr txBox="1"/>
          <p:nvPr/>
        </p:nvSpPr>
        <p:spPr>
          <a:xfrm>
            <a:off x="666750" y="2305050"/>
            <a:ext cx="196215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 데이터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E7CDB6-3F90-646A-346C-1C5B380D34A4}"/>
              </a:ext>
            </a:extLst>
          </p:cNvPr>
          <p:cNvSpPr txBox="1"/>
          <p:nvPr/>
        </p:nvSpPr>
        <p:spPr>
          <a:xfrm>
            <a:off x="666750" y="2543175"/>
            <a:ext cx="19621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24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22,400</a:t>
            </a:r>
            <a:endParaRPr lang="ko-KR" altLang="en-US" sz="2400" b="1" dirty="0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263AC0-07CA-374B-E8C8-12DF30C63CEF}"/>
              </a:ext>
            </a:extLst>
          </p:cNvPr>
          <p:cNvSpPr txBox="1"/>
          <p:nvPr/>
        </p:nvSpPr>
        <p:spPr>
          <a:xfrm>
            <a:off x="666750" y="2979089"/>
            <a:ext cx="196215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88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CUST_DATA.csv · 25 columns</a:t>
            </a:r>
            <a:endParaRPr lang="ko-KR" altLang="en-US" sz="788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BF0600B-D6A6-548B-6C0D-F2C11E0FF568}"/>
              </a:ext>
            </a:extLst>
          </p:cNvPr>
          <p:cNvSpPr/>
          <p:nvPr/>
        </p:nvSpPr>
        <p:spPr>
          <a:xfrm>
            <a:off x="3105150" y="2133600"/>
            <a:ext cx="2381250" cy="1104900"/>
          </a:xfrm>
          <a:prstGeom prst="roundRect">
            <a:avLst/>
          </a:prstGeom>
          <a:solidFill>
            <a:srgbClr val="0B1823"/>
          </a:solidFill>
          <a:ln w="15240">
            <a:solidFill>
              <a:srgbClr val="8AF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95440-C573-F4E8-A724-CC1CEDB48FBC}"/>
              </a:ext>
            </a:extLst>
          </p:cNvPr>
          <p:cNvSpPr txBox="1"/>
          <p:nvPr/>
        </p:nvSpPr>
        <p:spPr>
          <a:xfrm>
            <a:off x="3314700" y="2305050"/>
            <a:ext cx="196215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 데이터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1E7D5-C6C3-3656-8642-B76872806D27}"/>
              </a:ext>
            </a:extLst>
          </p:cNvPr>
          <p:cNvSpPr txBox="1"/>
          <p:nvPr/>
        </p:nvSpPr>
        <p:spPr>
          <a:xfrm>
            <a:off x="3314700" y="2543175"/>
            <a:ext cx="19621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2400" b="1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119,020</a:t>
            </a:r>
            <a:endParaRPr lang="ko-KR" altLang="en-US" sz="2400" b="1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6A914C-0F63-9A9D-C32B-A2CAA45FF78D}"/>
              </a:ext>
            </a:extLst>
          </p:cNvPr>
          <p:cNvSpPr txBox="1"/>
          <p:nvPr/>
        </p:nvSpPr>
        <p:spPr>
          <a:xfrm>
            <a:off x="3314700" y="2979089"/>
            <a:ext cx="196215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88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CLAIM_DATA.csv · 39 columns</a:t>
            </a:r>
            <a:endParaRPr lang="ko-KR" altLang="en-US" sz="788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C6D5542-E97F-F26E-33C0-99416D1D9A37}"/>
              </a:ext>
            </a:extLst>
          </p:cNvPr>
          <p:cNvSpPr/>
          <p:nvPr/>
        </p:nvSpPr>
        <p:spPr>
          <a:xfrm>
            <a:off x="5753100" y="2133600"/>
            <a:ext cx="2381250" cy="1104900"/>
          </a:xfrm>
          <a:prstGeom prst="roundRect">
            <a:avLst/>
          </a:prstGeom>
          <a:solidFill>
            <a:srgbClr val="0B1823"/>
          </a:solidFill>
          <a:ln w="15240">
            <a:solidFill>
              <a:srgbClr val="F6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66C800-A40D-6506-25C9-875C438BCF04}"/>
              </a:ext>
            </a:extLst>
          </p:cNvPr>
          <p:cNvSpPr txBox="1"/>
          <p:nvPr/>
        </p:nvSpPr>
        <p:spPr>
          <a:xfrm>
            <a:off x="5962650" y="2305050"/>
            <a:ext cx="196215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평균 청구 이력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2D707E-74DB-4CDC-E6C1-0A7AB921461D}"/>
              </a:ext>
            </a:extLst>
          </p:cNvPr>
          <p:cNvSpPr txBox="1"/>
          <p:nvPr/>
        </p:nvSpPr>
        <p:spPr>
          <a:xfrm>
            <a:off x="5962650" y="2543175"/>
            <a:ext cx="19621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2400" b="1">
                <a:solidFill>
                  <a:srgbClr val="F6B35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5.31</a:t>
            </a:r>
            <a:r>
              <a:rPr lang="ko-KR" altLang="en-US" sz="2400" b="1">
                <a:solidFill>
                  <a:srgbClr val="F6B35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2F4F67-7D14-9C15-58D7-06C0DDEB7F6C}"/>
              </a:ext>
            </a:extLst>
          </p:cNvPr>
          <p:cNvSpPr txBox="1"/>
          <p:nvPr/>
        </p:nvSpPr>
        <p:spPr>
          <a:xfrm>
            <a:off x="5962650" y="2979089"/>
            <a:ext cx="196215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88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119,020 / 22,400 customers</a:t>
            </a:r>
            <a:endParaRPr lang="ko-KR" altLang="en-US" sz="788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E04C00-ABEF-2433-9A2C-C6D5387D1DB2}"/>
              </a:ext>
            </a:extLst>
          </p:cNvPr>
          <p:cNvSpPr txBox="1"/>
          <p:nvPr/>
        </p:nvSpPr>
        <p:spPr>
          <a:xfrm>
            <a:off x="457200" y="3562350"/>
            <a:ext cx="2095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데이터셋 개요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688164D-BD4B-AFB5-F4F5-8FAD2EC6F882}"/>
              </a:ext>
            </a:extLst>
          </p:cNvPr>
          <p:cNvSpPr/>
          <p:nvPr/>
        </p:nvSpPr>
        <p:spPr>
          <a:xfrm>
            <a:off x="457200" y="3886200"/>
            <a:ext cx="5048250" cy="914400"/>
          </a:xfrm>
          <a:prstGeom prst="roundRect">
            <a:avLst/>
          </a:prstGeom>
          <a:solidFill>
            <a:srgbClr val="081D28"/>
          </a:solidFill>
          <a:ln w="12700">
            <a:solidFill>
              <a:srgbClr val="3656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B897DF-1A94-07F7-889D-8197250ED701}"/>
              </a:ext>
            </a:extLst>
          </p:cNvPr>
          <p:cNvSpPr txBox="1"/>
          <p:nvPr/>
        </p:nvSpPr>
        <p:spPr>
          <a:xfrm>
            <a:off x="838200" y="4057650"/>
            <a:ext cx="13335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BE4100-F29F-1953-CE87-7D0C6F89CADE}"/>
              </a:ext>
            </a:extLst>
          </p:cNvPr>
          <p:cNvSpPr txBox="1"/>
          <p:nvPr/>
        </p:nvSpPr>
        <p:spPr>
          <a:xfrm>
            <a:off x="3067050" y="4057650"/>
            <a:ext cx="66675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6F47BE-D9B6-A3D3-86D1-DA7FC1D06EEA}"/>
              </a:ext>
            </a:extLst>
          </p:cNvPr>
          <p:cNvSpPr txBox="1"/>
          <p:nvPr/>
        </p:nvSpPr>
        <p:spPr>
          <a:xfrm>
            <a:off x="4305300" y="4057650"/>
            <a:ext cx="66675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01107D9-84F0-B264-3BF3-0DF7229F61D1}"/>
              </a:ext>
            </a:extLst>
          </p:cNvPr>
          <p:cNvSpPr/>
          <p:nvPr/>
        </p:nvSpPr>
        <p:spPr>
          <a:xfrm>
            <a:off x="742950" y="4235620"/>
            <a:ext cx="4476750" cy="228600"/>
          </a:xfrm>
          <a:prstGeom prst="rect">
            <a:avLst/>
          </a:prstGeom>
          <a:solidFill>
            <a:srgbClr val="0D25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 dirty="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A38FD7-89EF-DF68-1E10-4191BAE2CF38}"/>
              </a:ext>
            </a:extLst>
          </p:cNvPr>
          <p:cNvSpPr txBox="1"/>
          <p:nvPr/>
        </p:nvSpPr>
        <p:spPr>
          <a:xfrm>
            <a:off x="876300" y="4292770"/>
            <a:ext cx="142875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88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CUST_DATA.csv</a:t>
            </a:r>
            <a:endParaRPr lang="ko-KR" altLang="en-US" sz="788" b="1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F5EE28-7DE5-CB65-6D78-C169AB1DE405}"/>
              </a:ext>
            </a:extLst>
          </p:cNvPr>
          <p:cNvSpPr txBox="1"/>
          <p:nvPr/>
        </p:nvSpPr>
        <p:spPr>
          <a:xfrm>
            <a:off x="3028950" y="4292770"/>
            <a:ext cx="76200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788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22,400</a:t>
            </a:r>
            <a:endParaRPr lang="ko-KR" altLang="en-US" sz="788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C0D232-076D-C200-8E2E-D7FA481BAE0A}"/>
              </a:ext>
            </a:extLst>
          </p:cNvPr>
          <p:cNvSpPr txBox="1"/>
          <p:nvPr/>
        </p:nvSpPr>
        <p:spPr>
          <a:xfrm>
            <a:off x="4267200" y="4292770"/>
            <a:ext cx="76200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788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25</a:t>
            </a:r>
            <a:endParaRPr lang="ko-KR" altLang="en-US" sz="788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FC5B33-EB25-E47C-8482-439C8C0AE1D7}"/>
              </a:ext>
            </a:extLst>
          </p:cNvPr>
          <p:cNvSpPr/>
          <p:nvPr/>
        </p:nvSpPr>
        <p:spPr>
          <a:xfrm>
            <a:off x="742950" y="4502320"/>
            <a:ext cx="4476750" cy="228600"/>
          </a:xfrm>
          <a:prstGeom prst="rect">
            <a:avLst/>
          </a:prstGeom>
          <a:solidFill>
            <a:srgbClr val="0A1D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6316A4-83CD-F5F4-122E-7EA3059B4526}"/>
              </a:ext>
            </a:extLst>
          </p:cNvPr>
          <p:cNvSpPr txBox="1"/>
          <p:nvPr/>
        </p:nvSpPr>
        <p:spPr>
          <a:xfrm>
            <a:off x="876300" y="4559470"/>
            <a:ext cx="142875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88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CLAIM_DATA.csv</a:t>
            </a:r>
            <a:endParaRPr lang="ko-KR" altLang="en-US" sz="788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87CA5C-4C5D-5352-F777-E8358C75263F}"/>
              </a:ext>
            </a:extLst>
          </p:cNvPr>
          <p:cNvSpPr txBox="1"/>
          <p:nvPr/>
        </p:nvSpPr>
        <p:spPr>
          <a:xfrm>
            <a:off x="3028950" y="4559470"/>
            <a:ext cx="76200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788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119,020</a:t>
            </a:r>
            <a:endParaRPr lang="ko-KR" altLang="en-US" sz="788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9248E4-414E-977F-FB61-0573570EDA47}"/>
              </a:ext>
            </a:extLst>
          </p:cNvPr>
          <p:cNvSpPr txBox="1"/>
          <p:nvPr/>
        </p:nvSpPr>
        <p:spPr>
          <a:xfrm>
            <a:off x="4267200" y="4559470"/>
            <a:ext cx="76200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788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39</a:t>
            </a:r>
            <a:endParaRPr lang="ko-KR" altLang="en-US" sz="788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7B581-9D72-7DF9-DC5D-8FB10645B4FD}"/>
              </a:ext>
            </a:extLst>
          </p:cNvPr>
          <p:cNvSpPr txBox="1"/>
          <p:nvPr/>
        </p:nvSpPr>
        <p:spPr>
          <a:xfrm>
            <a:off x="6057900" y="3562350"/>
            <a:ext cx="2095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포인트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3D1D6DA-E7D5-F131-0F5C-016AD44954CA}"/>
              </a:ext>
            </a:extLst>
          </p:cNvPr>
          <p:cNvSpPr/>
          <p:nvPr/>
        </p:nvSpPr>
        <p:spPr>
          <a:xfrm>
            <a:off x="5953125" y="3912682"/>
            <a:ext cx="733425" cy="411668"/>
          </a:xfrm>
          <a:prstGeom prst="roundRect">
            <a:avLst/>
          </a:prstGeom>
          <a:solidFill>
            <a:srgbClr val="0A2131"/>
          </a:solidFill>
          <a:ln w="127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8CFFAA-EC2C-E45D-4F3A-2FDEFF05E7D7}"/>
              </a:ext>
            </a:extLst>
          </p:cNvPr>
          <p:cNvSpPr txBox="1"/>
          <p:nvPr/>
        </p:nvSpPr>
        <p:spPr>
          <a:xfrm>
            <a:off x="6000750" y="3998699"/>
            <a:ext cx="6286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35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40B44C6-C0AC-9989-A8CF-D8D27DAAF44C}"/>
              </a:ext>
            </a:extLst>
          </p:cNvPr>
          <p:cNvCxnSpPr>
            <a:cxnSpLocks/>
          </p:cNvCxnSpPr>
          <p:nvPr/>
        </p:nvCxnSpPr>
        <p:spPr>
          <a:xfrm>
            <a:off x="6727527" y="4057650"/>
            <a:ext cx="619125" cy="0"/>
          </a:xfrm>
          <a:prstGeom prst="line">
            <a:avLst/>
          </a:prstGeom>
          <a:ln w="17780">
            <a:solidFill>
              <a:srgbClr val="5A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0F76956-E365-0C0E-01A2-AE2EB4BC4E6A}"/>
              </a:ext>
            </a:extLst>
          </p:cNvPr>
          <p:cNvSpPr txBox="1"/>
          <p:nvPr/>
        </p:nvSpPr>
        <p:spPr>
          <a:xfrm>
            <a:off x="6929438" y="3919151"/>
            <a:ext cx="24765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90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1:N</a:t>
            </a:r>
            <a:endParaRPr lang="ko-KR" altLang="en-US" sz="90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82737B1-EFE7-8E85-C876-BC44509B4EB9}"/>
              </a:ext>
            </a:extLst>
          </p:cNvPr>
          <p:cNvSpPr/>
          <p:nvPr/>
        </p:nvSpPr>
        <p:spPr>
          <a:xfrm>
            <a:off x="7372350" y="3909945"/>
            <a:ext cx="364763" cy="405200"/>
          </a:xfrm>
          <a:prstGeom prst="roundRect">
            <a:avLst/>
          </a:prstGeom>
          <a:solidFill>
            <a:srgbClr val="0A2131"/>
          </a:solidFill>
          <a:ln w="12700">
            <a:solidFill>
              <a:srgbClr val="8AF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247C02-C98A-E914-CBAC-77465020D049}"/>
              </a:ext>
            </a:extLst>
          </p:cNvPr>
          <p:cNvSpPr txBox="1"/>
          <p:nvPr/>
        </p:nvSpPr>
        <p:spPr>
          <a:xfrm>
            <a:off x="7400925" y="4028376"/>
            <a:ext cx="295275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050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552DF3-7470-C255-591A-B945453C93EA}"/>
              </a:ext>
            </a:extLst>
          </p:cNvPr>
          <p:cNvSpPr txBox="1"/>
          <p:nvPr/>
        </p:nvSpPr>
        <p:spPr>
          <a:xfrm>
            <a:off x="5953125" y="4438283"/>
            <a:ext cx="2603138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명의 고객은 여러 청구 이력을 가지므로</a:t>
            </a:r>
            <a:r>
              <a:rPr lang="en-US" altLang="ko-KR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 건수</a:t>
            </a:r>
            <a:r>
              <a:rPr lang="en-US" altLang="ko-KR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간격</a:t>
            </a:r>
            <a:r>
              <a:rPr lang="en-US" altLang="ko-KR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금액</a:t>
            </a:r>
            <a:r>
              <a:rPr lang="en-US" altLang="ko-KR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기관 이용 패턴을 고객 단위로 집계합니다</a:t>
            </a:r>
            <a:r>
              <a:rPr lang="en-US" altLang="ko-KR" sz="1050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888D147-9F72-A396-9897-646BE5330D10}"/>
              </a:ext>
            </a:extLst>
          </p:cNvPr>
          <p:cNvSpPr/>
          <p:nvPr/>
        </p:nvSpPr>
        <p:spPr>
          <a:xfrm>
            <a:off x="8191500" y="3919150"/>
            <a:ext cx="364763" cy="405200"/>
          </a:xfrm>
          <a:prstGeom prst="roundRect">
            <a:avLst/>
          </a:prstGeom>
          <a:solidFill>
            <a:srgbClr val="0A2131"/>
          </a:solidFill>
          <a:ln w="12700">
            <a:solidFill>
              <a:srgbClr val="8AF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4B6B05-C918-C24F-C8C9-E5C79E591112}"/>
              </a:ext>
            </a:extLst>
          </p:cNvPr>
          <p:cNvSpPr txBox="1"/>
          <p:nvPr/>
        </p:nvSpPr>
        <p:spPr>
          <a:xfrm>
            <a:off x="8220075" y="4037581"/>
            <a:ext cx="295275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050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DCC879E5-2085-7263-ED28-E345F92A2686}"/>
              </a:ext>
            </a:extLst>
          </p:cNvPr>
          <p:cNvSpPr/>
          <p:nvPr/>
        </p:nvSpPr>
        <p:spPr>
          <a:xfrm>
            <a:off x="7781925" y="3909945"/>
            <a:ext cx="364763" cy="405200"/>
          </a:xfrm>
          <a:prstGeom prst="roundRect">
            <a:avLst/>
          </a:prstGeom>
          <a:solidFill>
            <a:srgbClr val="0A2131"/>
          </a:solidFill>
          <a:ln w="12700">
            <a:solidFill>
              <a:srgbClr val="8AF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5B091B-F26A-A001-288D-C74A4A8CE267}"/>
              </a:ext>
            </a:extLst>
          </p:cNvPr>
          <p:cNvSpPr txBox="1"/>
          <p:nvPr/>
        </p:nvSpPr>
        <p:spPr>
          <a:xfrm>
            <a:off x="7810500" y="4028376"/>
            <a:ext cx="295275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050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</a:t>
            </a:r>
          </a:p>
        </p:txBody>
      </p:sp>
    </p:spTree>
    <p:extLst>
      <p:ext uri="{BB962C8B-B14F-4D97-AF65-F5344CB8AC3E}">
        <p14:creationId xmlns:p14="http://schemas.microsoft.com/office/powerpoint/2010/main" val="93192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">
            <a:extLst>
              <a:ext uri="{FF2B5EF4-FFF2-40B4-BE49-F238E27FC236}">
                <a16:creationId xmlns:a16="http://schemas.microsoft.com/office/drawing/2014/main" id="{1395536E-13B8-40E3-A9E1-6ECA6D1C5FAE}"/>
              </a:ext>
            </a:extLst>
          </p:cNvPr>
          <p:cNvSpPr>
            <a:spLocks noGrp="1"/>
          </p:cNvSpPr>
          <p:nvPr/>
        </p:nvSpPr>
        <p:spPr>
          <a:xfrm>
            <a:off x="-40194" y="47625"/>
            <a:ext cx="9224387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left-glow">
            <a:extLst>
              <a:ext uri="{FF2B5EF4-FFF2-40B4-BE49-F238E27FC236}">
                <a16:creationId xmlns:a16="http://schemas.microsoft.com/office/drawing/2014/main" id="{098C5C46-5CB0-4A5E-80E9-9361BD2DE9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28750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section-pill">
            <a:extLst>
              <a:ext uri="{FF2B5EF4-FFF2-40B4-BE49-F238E27FC236}">
                <a16:creationId xmlns:a16="http://schemas.microsoft.com/office/drawing/2014/main" id="{D9535BE3-DBC5-4870-883B-2CF571DB0AA5}"/>
              </a:ext>
            </a:extLst>
          </p:cNvPr>
          <p:cNvSpPr>
            <a:spLocks noGrp="1"/>
          </p:cNvSpPr>
          <p:nvPr/>
        </p:nvSpPr>
        <p:spPr>
          <a:xfrm>
            <a:off x="406399" y="190500"/>
            <a:ext cx="1157061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50F425-B206-4BD7-9DCD-A699A54B002D}"/>
              </a:ext>
            </a:extLst>
          </p:cNvPr>
          <p:cNvSpPr>
            <a:spLocks noGrp="1"/>
          </p:cNvSpPr>
          <p:nvPr/>
        </p:nvSpPr>
        <p:spPr>
          <a:xfrm>
            <a:off x="520699" y="300718"/>
            <a:ext cx="968375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타깃 &amp; 분할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E7D244-C00D-4A41-9152-AFD366AB4EB4}"/>
              </a:ext>
            </a:extLst>
          </p:cNvPr>
          <p:cNvSpPr>
            <a:spLocks noGrp="1"/>
          </p:cNvSpPr>
          <p:nvPr/>
        </p:nvSpPr>
        <p:spPr>
          <a:xfrm>
            <a:off x="409575" y="774700"/>
            <a:ext cx="83248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9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타깃</a:t>
            </a:r>
            <a:r>
              <a:rPr sz="2475" b="1" dirty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75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변수와</a:t>
            </a:r>
            <a:r>
              <a:rPr sz="2475" b="1" dirty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75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2475" b="1" dirty="0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75" b="1" dirty="0" err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대상</a:t>
            </a:r>
            <a:endParaRPr sz="2475" b="1" dirty="0">
              <a:solidFill>
                <a:srgbClr val="F4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4FC360-AB28-4ABF-A8EA-A834BFE97929}"/>
              </a:ext>
            </a:extLst>
          </p:cNvPr>
          <p:cNvSpPr>
            <a:spLocks noGrp="1"/>
          </p:cNvSpPr>
          <p:nvPr/>
        </p:nvSpPr>
        <p:spPr>
          <a:xfrm>
            <a:off x="409575" y="1224280"/>
            <a:ext cx="8191500" cy="323850"/>
          </a:xfrm>
          <a:prstGeom prst="rect">
            <a:avLst/>
          </a:prstGeom>
        </p:spPr>
        <p:txBody>
          <a:bodyPr lIns="0" tIns="0" rIns="0" bIns="0"/>
          <a:lstStyle/>
          <a:p>
            <a:pPr marL="171450" indent="-171450" defTabSz="457200" latinLnBrk="0"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클래스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불균형이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명확하기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때문에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정확도보다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Recall, F1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중심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평가가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필요</a:t>
            </a:r>
            <a:r>
              <a:rPr lang="ko-KR" altLang="en-US"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함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en-US"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lang="ko-KR" altLang="en-US"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또한 데이터셋 분리 시 </a:t>
            </a:r>
            <a:r>
              <a:rPr lang="ko-KR" altLang="en-US"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층화추출법을</a:t>
            </a:r>
            <a:r>
              <a:rPr lang="ko-KR" altLang="en-US"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고려해야함</a:t>
            </a:r>
            <a:endParaRPr lang="en-US" sz="105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marL="171450" indent="-171450" defTabSz="457200" latinLnBrk="0"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endParaRPr lang="en-US" sz="105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marL="171450" indent="-171450" defTabSz="457200" latinLnBrk="0"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학습셋은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DIVIDED_SET = 1.0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20,607명</a:t>
            </a:r>
            <a:r>
              <a:rPr lang="ko-KR" altLang="en-US"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임</a:t>
            </a:r>
            <a:r>
              <a:rPr sz="10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07B9A0-2FD1-40E4-A112-5E3C8618BB57}"/>
              </a:ext>
            </a:extLst>
          </p:cNvPr>
          <p:cNvSpPr>
            <a:spLocks noGrp="1"/>
          </p:cNvSpPr>
          <p:nvPr/>
        </p:nvSpPr>
        <p:spPr>
          <a:xfrm>
            <a:off x="424813" y="1908810"/>
            <a:ext cx="3905250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학습셋</a:t>
            </a:r>
            <a:r>
              <a:rPr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클래스</a:t>
            </a:r>
            <a:r>
              <a:rPr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분포</a:t>
            </a:r>
            <a:endParaRPr sz="127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AF455BB-2B03-44A3-AAFB-B75B5D92766E}"/>
              </a:ext>
            </a:extLst>
          </p:cNvPr>
          <p:cNvSpPr>
            <a:spLocks noGrp="1"/>
          </p:cNvSpPr>
          <p:nvPr/>
        </p:nvSpPr>
        <p:spPr>
          <a:xfrm>
            <a:off x="409575" y="2165985"/>
            <a:ext cx="3905250" cy="1583055"/>
          </a:xfrm>
          <a:prstGeom prst="roundRect">
            <a:avLst>
              <a:gd name="adj" fmla="val 6017"/>
            </a:avLst>
          </a:prstGeom>
          <a:noFill/>
          <a:ln w="9525">
            <a:solidFill>
              <a:srgbClr val="40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04AB8D-A068-4BDF-95F7-EC2435CF6AAF}"/>
              </a:ext>
            </a:extLst>
          </p:cNvPr>
          <p:cNvSpPr>
            <a:spLocks noGrp="1"/>
          </p:cNvSpPr>
          <p:nvPr/>
        </p:nvSpPr>
        <p:spPr>
          <a:xfrm>
            <a:off x="542925" y="2295525"/>
            <a:ext cx="363855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350">
                <a:solidFill>
                  <a:srgbClr val="A8BDCE"/>
                </a:solidFill>
                <a:latin typeface="Malgun Gothic"/>
                <a:ea typeface="Malgun Gothic"/>
                <a:cs typeface="Malgun Gothic"/>
              </a:defRPr>
            </a:pPr>
            <a:r>
              <a:rPr sz="675">
                <a:solidFill>
                  <a:srgbClr val="A8BDCE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3FA4AB-F8E7-4D13-983B-4204CFB5F869}"/>
              </a:ext>
            </a:extLst>
          </p:cNvPr>
          <p:cNvSpPr>
            <a:spLocks noGrp="1"/>
          </p:cNvSpPr>
          <p:nvPr/>
        </p:nvSpPr>
        <p:spPr>
          <a:xfrm>
            <a:off x="542925" y="2524125"/>
            <a:ext cx="676275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DCE7F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정상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(0)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C521F0-66A2-4BF2-8ECB-682E80E62916}"/>
              </a:ext>
            </a:extLst>
          </p:cNvPr>
          <p:cNvSpPr>
            <a:spLocks noGrp="1"/>
          </p:cNvSpPr>
          <p:nvPr/>
        </p:nvSpPr>
        <p:spPr>
          <a:xfrm>
            <a:off x="1247775" y="2526030"/>
            <a:ext cx="2667000" cy="295275"/>
          </a:xfrm>
          <a:prstGeom prst="roundRect">
            <a:avLst>
              <a:gd name="adj" fmla="val 22581"/>
            </a:avLst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25E54F-07AC-4A2D-A709-CCFE9917EA9F}"/>
              </a:ext>
            </a:extLst>
          </p:cNvPr>
          <p:cNvSpPr>
            <a:spLocks noGrp="1"/>
          </p:cNvSpPr>
          <p:nvPr/>
        </p:nvSpPr>
        <p:spPr>
          <a:xfrm>
            <a:off x="1257300" y="2514600"/>
            <a:ext cx="2667000" cy="295275"/>
          </a:xfrm>
          <a:prstGeom prst="roundRect">
            <a:avLst>
              <a:gd name="adj" fmla="val 22581"/>
            </a:avLst>
          </a:prstGeom>
          <a:solidFill>
            <a:srgbClr val="1664F3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FCD4DA-3EB8-48FC-86C9-5AE8EDDD3FFF}"/>
              </a:ext>
            </a:extLst>
          </p:cNvPr>
          <p:cNvSpPr>
            <a:spLocks noGrp="1"/>
          </p:cNvSpPr>
          <p:nvPr/>
        </p:nvSpPr>
        <p:spPr>
          <a:xfrm>
            <a:off x="4000500" y="2524125"/>
            <a:ext cx="295275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 b="1">
                <a:solidFill>
                  <a:srgbClr val="9FC1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 dirty="0">
                <a:solidFill>
                  <a:srgbClr val="9FC1FF"/>
                </a:solidFill>
                <a:latin typeface="Malgun Gothic"/>
                <a:ea typeface="Malgun Gothic"/>
                <a:cs typeface="Malgun Gothic"/>
              </a:rPr>
              <a:t>18.8k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64CB96-AE06-426B-8577-AD245B6E78DA}"/>
              </a:ext>
            </a:extLst>
          </p:cNvPr>
          <p:cNvSpPr>
            <a:spLocks noGrp="1"/>
          </p:cNvSpPr>
          <p:nvPr/>
        </p:nvSpPr>
        <p:spPr>
          <a:xfrm>
            <a:off x="542925" y="2943225"/>
            <a:ext cx="675084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DCE7F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사기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의심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(1)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C737DE0-FA85-461E-A3ED-28DB9B59E14C}"/>
              </a:ext>
            </a:extLst>
          </p:cNvPr>
          <p:cNvSpPr>
            <a:spLocks noGrp="1"/>
          </p:cNvSpPr>
          <p:nvPr/>
        </p:nvSpPr>
        <p:spPr>
          <a:xfrm>
            <a:off x="1247775" y="2945130"/>
            <a:ext cx="2667000" cy="295275"/>
          </a:xfrm>
          <a:prstGeom prst="roundRect">
            <a:avLst>
              <a:gd name="adj" fmla="val 22581"/>
            </a:avLst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DCE87ED-D20E-4881-852E-45AFBA2CC0B4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257175" cy="295275"/>
          </a:xfrm>
          <a:prstGeom prst="roundRect">
            <a:avLst>
              <a:gd name="adj" fmla="val 25926"/>
            </a:avLst>
          </a:prstGeom>
          <a:solidFill>
            <a:srgbClr val="5B95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DFC546-6A50-44EA-8A03-CD782DB984CD}"/>
              </a:ext>
            </a:extLst>
          </p:cNvPr>
          <p:cNvSpPr>
            <a:spLocks noGrp="1"/>
          </p:cNvSpPr>
          <p:nvPr/>
        </p:nvSpPr>
        <p:spPr>
          <a:xfrm>
            <a:off x="4000500" y="2943225"/>
            <a:ext cx="295275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 b="1">
                <a:solidFill>
                  <a:srgbClr val="9FC1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 dirty="0">
                <a:solidFill>
                  <a:srgbClr val="9FC1FF"/>
                </a:solidFill>
                <a:latin typeface="Malgun Gothic"/>
                <a:ea typeface="Malgun Gothic"/>
                <a:cs typeface="Malgun Gothic"/>
              </a:rPr>
              <a:t>1.81k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40AA48-CC0F-4F10-9D15-800F1BAD3968}"/>
              </a:ext>
            </a:extLst>
          </p:cNvPr>
          <p:cNvSpPr>
            <a:spLocks noGrp="1"/>
          </p:cNvSpPr>
          <p:nvPr/>
        </p:nvSpPr>
        <p:spPr>
          <a:xfrm>
            <a:off x="542924" y="3362325"/>
            <a:ext cx="3705513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C9D7E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정상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18,801명,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사기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의심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1,806명으로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양성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25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비율은</a:t>
            </a:r>
            <a:r>
              <a:rPr sz="825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8.76%입니다.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38A324-79F2-49B5-983B-0FC22CF2AB67}"/>
              </a:ext>
            </a:extLst>
          </p:cNvPr>
          <p:cNvSpPr>
            <a:spLocks noGrp="1"/>
          </p:cNvSpPr>
          <p:nvPr/>
        </p:nvSpPr>
        <p:spPr>
          <a:xfrm>
            <a:off x="4572000" y="1847850"/>
            <a:ext cx="4162425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주요 컬럼 정보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1C87413-20F5-4556-9949-7E24E5A32151}"/>
              </a:ext>
            </a:extLst>
          </p:cNvPr>
          <p:cNvSpPr>
            <a:spLocks noGrp="1"/>
          </p:cNvSpPr>
          <p:nvPr/>
        </p:nvSpPr>
        <p:spPr>
          <a:xfrm>
            <a:off x="4572000" y="2118360"/>
            <a:ext cx="2038350" cy="655320"/>
          </a:xfrm>
          <a:prstGeom prst="roundRect">
            <a:avLst>
              <a:gd name="adj" fmla="val 17606"/>
            </a:avLst>
          </a:prstGeom>
          <a:noFill/>
          <a:ln w="19050">
            <a:solidFill>
              <a:srgbClr val="225F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F79E739-19AF-4986-B4C4-01AE342D528A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17716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SIU_CUST_YN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D252E39-5547-4688-848E-79123BA4846B}"/>
              </a:ext>
            </a:extLst>
          </p:cNvPr>
          <p:cNvSpPr>
            <a:spLocks noGrp="1"/>
          </p:cNvSpPr>
          <p:nvPr/>
        </p:nvSpPr>
        <p:spPr>
          <a:xfrm>
            <a:off x="4705350" y="2428875"/>
            <a:ext cx="1809750" cy="114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0DCE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사기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의심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여부를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나타내는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타깃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변수</a:t>
            </a:r>
            <a:endParaRPr sz="75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DF5618D-0DC0-45F8-B4E0-2B764BDE5CEF}"/>
              </a:ext>
            </a:extLst>
          </p:cNvPr>
          <p:cNvSpPr>
            <a:spLocks noGrp="1"/>
          </p:cNvSpPr>
          <p:nvPr/>
        </p:nvSpPr>
        <p:spPr>
          <a:xfrm>
            <a:off x="6696074" y="2118360"/>
            <a:ext cx="2124075" cy="655320"/>
          </a:xfrm>
          <a:prstGeom prst="roundRect">
            <a:avLst>
              <a:gd name="adj" fmla="val 14535"/>
            </a:avLst>
          </a:prstGeom>
          <a:noFill/>
          <a:ln w="19050">
            <a:solidFill>
              <a:srgbClr val="225F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A9E7ECB-A342-46A3-A788-360AD1C0433F}"/>
              </a:ext>
            </a:extLst>
          </p:cNvPr>
          <p:cNvSpPr>
            <a:spLocks noGrp="1"/>
          </p:cNvSpPr>
          <p:nvPr/>
        </p:nvSpPr>
        <p:spPr>
          <a:xfrm>
            <a:off x="6829425" y="2228850"/>
            <a:ext cx="17716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CUST_ID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43BE65-0E67-4EF4-A5B3-8889999B187B}"/>
              </a:ext>
            </a:extLst>
          </p:cNvPr>
          <p:cNvSpPr>
            <a:spLocks noGrp="1"/>
          </p:cNvSpPr>
          <p:nvPr/>
        </p:nvSpPr>
        <p:spPr>
          <a:xfrm>
            <a:off x="6791325" y="2428875"/>
            <a:ext cx="2028825" cy="2286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0DCE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단위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식별자이며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feature에서</a:t>
            </a:r>
            <a:r>
              <a:rPr lang="en-US"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제외</a:t>
            </a:r>
            <a:endParaRPr sz="75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A4CEA1E-A55A-416A-903B-35CE0A243FE9}"/>
              </a:ext>
            </a:extLst>
          </p:cNvPr>
          <p:cNvSpPr>
            <a:spLocks noGrp="1"/>
          </p:cNvSpPr>
          <p:nvPr/>
        </p:nvSpPr>
        <p:spPr>
          <a:xfrm>
            <a:off x="4572000" y="2849880"/>
            <a:ext cx="4248149" cy="655320"/>
          </a:xfrm>
          <a:prstGeom prst="roundRect">
            <a:avLst>
              <a:gd name="adj" fmla="val 14535"/>
            </a:avLst>
          </a:prstGeom>
          <a:noFill/>
          <a:ln w="19050">
            <a:solidFill>
              <a:srgbClr val="225F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A68C9F9-B48B-4C26-AE60-708FB12F0128}"/>
              </a:ext>
            </a:extLst>
          </p:cNvPr>
          <p:cNvSpPr>
            <a:spLocks noGrp="1"/>
          </p:cNvSpPr>
          <p:nvPr/>
        </p:nvSpPr>
        <p:spPr>
          <a:xfrm>
            <a:off x="4705350" y="2962275"/>
            <a:ext cx="3895725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4F7FB"/>
                </a:solidFill>
                <a:latin typeface="Malgun Gothic"/>
                <a:ea typeface="Malgun Gothic"/>
                <a:cs typeface="Malgun Gothic"/>
              </a:rPr>
              <a:t>DIVIDED_SET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80ADC2A-4B6D-462A-B190-95E76E6FA147}"/>
              </a:ext>
            </a:extLst>
          </p:cNvPr>
          <p:cNvSpPr>
            <a:spLocks noGrp="1"/>
          </p:cNvSpPr>
          <p:nvPr/>
        </p:nvSpPr>
        <p:spPr>
          <a:xfrm>
            <a:off x="4705350" y="3162300"/>
            <a:ext cx="4155281" cy="2286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0DCE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평가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분할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컬럼이며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여기서는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DIVIDED_SET = 1.0인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학습셋만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기준으로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집계</a:t>
            </a:r>
            <a:r>
              <a:rPr lang="ko-KR" altLang="en-US"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함</a:t>
            </a:r>
            <a:r>
              <a:rPr sz="75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C48AFDD-E3A7-4E34-A8C4-760FCC3BD990}"/>
              </a:ext>
            </a:extLst>
          </p:cNvPr>
          <p:cNvSpPr>
            <a:spLocks noGrp="1"/>
          </p:cNvSpPr>
          <p:nvPr/>
        </p:nvSpPr>
        <p:spPr>
          <a:xfrm>
            <a:off x="4619625" y="3638550"/>
            <a:ext cx="189547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35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20,607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038800-2752-4BF5-9AE7-5F9B2AA8D249}"/>
              </a:ext>
            </a:extLst>
          </p:cNvPr>
          <p:cNvSpPr>
            <a:spLocks noGrp="1"/>
          </p:cNvSpPr>
          <p:nvPr/>
        </p:nvSpPr>
        <p:spPr>
          <a:xfrm>
            <a:off x="4619625" y="4010025"/>
            <a:ext cx="189547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>
                <a:solidFill>
                  <a:srgbClr val="D4E0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D4E0EB"/>
                </a:solidFill>
                <a:latin typeface="Malgun Gothic"/>
                <a:ea typeface="Malgun Gothic"/>
                <a:cs typeface="Malgun Gothic"/>
              </a:rPr>
              <a:t>학습용 고객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3456B6-8924-4769-B8D2-E920A4E351FD}"/>
              </a:ext>
            </a:extLst>
          </p:cNvPr>
          <p:cNvSpPr>
            <a:spLocks noGrp="1"/>
          </p:cNvSpPr>
          <p:nvPr/>
        </p:nvSpPr>
        <p:spPr>
          <a:xfrm>
            <a:off x="6800850" y="3638550"/>
            <a:ext cx="189547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35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8.76%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9B567A-68D3-4A69-B772-39B579C54A56}"/>
              </a:ext>
            </a:extLst>
          </p:cNvPr>
          <p:cNvSpPr>
            <a:spLocks noGrp="1"/>
          </p:cNvSpPr>
          <p:nvPr/>
        </p:nvSpPr>
        <p:spPr>
          <a:xfrm>
            <a:off x="6800850" y="4010025"/>
            <a:ext cx="189547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>
                <a:solidFill>
                  <a:srgbClr val="D4E0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D4E0EB"/>
                </a:solidFill>
                <a:latin typeface="Malgun Gothic"/>
                <a:ea typeface="Malgun Gothic"/>
                <a:cs typeface="Malgun Gothic"/>
              </a:rPr>
              <a:t>사기 비율</a:t>
            </a:r>
          </a:p>
        </p:txBody>
      </p:sp>
      <p:sp>
        <p:nvSpPr>
          <p:cNvPr id="36" name="data-ribbon">
            <a:extLst>
              <a:ext uri="{FF2B5EF4-FFF2-40B4-BE49-F238E27FC236}">
                <a16:creationId xmlns:a16="http://schemas.microsoft.com/office/drawing/2014/main" id="{64F1F0C4-1362-8F00-82C1-D8CAFCC92B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7953EB3-5592-0841-B25C-6FD6381087C4}"/>
              </a:ext>
            </a:extLst>
          </p:cNvPr>
          <p:cNvSpPr>
            <a:spLocks noGrp="1"/>
          </p:cNvSpPr>
          <p:nvPr/>
        </p:nvSpPr>
        <p:spPr>
          <a:xfrm>
            <a:off x="5062538" y="1184275"/>
            <a:ext cx="3197542" cy="3238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>
                <a:solidFill>
                  <a:srgbClr val="D6E1EA"/>
                </a:solidFill>
                <a:latin typeface="Malgun Gothic"/>
                <a:ea typeface="Malgun Gothic"/>
                <a:cs typeface="Malgun Gothic"/>
              </a:defRPr>
            </a:pPr>
            <a:endParaRPr sz="1050" dirty="0">
              <a:solidFill>
                <a:srgbClr val="D6E1EA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1242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ackground">
            <a:extLst>
              <a:ext uri="{FF2B5EF4-FFF2-40B4-BE49-F238E27FC236}">
                <a16:creationId xmlns:a16="http://schemas.microsoft.com/office/drawing/2014/main" id="{DD7BCFBD-AD98-452F-A3CC-CE09A8EAE912}"/>
              </a:ext>
            </a:extLst>
          </p:cNvPr>
          <p:cNvSpPr>
            <a:spLocks noGrp="1"/>
          </p:cNvSpPr>
          <p:nvPr/>
        </p:nvSpPr>
        <p:spPr>
          <a:xfrm>
            <a:off x="-1588" y="23812"/>
            <a:ext cx="9145588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left-atmosphere">
            <a:extLst>
              <a:ext uri="{FF2B5EF4-FFF2-40B4-BE49-F238E27FC236}">
                <a16:creationId xmlns:a16="http://schemas.microsoft.com/office/drawing/2014/main" id="{9F4AF47A-62EE-4E2F-A3DD-9ED61CD730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7162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data-ribbon">
            <a:extLst>
              <a:ext uri="{FF2B5EF4-FFF2-40B4-BE49-F238E27FC236}">
                <a16:creationId xmlns:a16="http://schemas.microsoft.com/office/drawing/2014/main" id="{8C688475-151B-43C0-8CDE-BDB70A2D40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pill">
            <a:extLst>
              <a:ext uri="{FF2B5EF4-FFF2-40B4-BE49-F238E27FC236}">
                <a16:creationId xmlns:a16="http://schemas.microsoft.com/office/drawing/2014/main" id="{A80882D4-4546-4659-9B77-C8C973CF4C70}"/>
              </a:ext>
            </a:extLst>
          </p:cNvPr>
          <p:cNvSpPr>
            <a:spLocks noGrp="1"/>
          </p:cNvSpPr>
          <p:nvPr/>
        </p:nvSpPr>
        <p:spPr>
          <a:xfrm>
            <a:off x="406400" y="190500"/>
            <a:ext cx="631824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69E4A6-BD57-4F2C-A79C-91E3704F48FD}"/>
              </a:ext>
            </a:extLst>
          </p:cNvPr>
          <p:cNvSpPr>
            <a:spLocks noGrp="1"/>
          </p:cNvSpPr>
          <p:nvPr/>
        </p:nvSpPr>
        <p:spPr>
          <a:xfrm>
            <a:off x="546099" y="294595"/>
            <a:ext cx="358775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EDA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90A69E-CF97-4680-A22C-D5B156B745C6}"/>
              </a:ext>
            </a:extLst>
          </p:cNvPr>
          <p:cNvSpPr>
            <a:spLocks noGrp="1"/>
          </p:cNvSpPr>
          <p:nvPr/>
        </p:nvSpPr>
        <p:spPr>
          <a:xfrm>
            <a:off x="1142999" y="304800"/>
            <a:ext cx="2902405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9FB4C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dirty="0">
                <a:solidFill>
                  <a:srgbClr val="9FB4C7"/>
                </a:solidFill>
                <a:latin typeface="Malgun Gothic"/>
                <a:ea typeface="Malgun Gothic"/>
                <a:cs typeface="Malgun Gothic"/>
              </a:rPr>
              <a:t>CUST_DATA.csv  |  22,400명 · 25개 </a:t>
            </a:r>
            <a:r>
              <a:rPr sz="1200" dirty="0" err="1">
                <a:solidFill>
                  <a:srgbClr val="9FB4C7"/>
                </a:solidFill>
                <a:latin typeface="Malgun Gothic"/>
                <a:ea typeface="Malgun Gothic"/>
                <a:cs typeface="Malgun Gothic"/>
              </a:rPr>
              <a:t>컬럼</a:t>
            </a:r>
            <a:endParaRPr sz="1200" dirty="0">
              <a:solidFill>
                <a:srgbClr val="9FB4C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1ECAC0-8405-46E8-9873-B4158CBC58BA}"/>
              </a:ext>
            </a:extLst>
          </p:cNvPr>
          <p:cNvSpPr>
            <a:spLocks noGrp="1"/>
          </p:cNvSpPr>
          <p:nvPr/>
        </p:nvSpPr>
        <p:spPr>
          <a:xfrm>
            <a:off x="409575" y="774700"/>
            <a:ext cx="8324850" cy="4191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4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고객 데이터 EDA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E3974B-3AED-4BEC-BBD8-2A3084A474DC}"/>
              </a:ext>
            </a:extLst>
          </p:cNvPr>
          <p:cNvSpPr>
            <a:spLocks noGrp="1"/>
          </p:cNvSpPr>
          <p:nvPr/>
        </p:nvSpPr>
        <p:spPr>
          <a:xfrm>
            <a:off x="367750" y="1281807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5C18A2-C254-4F81-9B9A-C48E2861CAEB}"/>
              </a:ext>
            </a:extLst>
          </p:cNvPr>
          <p:cNvSpPr>
            <a:spLocks noGrp="1"/>
          </p:cNvSpPr>
          <p:nvPr/>
        </p:nvSpPr>
        <p:spPr>
          <a:xfrm>
            <a:off x="395287" y="1417638"/>
            <a:ext cx="2302193" cy="4191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sz="17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연령</a:t>
            </a:r>
            <a:r>
              <a:rPr sz="17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분포</a:t>
            </a:r>
            <a:r>
              <a:rPr lang="en-US" sz="17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7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비율</a:t>
            </a:r>
            <a:endParaRPr sz="17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0368E8-1D56-43D4-91EA-0BDAE1EF5CDC}"/>
              </a:ext>
            </a:extLst>
          </p:cNvPr>
          <p:cNvSpPr>
            <a:spLocks noGrp="1"/>
          </p:cNvSpPr>
          <p:nvPr/>
        </p:nvSpPr>
        <p:spPr>
          <a:xfrm>
            <a:off x="4787265" y="2177604"/>
            <a:ext cx="1849755" cy="6514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44.73세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D06DC1-030E-4CBA-8F36-7D5B646091C5}"/>
              </a:ext>
            </a:extLst>
          </p:cNvPr>
          <p:cNvSpPr>
            <a:spLocks noGrp="1"/>
          </p:cNvSpPr>
          <p:nvPr/>
        </p:nvSpPr>
        <p:spPr>
          <a:xfrm>
            <a:off x="4787265" y="2750776"/>
            <a:ext cx="1849755" cy="26056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평균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연령</a:t>
            </a:r>
            <a:endParaRPr sz="100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80D3EB-433A-4557-BFA1-BA49BA4A3F34}"/>
              </a:ext>
            </a:extLst>
          </p:cNvPr>
          <p:cNvSpPr>
            <a:spLocks noGrp="1"/>
          </p:cNvSpPr>
          <p:nvPr/>
        </p:nvSpPr>
        <p:spPr>
          <a:xfrm>
            <a:off x="6591300" y="2182718"/>
            <a:ext cx="1849755" cy="6514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46세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B7A1A9-695C-486D-ABE1-A8999E59800D}"/>
              </a:ext>
            </a:extLst>
          </p:cNvPr>
          <p:cNvSpPr>
            <a:spLocks noGrp="1"/>
          </p:cNvSpPr>
          <p:nvPr/>
        </p:nvSpPr>
        <p:spPr>
          <a:xfrm>
            <a:off x="6591300" y="2750776"/>
            <a:ext cx="1849755" cy="26056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중앙값</a:t>
            </a:r>
            <a:endParaRPr sz="110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6917A7-0671-41D0-ADCB-C7B144B7E3CB}"/>
              </a:ext>
            </a:extLst>
          </p:cNvPr>
          <p:cNvSpPr>
            <a:spLocks noGrp="1"/>
          </p:cNvSpPr>
          <p:nvPr/>
        </p:nvSpPr>
        <p:spPr>
          <a:xfrm>
            <a:off x="523875" y="2853415"/>
            <a:ext cx="38100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endParaRPr sz="825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2034C8-7734-4610-B8A7-72499427A59F}"/>
              </a:ext>
            </a:extLst>
          </p:cNvPr>
          <p:cNvSpPr>
            <a:spLocks noGrp="1"/>
          </p:cNvSpPr>
          <p:nvPr/>
        </p:nvSpPr>
        <p:spPr>
          <a:xfrm>
            <a:off x="6229350" y="2804153"/>
            <a:ext cx="2257425" cy="91172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30000"/>
              </a:lnSpc>
              <a:defRPr sz="1650">
                <a:solidFill>
                  <a:srgbClr val="D9E7FF"/>
                </a:solidFill>
                <a:latin typeface="Malgun Gothic"/>
                <a:ea typeface="Malgun Gothic"/>
                <a:cs typeface="Malgun Gothic"/>
              </a:defRPr>
            </a:pPr>
            <a:endParaRPr lang="en-US" sz="825" b="1" dirty="0">
              <a:solidFill>
                <a:srgbClr val="D9E7F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911CC50A-9333-32CC-D45B-1FE83FD33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1786632"/>
            <a:ext cx="4120265" cy="3240027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8CF576CC-043A-B3A4-C600-BA9298978DB5}"/>
              </a:ext>
            </a:extLst>
          </p:cNvPr>
          <p:cNvSpPr>
            <a:spLocks noGrp="1"/>
          </p:cNvSpPr>
          <p:nvPr/>
        </p:nvSpPr>
        <p:spPr>
          <a:xfrm>
            <a:off x="4729647" y="3309828"/>
            <a:ext cx="4412765" cy="56117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보험사기꾼</a:t>
            </a:r>
            <a:r>
              <a:rPr lang="en-US" altLang="ko-KR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일반인 모두 비슷한 정규분포 모양을 가지기에 연령 하나만으로 사기꾼인지 확신하기가 어려움</a:t>
            </a:r>
            <a:endParaRPr sz="127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4989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0BE4-28F2-B5A2-1E2F-39DD637D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ackground">
            <a:extLst>
              <a:ext uri="{FF2B5EF4-FFF2-40B4-BE49-F238E27FC236}">
                <a16:creationId xmlns:a16="http://schemas.microsoft.com/office/drawing/2014/main" id="{1F8E1759-F0E2-A88F-72C7-DF8BF32662B9}"/>
              </a:ext>
            </a:extLst>
          </p:cNvPr>
          <p:cNvSpPr>
            <a:spLocks noGrp="1"/>
          </p:cNvSpPr>
          <p:nvPr/>
        </p:nvSpPr>
        <p:spPr>
          <a:xfrm>
            <a:off x="-60290" y="23812"/>
            <a:ext cx="9254532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left-atmosphere">
            <a:extLst>
              <a:ext uri="{FF2B5EF4-FFF2-40B4-BE49-F238E27FC236}">
                <a16:creationId xmlns:a16="http://schemas.microsoft.com/office/drawing/2014/main" id="{39B78486-F674-EEAD-A101-5E4CC7BFD0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7162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data-ribbon">
            <a:extLst>
              <a:ext uri="{FF2B5EF4-FFF2-40B4-BE49-F238E27FC236}">
                <a16:creationId xmlns:a16="http://schemas.microsoft.com/office/drawing/2014/main" id="{23774627-CAB7-3D10-1D03-C0E7DA9365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pill">
            <a:extLst>
              <a:ext uri="{FF2B5EF4-FFF2-40B4-BE49-F238E27FC236}">
                <a16:creationId xmlns:a16="http://schemas.microsoft.com/office/drawing/2014/main" id="{D7AEC598-0A86-2850-66F5-217E9330ACA3}"/>
              </a:ext>
            </a:extLst>
          </p:cNvPr>
          <p:cNvSpPr>
            <a:spLocks noGrp="1"/>
          </p:cNvSpPr>
          <p:nvPr/>
        </p:nvSpPr>
        <p:spPr>
          <a:xfrm>
            <a:off x="406400" y="190500"/>
            <a:ext cx="631824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554AE6-46F5-669C-F54B-4E92C085D54B}"/>
              </a:ext>
            </a:extLst>
          </p:cNvPr>
          <p:cNvSpPr>
            <a:spLocks noGrp="1"/>
          </p:cNvSpPr>
          <p:nvPr/>
        </p:nvSpPr>
        <p:spPr>
          <a:xfrm>
            <a:off x="546099" y="294595"/>
            <a:ext cx="358775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EDA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B59889-2B1A-F6CE-CC45-D23DC082508C}"/>
              </a:ext>
            </a:extLst>
          </p:cNvPr>
          <p:cNvSpPr>
            <a:spLocks noGrp="1"/>
          </p:cNvSpPr>
          <p:nvPr/>
        </p:nvSpPr>
        <p:spPr>
          <a:xfrm>
            <a:off x="367750" y="774700"/>
            <a:ext cx="8324850" cy="4191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4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27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27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EDA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089575-1C4A-39AE-1662-1EFFDFA8F39F}"/>
              </a:ext>
            </a:extLst>
          </p:cNvPr>
          <p:cNvSpPr>
            <a:spLocks noGrp="1"/>
          </p:cNvSpPr>
          <p:nvPr/>
        </p:nvSpPr>
        <p:spPr>
          <a:xfrm>
            <a:off x="367750" y="1281807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FF82F6-3672-F4DF-F6B5-A45D00C8372A}"/>
              </a:ext>
            </a:extLst>
          </p:cNvPr>
          <p:cNvSpPr>
            <a:spLocks noGrp="1"/>
          </p:cNvSpPr>
          <p:nvPr/>
        </p:nvSpPr>
        <p:spPr>
          <a:xfrm>
            <a:off x="523875" y="2853415"/>
            <a:ext cx="38100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endParaRPr sz="825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F18454B-43CD-B315-F218-C0EEA2715AEB}"/>
              </a:ext>
            </a:extLst>
          </p:cNvPr>
          <p:cNvSpPr>
            <a:spLocks noGrp="1"/>
          </p:cNvSpPr>
          <p:nvPr/>
        </p:nvSpPr>
        <p:spPr>
          <a:xfrm>
            <a:off x="119062" y="1500675"/>
            <a:ext cx="1571626" cy="191186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성별</a:t>
            </a:r>
            <a:r>
              <a:rPr lang="en-US" sz="16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분포</a:t>
            </a:r>
            <a:endParaRPr sz="16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4DDCFD0-C8DC-E926-31C8-CA96C4636784}"/>
              </a:ext>
            </a:extLst>
          </p:cNvPr>
          <p:cNvSpPr>
            <a:spLocks noGrp="1"/>
          </p:cNvSpPr>
          <p:nvPr/>
        </p:nvSpPr>
        <p:spPr>
          <a:xfrm>
            <a:off x="6229350" y="2804153"/>
            <a:ext cx="2257425" cy="91172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30000"/>
              </a:lnSpc>
              <a:defRPr sz="1650">
                <a:solidFill>
                  <a:srgbClr val="D9E7FF"/>
                </a:solidFill>
                <a:latin typeface="Malgun Gothic"/>
                <a:ea typeface="Malgun Gothic"/>
                <a:cs typeface="Malgun Gothic"/>
              </a:defRPr>
            </a:pPr>
            <a:endParaRPr lang="en-US" sz="825" b="1" dirty="0">
              <a:solidFill>
                <a:srgbClr val="D9E7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4DA1427-EBF6-D186-45BE-81E27B314B93}"/>
              </a:ext>
            </a:extLst>
          </p:cNvPr>
          <p:cNvSpPr>
            <a:spLocks noGrp="1"/>
          </p:cNvSpPr>
          <p:nvPr/>
        </p:nvSpPr>
        <p:spPr>
          <a:xfrm>
            <a:off x="5445690" y="561450"/>
            <a:ext cx="3401850" cy="56117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5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연령대와 성별 비율 지표 두 개를 조합했을 때 </a:t>
            </a:r>
            <a:endParaRPr lang="en-US" altLang="ko-KR" sz="1275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5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시너지가 있음을 </a:t>
            </a:r>
            <a:r>
              <a:rPr lang="ko-KR" altLang="en-US" sz="1275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확인가능함</a:t>
            </a:r>
            <a:endParaRPr sz="1275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45B3EBD-E777-8801-0B7D-FA5A5AF14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396" y="1884228"/>
            <a:ext cx="2814015" cy="228992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B7E29A-01C4-C9C6-55D8-2A38A8390CB6}"/>
              </a:ext>
            </a:extLst>
          </p:cNvPr>
          <p:cNvSpPr>
            <a:spLocks noGrp="1"/>
          </p:cNvSpPr>
          <p:nvPr/>
        </p:nvSpPr>
        <p:spPr>
          <a:xfrm>
            <a:off x="2706425" y="1535038"/>
            <a:ext cx="2168189" cy="191186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성별</a:t>
            </a:r>
            <a:r>
              <a:rPr lang="ko-KR" altLang="en-US" sz="16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별 사기꾼 비율</a:t>
            </a:r>
            <a:endParaRPr sz="16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F86B1D4-F5DE-CCD7-F746-203E45FF9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178" y="1890498"/>
            <a:ext cx="3501054" cy="3021214"/>
          </a:xfrm>
          <a:prstGeom prst="rect">
            <a:avLst/>
          </a:prstGeom>
        </p:spPr>
      </p:pic>
      <p:sp>
        <p:nvSpPr>
          <p:cNvPr id="31" name="원형: 비어 있음 30">
            <a:extLst>
              <a:ext uri="{FF2B5EF4-FFF2-40B4-BE49-F238E27FC236}">
                <a16:creationId xmlns:a16="http://schemas.microsoft.com/office/drawing/2014/main" id="{C7FD5A51-31F6-2B67-EEE1-9BD14D611EA3}"/>
              </a:ext>
            </a:extLst>
          </p:cNvPr>
          <p:cNvSpPr/>
          <p:nvPr/>
        </p:nvSpPr>
        <p:spPr>
          <a:xfrm>
            <a:off x="7623918" y="2019590"/>
            <a:ext cx="328314" cy="325853"/>
          </a:xfrm>
          <a:prstGeom prst="donut">
            <a:avLst>
              <a:gd name="adj" fmla="val 570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원형: 비어 있음 32">
            <a:extLst>
              <a:ext uri="{FF2B5EF4-FFF2-40B4-BE49-F238E27FC236}">
                <a16:creationId xmlns:a16="http://schemas.microsoft.com/office/drawing/2014/main" id="{739219A2-48C4-F6CF-9F4E-4FB7D0EB2BBA}"/>
              </a:ext>
            </a:extLst>
          </p:cNvPr>
          <p:cNvSpPr/>
          <p:nvPr/>
        </p:nvSpPr>
        <p:spPr>
          <a:xfrm>
            <a:off x="6891130" y="2577601"/>
            <a:ext cx="328314" cy="325853"/>
          </a:xfrm>
          <a:prstGeom prst="donut">
            <a:avLst>
              <a:gd name="adj" fmla="val 570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6D1989C-D826-EA27-9DFD-88E7853D3BB4}"/>
              </a:ext>
            </a:extLst>
          </p:cNvPr>
          <p:cNvSpPr>
            <a:spLocks noGrp="1"/>
          </p:cNvSpPr>
          <p:nvPr/>
        </p:nvSpPr>
        <p:spPr>
          <a:xfrm>
            <a:off x="5594178" y="1588868"/>
            <a:ext cx="3549822" cy="230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연령대</a:t>
            </a:r>
            <a:r>
              <a:rPr lang="en-US" altLang="ko-KR" sz="16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6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성별 교집합  사기꾼 비율</a:t>
            </a:r>
            <a:endParaRPr sz="16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DD2249A1-D5F3-157A-B0A6-B100FB6AE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76" y="1895002"/>
            <a:ext cx="2468353" cy="58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3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CEA7-DB93-26CF-7F72-0E21B613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ackground">
            <a:extLst>
              <a:ext uri="{FF2B5EF4-FFF2-40B4-BE49-F238E27FC236}">
                <a16:creationId xmlns:a16="http://schemas.microsoft.com/office/drawing/2014/main" id="{F925AEBC-4FB6-749A-C4F0-B7954465A94C}"/>
              </a:ext>
            </a:extLst>
          </p:cNvPr>
          <p:cNvSpPr>
            <a:spLocks noGrp="1"/>
          </p:cNvSpPr>
          <p:nvPr/>
        </p:nvSpPr>
        <p:spPr>
          <a:xfrm>
            <a:off x="-85411" y="23812"/>
            <a:ext cx="9269604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r>
              <a:rPr lang="en-US" altLang="ko-KR"/>
              <a:t>CUST_INCM</a:t>
            </a:r>
            <a:r>
              <a:rPr lang="ko-KR" altLang="en-US"/>
              <a:t> </a:t>
            </a:r>
            <a:r>
              <a:rPr lang="en-US" altLang="ko-KR"/>
              <a:t>N</a:t>
            </a:r>
            <a:r>
              <a:rPr lang="ko-KR" altLang="en-US"/>
              <a:t> 고객추정소득 고객의 연령</a:t>
            </a:r>
            <a:r>
              <a:rPr lang="en-US" altLang="ko-KR"/>
              <a:t>/</a:t>
            </a:r>
            <a:r>
              <a:rPr lang="ko-KR" altLang="en-US"/>
              <a:t>직업</a:t>
            </a:r>
            <a:r>
              <a:rPr lang="en-US" altLang="ko-KR"/>
              <a:t>/</a:t>
            </a:r>
            <a:r>
              <a:rPr lang="ko-KR" altLang="en-US"/>
              <a:t>보험료 수준등을 통한 고객의 개인 소득 추정금액 </a:t>
            </a:r>
            <a:endParaRPr lang="ko-KR" altLang="en-US" dirty="0"/>
          </a:p>
        </p:txBody>
      </p:sp>
      <p:sp>
        <p:nvSpPr>
          <p:cNvPr id="2" name="left-atmosphere">
            <a:extLst>
              <a:ext uri="{FF2B5EF4-FFF2-40B4-BE49-F238E27FC236}">
                <a16:creationId xmlns:a16="http://schemas.microsoft.com/office/drawing/2014/main" id="{DA552D7A-F341-30BD-78E4-D1BBA610C1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7162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data-ribbon">
            <a:extLst>
              <a:ext uri="{FF2B5EF4-FFF2-40B4-BE49-F238E27FC236}">
                <a16:creationId xmlns:a16="http://schemas.microsoft.com/office/drawing/2014/main" id="{E791CB31-3BFC-0975-B912-1799C19EA7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pill">
            <a:extLst>
              <a:ext uri="{FF2B5EF4-FFF2-40B4-BE49-F238E27FC236}">
                <a16:creationId xmlns:a16="http://schemas.microsoft.com/office/drawing/2014/main" id="{A6AD5684-51C6-CDF4-80AE-D15856F86FE1}"/>
              </a:ext>
            </a:extLst>
          </p:cNvPr>
          <p:cNvSpPr>
            <a:spLocks noGrp="1"/>
          </p:cNvSpPr>
          <p:nvPr/>
        </p:nvSpPr>
        <p:spPr>
          <a:xfrm>
            <a:off x="406400" y="190500"/>
            <a:ext cx="631824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243E36-289B-C45D-02A7-B0BD588E3511}"/>
              </a:ext>
            </a:extLst>
          </p:cNvPr>
          <p:cNvSpPr>
            <a:spLocks noGrp="1"/>
          </p:cNvSpPr>
          <p:nvPr/>
        </p:nvSpPr>
        <p:spPr>
          <a:xfrm>
            <a:off x="546099" y="294595"/>
            <a:ext cx="358775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EDA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2BECC8-38E6-C929-80DF-EA01EF685A1A}"/>
              </a:ext>
            </a:extLst>
          </p:cNvPr>
          <p:cNvSpPr>
            <a:spLocks noGrp="1"/>
          </p:cNvSpPr>
          <p:nvPr/>
        </p:nvSpPr>
        <p:spPr>
          <a:xfrm>
            <a:off x="409575" y="774700"/>
            <a:ext cx="8324850" cy="4191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4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27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27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EDA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42A70D-4A66-9E20-DA08-7D24F1C45F1B}"/>
              </a:ext>
            </a:extLst>
          </p:cNvPr>
          <p:cNvSpPr>
            <a:spLocks noGrp="1"/>
          </p:cNvSpPr>
          <p:nvPr/>
        </p:nvSpPr>
        <p:spPr>
          <a:xfrm>
            <a:off x="367750" y="1281807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514AE9-C1E1-544E-9993-2D4A6CB9FC2F}"/>
              </a:ext>
            </a:extLst>
          </p:cNvPr>
          <p:cNvSpPr>
            <a:spLocks noGrp="1"/>
          </p:cNvSpPr>
          <p:nvPr/>
        </p:nvSpPr>
        <p:spPr>
          <a:xfrm>
            <a:off x="395287" y="1388864"/>
            <a:ext cx="2820353" cy="532012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9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결측치</a:t>
            </a:r>
            <a:r>
              <a:rPr lang="ko-KR" altLang="en-US" sz="19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시각화</a:t>
            </a:r>
            <a:endParaRPr sz="19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E3ECD7-2DB6-C697-91EB-07B0EF0D60B8}"/>
              </a:ext>
            </a:extLst>
          </p:cNvPr>
          <p:cNvSpPr>
            <a:spLocks noGrp="1"/>
          </p:cNvSpPr>
          <p:nvPr/>
        </p:nvSpPr>
        <p:spPr>
          <a:xfrm>
            <a:off x="523875" y="2853415"/>
            <a:ext cx="38100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endParaRPr sz="825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82335B0-70A8-9788-B530-044063E5E233}"/>
              </a:ext>
            </a:extLst>
          </p:cNvPr>
          <p:cNvSpPr>
            <a:spLocks noGrp="1"/>
          </p:cNvSpPr>
          <p:nvPr/>
        </p:nvSpPr>
        <p:spPr>
          <a:xfrm>
            <a:off x="6229350" y="2804153"/>
            <a:ext cx="2257425" cy="91172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30000"/>
              </a:lnSpc>
              <a:defRPr sz="1650">
                <a:solidFill>
                  <a:srgbClr val="D9E7FF"/>
                </a:solidFill>
                <a:latin typeface="Malgun Gothic"/>
                <a:ea typeface="Malgun Gothic"/>
                <a:cs typeface="Malgun Gothic"/>
              </a:defRPr>
            </a:pPr>
            <a:endParaRPr lang="en-US" sz="825" b="1" dirty="0">
              <a:solidFill>
                <a:srgbClr val="D9E7F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9419DD1-8CEF-3230-6407-E16CC60A8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080" y="400050"/>
            <a:ext cx="5345891" cy="25148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EAD2DA-4443-08AB-6ADD-800B871ED786}"/>
              </a:ext>
            </a:extLst>
          </p:cNvPr>
          <p:cNvSpPr>
            <a:spLocks noGrp="1"/>
          </p:cNvSpPr>
          <p:nvPr/>
        </p:nvSpPr>
        <p:spPr>
          <a:xfrm>
            <a:off x="142874" y="3030629"/>
            <a:ext cx="9515476" cy="200809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lang="ko-KR" altLang="en-US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배우자직업은 주부의 경우이므로 </a:t>
            </a: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MNAR</a:t>
            </a:r>
            <a:r>
              <a:rPr lang="ko-KR" altLang="en-US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로 판단가능하고</a:t>
            </a: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결측 지시변수로 활용가능</a:t>
            </a:r>
            <a:endParaRPr lang="en-US" altLang="ko-KR" sz="13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marL="228600" indent="-228600" defTabSz="457200" latinLnBrk="0">
              <a:buAutoNum type="arabicPeriod"/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2. CUST_INCM (</a:t>
            </a:r>
            <a:r>
              <a:rPr lang="ko-KR" altLang="en-US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개인소득</a:t>
            </a: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lang="ko-KR" altLang="en-US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과 </a:t>
            </a: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JPBASE_HSHD_INCM</a:t>
            </a:r>
            <a:r>
              <a:rPr lang="ko-KR" altLang="en-US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가구소득</a:t>
            </a:r>
            <a:r>
              <a:rPr lang="en-US" altLang="ko-KR" sz="13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둘 다 직업과 보험료 지표를 고려하나</a:t>
            </a:r>
            <a:r>
              <a:rPr lang="en-US" altLang="ko-KR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개인소득은 자영업자나 프리랜서로 소득이 일정치 않고</a:t>
            </a:r>
            <a:r>
              <a:rPr lang="en-US" altLang="ko-KR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신고를 고의로 </a:t>
            </a:r>
            <a:r>
              <a:rPr lang="ko-KR" altLang="en-US" sz="12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안할</a:t>
            </a:r>
            <a:r>
              <a:rPr lang="ko-KR" altLang="en-US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수 있음</a:t>
            </a:r>
            <a:r>
              <a:rPr lang="en-US" altLang="ko-KR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   </a:t>
            </a: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가구소득은 </a:t>
            </a:r>
            <a:r>
              <a:rPr lang="ko-KR" altLang="en-US" sz="120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가구원</a:t>
            </a:r>
            <a:r>
              <a:rPr lang="ko-KR" altLang="en-US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전체를 따진다는 측면이 있음</a:t>
            </a:r>
            <a:endParaRPr lang="en-US" altLang="ko-KR" sz="12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   </a:t>
            </a: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/>
              <a:t>    </a:t>
            </a:r>
            <a:r>
              <a:rPr lang="ko-KR" altLang="en-US" sz="1200" b="1" dirty="0"/>
              <a:t>→</a:t>
            </a:r>
            <a:r>
              <a:rPr lang="en-US" altLang="ko-KR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200" b="1" dirty="0"/>
              <a:t>MNAR(Missing Not At Random)</a:t>
            </a: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   </a:t>
            </a:r>
            <a:r>
              <a:rPr lang="ko-KR" altLang="en-US" sz="1200" b="1" dirty="0"/>
              <a:t>→ 마찬가지로 결측 지시변수로 사용하거나 도메인지식 활용</a:t>
            </a:r>
            <a:endParaRPr lang="en-US" altLang="ko-KR" sz="1400" b="1" dirty="0">
              <a:solidFill>
                <a:srgbClr val="EAF1F6"/>
              </a:solidFill>
              <a:latin typeface="Malgun Gothic"/>
              <a:ea typeface="Malgun Gothic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4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0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3083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">
            <a:extLst>
              <a:ext uri="{FF2B5EF4-FFF2-40B4-BE49-F238E27FC236}">
                <a16:creationId xmlns:a16="http://schemas.microsoft.com/office/drawing/2014/main" id="{106F9B32-7A2B-446A-A794-36FABEF82FAF}"/>
              </a:ext>
            </a:extLst>
          </p:cNvPr>
          <p:cNvSpPr>
            <a:spLocks noGrp="1"/>
          </p:cNvSpPr>
          <p:nvPr/>
        </p:nvSpPr>
        <p:spPr>
          <a:xfrm>
            <a:off x="-100485" y="0"/>
            <a:ext cx="9339943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716C386B-F4EF-4AB8-BE37-884A1D86A7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025189E6-B072-470B-B838-B85853024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pill">
            <a:extLst>
              <a:ext uri="{FF2B5EF4-FFF2-40B4-BE49-F238E27FC236}">
                <a16:creationId xmlns:a16="http://schemas.microsoft.com/office/drawing/2014/main" id="{2BB3BFEC-8A57-4844-A6B0-6B0E1B16BAF1}"/>
              </a:ext>
            </a:extLst>
          </p:cNvPr>
          <p:cNvSpPr>
            <a:spLocks noGrp="1"/>
          </p:cNvSpPr>
          <p:nvPr/>
        </p:nvSpPr>
        <p:spPr>
          <a:xfrm>
            <a:off x="406399" y="190500"/>
            <a:ext cx="601889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913A32-F819-465B-A8A2-09C01F3FE137}"/>
              </a:ext>
            </a:extLst>
          </p:cNvPr>
          <p:cNvSpPr>
            <a:spLocks noGrp="1"/>
          </p:cNvSpPr>
          <p:nvPr/>
        </p:nvSpPr>
        <p:spPr>
          <a:xfrm>
            <a:off x="508226" y="301346"/>
            <a:ext cx="429532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EDA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D51C95-6CFD-402B-BC22-F5A8FAF663AE}"/>
              </a:ext>
            </a:extLst>
          </p:cNvPr>
          <p:cNvSpPr>
            <a:spLocks noGrp="1"/>
          </p:cNvSpPr>
          <p:nvPr/>
        </p:nvSpPr>
        <p:spPr>
          <a:xfrm>
            <a:off x="406400" y="774700"/>
            <a:ext cx="8267700" cy="4191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4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청구 이력 EDA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C2C3576-88AD-0BB9-4A52-4F7FB265E6A9}"/>
              </a:ext>
            </a:extLst>
          </p:cNvPr>
          <p:cNvSpPr>
            <a:spLocks noGrp="1"/>
          </p:cNvSpPr>
          <p:nvPr/>
        </p:nvSpPr>
        <p:spPr>
          <a:xfrm>
            <a:off x="367750" y="1281807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89EE2AF-1C2D-21D4-657D-F1140FE4D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" y="1596231"/>
            <a:ext cx="2994467" cy="2330622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F82A435-860D-CF18-2408-7B9E7046C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622" y="1596231"/>
            <a:ext cx="2859660" cy="23306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0A56BB8-8CF4-1707-D93D-E581D1468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048" y="1596231"/>
            <a:ext cx="2846959" cy="2330622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09534009-0BF4-87FC-07BB-0A4FEFBA1EF7}"/>
              </a:ext>
            </a:extLst>
          </p:cNvPr>
          <p:cNvSpPr>
            <a:spLocks noGrp="1"/>
          </p:cNvSpPr>
          <p:nvPr/>
        </p:nvSpPr>
        <p:spPr>
          <a:xfrm>
            <a:off x="159812" y="4345749"/>
            <a:ext cx="6324116" cy="561170"/>
          </a:xfrm>
          <a:prstGeom prst="rect">
            <a:avLst/>
          </a:prstGeom>
        </p:spPr>
        <p:txBody>
          <a:bodyPr lIns="0" tIns="0" rIns="0" bIns="0"/>
          <a:lstStyle/>
          <a:p>
            <a:pPr marL="285750" indent="-285750" defTabSz="457200" latinLnBrk="0">
              <a:buFont typeface="Arial" panose="020B0604020202020204" pitchFamily="34" charset="0"/>
              <a:buChar char="•"/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청구건수는 </a:t>
            </a:r>
            <a:r>
              <a:rPr lang="ko-KR" altLang="en-US" sz="1275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극단값이지만</a:t>
            </a:r>
            <a:r>
              <a:rPr lang="en-US" altLang="ko-KR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, Outlier</a:t>
            </a:r>
            <a:r>
              <a:rPr lang="ko-KR" altLang="en-US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로는 판단하지 않음</a:t>
            </a:r>
            <a:endParaRPr lang="en-US" altLang="ko-KR" sz="127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defTabSz="457200" latinLnBrk="0">
              <a:buFont typeface="Arial" panose="020B0604020202020204" pitchFamily="34" charset="0"/>
              <a:buChar char="•"/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defTabSz="457200" latinLnBrk="0">
              <a:buFont typeface="Arial" panose="020B0604020202020204" pitchFamily="34" charset="0"/>
              <a:buChar char="•"/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청구 건수 구간별 </a:t>
            </a:r>
            <a:r>
              <a:rPr lang="en-US" altLang="ko-KR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SIU </a:t>
            </a:r>
            <a:r>
              <a:rPr lang="ko-KR" altLang="en-US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비율을 살펴보면</a:t>
            </a:r>
            <a:r>
              <a:rPr lang="en-US" altLang="ko-KR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7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청구 건수와 사기꾼은 매우 밀접한 연관성</a:t>
            </a:r>
            <a:endParaRPr lang="en-US" altLang="ko-KR" sz="127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defTabSz="457200" latinLnBrk="0">
              <a:buFont typeface="Arial" panose="020B0604020202020204" pitchFamily="34" charset="0"/>
              <a:buChar char="•"/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27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  <a:p>
            <a:pPr marL="285750" indent="-285750" defTabSz="457200" latinLnBrk="0">
              <a:buFont typeface="Arial" panose="020B0604020202020204" pitchFamily="34" charset="0"/>
              <a:buChar char="•"/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sz="127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30D6329-A9D9-E4A4-102B-D2D3DE692BA9}"/>
              </a:ext>
            </a:extLst>
          </p:cNvPr>
          <p:cNvSpPr>
            <a:spLocks noGrp="1"/>
          </p:cNvSpPr>
          <p:nvPr/>
        </p:nvSpPr>
        <p:spPr>
          <a:xfrm>
            <a:off x="6142048" y="4055284"/>
            <a:ext cx="2689532" cy="26056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정상구간 </a:t>
            </a:r>
            <a:r>
              <a:rPr lang="en-US" altLang="ko-KR"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: Q1 - 1.5 * IQR  ~  Q3 + 1.5 * IQR</a:t>
            </a:r>
            <a:endParaRPr sz="100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2871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g">
            <a:extLst>
              <a:ext uri="{FF2B5EF4-FFF2-40B4-BE49-F238E27FC236}">
                <a16:creationId xmlns:a16="http://schemas.microsoft.com/office/drawing/2014/main" id="{FD407525-6989-48CA-A706-94350D07CEFF}"/>
              </a:ext>
            </a:extLst>
          </p:cNvPr>
          <p:cNvSpPr>
            <a:spLocks noGrp="1"/>
          </p:cNvSpPr>
          <p:nvPr/>
        </p:nvSpPr>
        <p:spPr>
          <a:xfrm>
            <a:off x="-35169" y="-118623"/>
            <a:ext cx="9269604" cy="5239692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0415B1AE-E79B-4E5B-B5F8-F873F124185D}"/>
              </a:ext>
            </a:extLst>
          </p:cNvPr>
          <p:cNvSpPr>
            <a:spLocks noGrp="1"/>
          </p:cNvSpPr>
          <p:nvPr/>
        </p:nvSpPr>
        <p:spPr>
          <a:xfrm>
            <a:off x="0" y="-9525"/>
            <a:ext cx="166687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43586C24-25E8-4DD7-8455-035753A81AF8}"/>
              </a:ext>
            </a:extLst>
          </p:cNvPr>
          <p:cNvSpPr>
            <a:spLocks noGrp="1"/>
          </p:cNvSpPr>
          <p:nvPr/>
        </p:nvSpPr>
        <p:spPr>
          <a:xfrm>
            <a:off x="0" y="-9525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AAC37EC-227B-4CF2-9BDE-217C7B5AF325}"/>
              </a:ext>
            </a:extLst>
          </p:cNvPr>
          <p:cNvSpPr>
            <a:spLocks noGrp="1"/>
          </p:cNvSpPr>
          <p:nvPr/>
        </p:nvSpPr>
        <p:spPr>
          <a:xfrm>
            <a:off x="406400" y="180975"/>
            <a:ext cx="634546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4DBF58-4679-4A3F-8654-515967566469}"/>
              </a:ext>
            </a:extLst>
          </p:cNvPr>
          <p:cNvSpPr>
            <a:spLocks noGrp="1"/>
          </p:cNvSpPr>
          <p:nvPr/>
        </p:nvSpPr>
        <p:spPr>
          <a:xfrm>
            <a:off x="533400" y="295117"/>
            <a:ext cx="413204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EDA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E49B4E-2AE2-4CDC-B6CB-E1ADDCA748F7}"/>
              </a:ext>
            </a:extLst>
          </p:cNvPr>
          <p:cNvSpPr>
            <a:spLocks noGrp="1"/>
          </p:cNvSpPr>
          <p:nvPr/>
        </p:nvSpPr>
        <p:spPr>
          <a:xfrm>
            <a:off x="390525" y="669767"/>
            <a:ext cx="8343900" cy="3714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8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결측치</a:t>
            </a:r>
            <a:r>
              <a:rPr sz="24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분석과</a:t>
            </a:r>
            <a:r>
              <a:rPr sz="24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24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품질</a:t>
            </a:r>
            <a:r>
              <a:rPr sz="24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이슈</a:t>
            </a:r>
            <a:endParaRPr sz="2400" b="1" dirty="0">
              <a:solidFill>
                <a:srgbClr val="F5F8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F75115-2A38-48D7-BD8A-CEA92563B618}"/>
              </a:ext>
            </a:extLst>
          </p:cNvPr>
          <p:cNvSpPr>
            <a:spLocks noGrp="1"/>
          </p:cNvSpPr>
          <p:nvPr/>
        </p:nvSpPr>
        <p:spPr>
          <a:xfrm>
            <a:off x="400050" y="1184275"/>
            <a:ext cx="6462713" cy="419100"/>
          </a:xfrm>
          <a:prstGeom prst="rect">
            <a:avLst/>
          </a:prstGeom>
        </p:spPr>
        <p:txBody>
          <a:bodyPr lIns="0" tIns="0" rIns="0" bIns="0"/>
          <a:lstStyle/>
          <a:p>
            <a:pPr marL="171450" indent="-171450" defTabSz="457200" latinLnBrk="0">
              <a:lnSpc>
                <a:spcPct val="125000"/>
              </a:lnSpc>
              <a:buFont typeface="Arial" panose="020B0604020202020204" pitchFamily="34" charset="0"/>
              <a:buChar char="•"/>
              <a:defRPr sz="217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88" b="1" dirty="0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lang="en-US" altLang="ko-KR" sz="1088" b="1" dirty="0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결측은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단순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제거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문제가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정보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보존과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누수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방지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사이의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균형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문제</a:t>
            </a:r>
            <a:endParaRPr lang="en-US" sz="1088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25000"/>
              </a:lnSpc>
              <a:defRPr sz="217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endParaRPr lang="en-US" sz="1088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marL="171450" indent="-171450" defTabSz="457200" latinLnBrk="0">
              <a:lnSpc>
                <a:spcPct val="125000"/>
              </a:lnSpc>
              <a:buFont typeface="Arial" panose="020B0604020202020204" pitchFamily="34" charset="0"/>
              <a:buChar char="•"/>
              <a:defRPr sz="217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088" b="1" dirty="0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방안</a:t>
            </a:r>
            <a:r>
              <a:rPr lang="en-US" altLang="ko-KR" sz="1088" b="1" dirty="0">
                <a:solidFill>
                  <a:srgbClr val="FFC000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컬럼별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결측률과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의미를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기준으로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88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방식을</a:t>
            </a:r>
            <a:r>
              <a:rPr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88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나눔</a:t>
            </a:r>
            <a:endParaRPr sz="1088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857E0F-CD29-4CCF-8C9F-E07F4951D88D}"/>
              </a:ext>
            </a:extLst>
          </p:cNvPr>
          <p:cNvSpPr>
            <a:spLocks noGrp="1"/>
          </p:cNvSpPr>
          <p:nvPr/>
        </p:nvSpPr>
        <p:spPr>
          <a:xfrm>
            <a:off x="390525" y="1885555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6CC80D-A993-425E-B49E-E15555FB30AB}"/>
              </a:ext>
            </a:extLst>
          </p:cNvPr>
          <p:cNvSpPr>
            <a:spLocks noGrp="1"/>
          </p:cNvSpPr>
          <p:nvPr/>
        </p:nvSpPr>
        <p:spPr>
          <a:xfrm>
            <a:off x="400050" y="1986575"/>
            <a:ext cx="4191000" cy="2190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8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142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결측</a:t>
            </a:r>
            <a:r>
              <a:rPr sz="1425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현황</a:t>
            </a:r>
            <a:endParaRPr sz="1425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F00AF5-9700-4341-BD2D-1A79AD754D88}"/>
              </a:ext>
            </a:extLst>
          </p:cNvPr>
          <p:cNvSpPr>
            <a:spLocks noGrp="1"/>
          </p:cNvSpPr>
          <p:nvPr/>
        </p:nvSpPr>
        <p:spPr>
          <a:xfrm>
            <a:off x="400050" y="2422208"/>
            <a:ext cx="4191000" cy="1733550"/>
          </a:xfrm>
          <a:prstGeom prst="roundRect">
            <a:avLst>
              <a:gd name="adj" fmla="val 5495"/>
            </a:avLst>
          </a:prstGeom>
          <a:noFill/>
          <a:ln w="9525">
            <a:solidFill>
              <a:srgbClr val="3C5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754A38-34CC-45BB-A0A5-B356D8E9B974}"/>
              </a:ext>
            </a:extLst>
          </p:cNvPr>
          <p:cNvSpPr>
            <a:spLocks noGrp="1"/>
          </p:cNvSpPr>
          <p:nvPr/>
        </p:nvSpPr>
        <p:spPr>
          <a:xfrm>
            <a:off x="533400" y="2552700"/>
            <a:ext cx="1095375" cy="114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5E1E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DCAF_CMPS_XCPA (</a:t>
            </a:r>
            <a:r>
              <a:rPr sz="75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청구</a:t>
            </a:r>
            <a:r>
              <a:rPr sz="75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D9AB886-724A-40E9-9DC8-A1BBBFB42D85}"/>
              </a:ext>
            </a:extLst>
          </p:cNvPr>
          <p:cNvSpPr>
            <a:spLocks noGrp="1"/>
          </p:cNvSpPr>
          <p:nvPr/>
        </p:nvSpPr>
        <p:spPr>
          <a:xfrm>
            <a:off x="1714500" y="2543175"/>
            <a:ext cx="2476500" cy="209550"/>
          </a:xfrm>
          <a:prstGeom prst="roundRect">
            <a:avLst>
              <a:gd name="adj" fmla="val 22727"/>
            </a:avLst>
          </a:prstGeom>
          <a:solidFill>
            <a:srgbClr val="1664F3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B4486A-1219-491E-A256-430494720125}"/>
              </a:ext>
            </a:extLst>
          </p:cNvPr>
          <p:cNvSpPr>
            <a:spLocks noGrp="1"/>
          </p:cNvSpPr>
          <p:nvPr/>
        </p:nvSpPr>
        <p:spPr>
          <a:xfrm>
            <a:off x="4257675" y="2552700"/>
            <a:ext cx="381000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rPr>
              <a:t>93.2%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CE50E9-C3F5-466F-9334-43D27CBF98D2}"/>
              </a:ext>
            </a:extLst>
          </p:cNvPr>
          <p:cNvSpPr>
            <a:spLocks noGrp="1"/>
          </p:cNvSpPr>
          <p:nvPr/>
        </p:nvSpPr>
        <p:spPr>
          <a:xfrm>
            <a:off x="533400" y="2857500"/>
            <a:ext cx="1095375" cy="2286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5E1E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NON_PAY / SELF_CHAM (</a:t>
            </a:r>
            <a:r>
              <a:rPr sz="75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청구</a:t>
            </a:r>
            <a:r>
              <a:rPr sz="75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90F5FC9-8465-4969-9981-B04C4C61C5CE}"/>
              </a:ext>
            </a:extLst>
          </p:cNvPr>
          <p:cNvSpPr>
            <a:spLocks noGrp="1"/>
          </p:cNvSpPr>
          <p:nvPr/>
        </p:nvSpPr>
        <p:spPr>
          <a:xfrm>
            <a:off x="1714500" y="2847975"/>
            <a:ext cx="2238375" cy="209550"/>
          </a:xfrm>
          <a:prstGeom prst="roundRect">
            <a:avLst>
              <a:gd name="adj" fmla="val 22727"/>
            </a:avLst>
          </a:prstGeom>
          <a:solidFill>
            <a:srgbClr val="2F7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0F5929-EE86-4508-A5EA-CF8DB7A42C37}"/>
              </a:ext>
            </a:extLst>
          </p:cNvPr>
          <p:cNvSpPr>
            <a:spLocks noGrp="1"/>
          </p:cNvSpPr>
          <p:nvPr/>
        </p:nvSpPr>
        <p:spPr>
          <a:xfrm>
            <a:off x="4019550" y="2857500"/>
            <a:ext cx="381000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rPr>
              <a:t>84.1%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5821E4-291C-4428-B43B-B0D1F2E92191}"/>
              </a:ext>
            </a:extLst>
          </p:cNvPr>
          <p:cNvSpPr>
            <a:spLocks noGrp="1"/>
          </p:cNvSpPr>
          <p:nvPr/>
        </p:nvSpPr>
        <p:spPr>
          <a:xfrm>
            <a:off x="533400" y="3181350"/>
            <a:ext cx="1095375" cy="114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5E1E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MATE_OCCP_GRP (</a:t>
            </a:r>
            <a:r>
              <a:rPr sz="750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750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B4A7EB9-A5A5-4E91-BADF-686D18B35AD6}"/>
              </a:ext>
            </a:extLst>
          </p:cNvPr>
          <p:cNvSpPr>
            <a:spLocks noGrp="1"/>
          </p:cNvSpPr>
          <p:nvPr/>
        </p:nvSpPr>
        <p:spPr>
          <a:xfrm>
            <a:off x="1714500" y="3190875"/>
            <a:ext cx="1404938" cy="209550"/>
          </a:xfrm>
          <a:prstGeom prst="roundRect">
            <a:avLst>
              <a:gd name="adj" fmla="val 22727"/>
            </a:avLst>
          </a:prstGeom>
          <a:solidFill>
            <a:srgbClr val="5A9B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FB3A76-83FA-43E7-A4E3-E7D84208CFAA}"/>
              </a:ext>
            </a:extLst>
          </p:cNvPr>
          <p:cNvSpPr>
            <a:spLocks noGrp="1"/>
          </p:cNvSpPr>
          <p:nvPr/>
        </p:nvSpPr>
        <p:spPr>
          <a:xfrm>
            <a:off x="3190875" y="3181350"/>
            <a:ext cx="381000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rPr>
              <a:t>52.8%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A3C7D0C-DE96-46C3-BE33-0BF3D1F81D11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1095375" cy="2286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5E1E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D5E1EB"/>
                </a:solidFill>
                <a:latin typeface="Malgun Gothic"/>
                <a:ea typeface="Malgun Gothic"/>
                <a:cs typeface="Malgun Gothic"/>
              </a:rPr>
              <a:t>MAXCRDT / MINCRDT (고객)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D0A095B-2AC6-4750-908A-CB12FE6FDA38}"/>
              </a:ext>
            </a:extLst>
          </p:cNvPr>
          <p:cNvSpPr>
            <a:spLocks noGrp="1"/>
          </p:cNvSpPr>
          <p:nvPr/>
        </p:nvSpPr>
        <p:spPr>
          <a:xfrm>
            <a:off x="1714500" y="3495675"/>
            <a:ext cx="1123950" cy="209550"/>
          </a:xfrm>
          <a:prstGeom prst="roundRect">
            <a:avLst>
              <a:gd name="adj" fmla="val 22727"/>
            </a:avLst>
          </a:prstGeom>
          <a:solidFill>
            <a:srgbClr val="79AE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8650DB-E2AA-4123-8670-3E6A8EE9A864}"/>
              </a:ext>
            </a:extLst>
          </p:cNvPr>
          <p:cNvSpPr>
            <a:spLocks noGrp="1"/>
          </p:cNvSpPr>
          <p:nvPr/>
        </p:nvSpPr>
        <p:spPr>
          <a:xfrm>
            <a:off x="2905125" y="3486150"/>
            <a:ext cx="381000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rPr>
              <a:t>42.3%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4F81679-D0ED-4EFD-A71B-B0C86C171447}"/>
              </a:ext>
            </a:extLst>
          </p:cNvPr>
          <p:cNvSpPr>
            <a:spLocks noGrp="1"/>
          </p:cNvSpPr>
          <p:nvPr/>
        </p:nvSpPr>
        <p:spPr>
          <a:xfrm>
            <a:off x="533400" y="3810000"/>
            <a:ext cx="1095375" cy="114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D5E1E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D5E1EB"/>
                </a:solidFill>
                <a:latin typeface="Malgun Gothic"/>
                <a:ea typeface="Malgun Gothic"/>
                <a:cs typeface="Malgun Gothic"/>
              </a:rPr>
              <a:t>CUST_INCM (고객)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B3095D8-8276-4DA2-9FE2-CEDB0E350C76}"/>
              </a:ext>
            </a:extLst>
          </p:cNvPr>
          <p:cNvSpPr>
            <a:spLocks noGrp="1"/>
          </p:cNvSpPr>
          <p:nvPr/>
        </p:nvSpPr>
        <p:spPr>
          <a:xfrm>
            <a:off x="1714500" y="3800475"/>
            <a:ext cx="628650" cy="209550"/>
          </a:xfrm>
          <a:prstGeom prst="roundRect">
            <a:avLst>
              <a:gd name="adj" fmla="val 22727"/>
            </a:avLst>
          </a:prstGeom>
          <a:solidFill>
            <a:srgbClr val="A8CA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6CA7B3-1121-423D-9406-3155CB7EBF05}"/>
              </a:ext>
            </a:extLst>
          </p:cNvPr>
          <p:cNvSpPr>
            <a:spLocks noGrp="1"/>
          </p:cNvSpPr>
          <p:nvPr/>
        </p:nvSpPr>
        <p:spPr>
          <a:xfrm>
            <a:off x="2409825" y="3810000"/>
            <a:ext cx="381000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DCEAFF"/>
                </a:solidFill>
                <a:latin typeface="Malgun Gothic"/>
                <a:ea typeface="Malgun Gothic"/>
                <a:cs typeface="Malgun Gothic"/>
              </a:rPr>
              <a:t>23.5%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A094BB5-1348-4B9C-AB8E-3A335904D08E}"/>
              </a:ext>
            </a:extLst>
          </p:cNvPr>
          <p:cNvSpPr>
            <a:spLocks noGrp="1"/>
          </p:cNvSpPr>
          <p:nvPr/>
        </p:nvSpPr>
        <p:spPr>
          <a:xfrm>
            <a:off x="400049" y="4257675"/>
            <a:ext cx="5055177" cy="972492"/>
          </a:xfrm>
          <a:prstGeom prst="rect">
            <a:avLst/>
          </a:prstGeom>
        </p:spPr>
        <p:txBody>
          <a:bodyPr lIns="0" tIns="0" rIns="0" bIns="0"/>
          <a:lstStyle/>
          <a:p>
            <a:pPr marL="171450" indent="-171450" defTabSz="457200" latinLnBrk="0">
              <a:lnSpc>
                <a:spcPct val="128000"/>
              </a:lnSpc>
              <a:buFontTx/>
              <a:buChar char="-"/>
              <a:defRPr sz="1725">
                <a:solidFill>
                  <a:srgbClr val="CAD8E4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청구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데이터에서는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일부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의료비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세부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컬럼의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결측률이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매우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높</a:t>
            </a:r>
            <a:r>
              <a:rPr lang="ko-KR" altLang="en-US"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음</a:t>
            </a:r>
            <a:endParaRPr lang="en-US" altLang="ko-KR" sz="100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28000"/>
              </a:lnSpc>
              <a:defRPr sz="1725">
                <a:solidFill>
                  <a:srgbClr val="CAD8E4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00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28000"/>
              </a:lnSpc>
              <a:defRPr sz="1725">
                <a:solidFill>
                  <a:srgbClr val="CAD8E4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데이터에서는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배우자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직업·신용·소득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관련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컬럼에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결측이</a:t>
            </a:r>
            <a:r>
              <a:rPr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집중</a:t>
            </a:r>
            <a:r>
              <a:rPr lang="ko-KR" altLang="en-US"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됨</a:t>
            </a:r>
            <a:r>
              <a:rPr lang="en-US" altLang="ko-KR" sz="1000" b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00" b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02253D7-290D-4222-809C-38B9F57A94CB}"/>
              </a:ext>
            </a:extLst>
          </p:cNvPr>
          <p:cNvSpPr>
            <a:spLocks noGrp="1"/>
          </p:cNvSpPr>
          <p:nvPr/>
        </p:nvSpPr>
        <p:spPr>
          <a:xfrm>
            <a:off x="4895798" y="1965613"/>
            <a:ext cx="3867150" cy="20781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결측</a:t>
            </a:r>
            <a:r>
              <a:rPr sz="1500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1500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 3가지 </a:t>
            </a:r>
            <a:r>
              <a:rPr sz="1500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전략</a:t>
            </a:r>
            <a:endParaRPr sz="1500" b="1" dirty="0">
              <a:solidFill>
                <a:srgbClr val="F3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F988201-36B1-46C2-9136-4609B9FC3F3B}"/>
              </a:ext>
            </a:extLst>
          </p:cNvPr>
          <p:cNvSpPr>
            <a:spLocks noGrp="1"/>
          </p:cNvSpPr>
          <p:nvPr/>
        </p:nvSpPr>
        <p:spPr>
          <a:xfrm>
            <a:off x="4876800" y="2419783"/>
            <a:ext cx="1881188" cy="779318"/>
          </a:xfrm>
          <a:prstGeom prst="roundRect">
            <a:avLst>
              <a:gd name="adj" fmla="val 12222"/>
            </a:avLst>
          </a:prstGeom>
          <a:solidFill>
            <a:srgbClr val="113E9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D49B36B-4F43-4522-8F4C-8E70A8CBB2DE}"/>
              </a:ext>
            </a:extLst>
          </p:cNvPr>
          <p:cNvSpPr>
            <a:spLocks noGrp="1"/>
          </p:cNvSpPr>
          <p:nvPr/>
        </p:nvSpPr>
        <p:spPr>
          <a:xfrm>
            <a:off x="5019675" y="2528021"/>
            <a:ext cx="1600200" cy="181841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1327004-792E-4E89-9FF4-5584D5AF7D29}"/>
              </a:ext>
            </a:extLst>
          </p:cNvPr>
          <p:cNvSpPr>
            <a:spLocks noGrp="1"/>
          </p:cNvSpPr>
          <p:nvPr/>
        </p:nvSpPr>
        <p:spPr>
          <a:xfrm>
            <a:off x="5019675" y="2810307"/>
            <a:ext cx="1323975" cy="30306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725">
                <a:solidFill>
                  <a:srgbClr val="E0EB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결측률이 극도로 높고 활용 가능성이 낮은 컬럼은 제외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7DEC248-ED20-4539-B97C-C64D8890F0BD}"/>
              </a:ext>
            </a:extLst>
          </p:cNvPr>
          <p:cNvSpPr>
            <a:spLocks noGrp="1"/>
          </p:cNvSpPr>
          <p:nvPr/>
        </p:nvSpPr>
        <p:spPr>
          <a:xfrm>
            <a:off x="6862763" y="2422207"/>
            <a:ext cx="1881188" cy="775167"/>
          </a:xfrm>
          <a:prstGeom prst="roundRect">
            <a:avLst>
              <a:gd name="adj" fmla="val 12222"/>
            </a:avLst>
          </a:prstGeom>
          <a:solidFill>
            <a:srgbClr val="0F3984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574CCC3-D9D8-46FC-8F64-E57CAB73FC2A}"/>
              </a:ext>
            </a:extLst>
          </p:cNvPr>
          <p:cNvSpPr>
            <a:spLocks noGrp="1"/>
          </p:cNvSpPr>
          <p:nvPr/>
        </p:nvSpPr>
        <p:spPr>
          <a:xfrm>
            <a:off x="7010400" y="2528021"/>
            <a:ext cx="1600200" cy="181841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20BF6A7-406F-4058-A509-5A319C9B459F}"/>
              </a:ext>
            </a:extLst>
          </p:cNvPr>
          <p:cNvSpPr>
            <a:spLocks noGrp="1"/>
          </p:cNvSpPr>
          <p:nvPr/>
        </p:nvSpPr>
        <p:spPr>
          <a:xfrm>
            <a:off x="7010400" y="2810307"/>
            <a:ext cx="1600200" cy="30306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725">
                <a:solidFill>
                  <a:srgbClr val="E0EB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소득·신용</a:t>
            </a:r>
            <a:r>
              <a:rPr sz="863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863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주요</a:t>
            </a:r>
            <a:r>
              <a:rPr sz="863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변수는</a:t>
            </a:r>
            <a:r>
              <a:rPr sz="863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안전한</a:t>
            </a:r>
            <a:r>
              <a:rPr sz="863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통계값으로</a:t>
            </a:r>
            <a:r>
              <a:rPr sz="863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보정</a:t>
            </a:r>
            <a:endParaRPr sz="863" dirty="0">
              <a:solidFill>
                <a:srgbClr val="E0EB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64BB38E-A2BD-46D3-9034-836035081D3B}"/>
              </a:ext>
            </a:extLst>
          </p:cNvPr>
          <p:cNvSpPr>
            <a:spLocks noGrp="1"/>
          </p:cNvSpPr>
          <p:nvPr/>
        </p:nvSpPr>
        <p:spPr>
          <a:xfrm>
            <a:off x="4876800" y="3299984"/>
            <a:ext cx="3867150" cy="822614"/>
          </a:xfrm>
          <a:prstGeom prst="roundRect">
            <a:avLst>
              <a:gd name="adj" fmla="val 12632"/>
            </a:avLst>
          </a:prstGeom>
          <a:solidFill>
            <a:srgbClr val="0B356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22C130D-1A14-410A-98CE-5AB012E16DC6}"/>
              </a:ext>
            </a:extLst>
          </p:cNvPr>
          <p:cNvSpPr>
            <a:spLocks noGrp="1"/>
          </p:cNvSpPr>
          <p:nvPr/>
        </p:nvSpPr>
        <p:spPr>
          <a:xfrm>
            <a:off x="5038725" y="3416016"/>
            <a:ext cx="3543300" cy="1905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Indicator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D4323E7-FC25-44AD-B14F-EA8C052EB74D}"/>
              </a:ext>
            </a:extLst>
          </p:cNvPr>
          <p:cNvSpPr>
            <a:spLocks noGrp="1"/>
          </p:cNvSpPr>
          <p:nvPr/>
        </p:nvSpPr>
        <p:spPr>
          <a:xfrm>
            <a:off x="5038725" y="3709126"/>
            <a:ext cx="3362325" cy="33770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950">
                <a:solidFill>
                  <a:srgbClr val="E0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결측 자체가 의미를 가질 수 있는 변수는 별도 결측 플래그로 보존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7932485-6693-49F5-853B-9BF2EF69A0C1}"/>
              </a:ext>
            </a:extLst>
          </p:cNvPr>
          <p:cNvSpPr>
            <a:spLocks noGrp="1"/>
          </p:cNvSpPr>
          <p:nvPr/>
        </p:nvSpPr>
        <p:spPr>
          <a:xfrm>
            <a:off x="4786365" y="4242966"/>
            <a:ext cx="4357635" cy="734291"/>
          </a:xfrm>
          <a:prstGeom prst="rect">
            <a:avLst/>
          </a:prstGeom>
        </p:spPr>
        <p:txBody>
          <a:bodyPr lIns="0" tIns="0" rIns="0" bIns="0"/>
          <a:lstStyle/>
          <a:p>
            <a:pPr marL="171450" indent="-171450" defTabSz="457200" latinLnBrk="0">
              <a:lnSpc>
                <a:spcPct val="130000"/>
              </a:lnSpc>
              <a:buFontTx/>
              <a:buChar char="-"/>
              <a:defRPr sz="172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핵심은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모든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결측을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방식으로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처리하지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않는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것</a:t>
            </a:r>
            <a:br>
              <a:rPr lang="en-US"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</a:br>
            <a:endParaRPr lang="en-US" sz="1000" b="1" dirty="0">
              <a:solidFill>
                <a:srgbClr val="F2F6FA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30000"/>
              </a:lnSpc>
              <a:defRPr sz="172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제거로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노이즈를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줄이고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대체로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가능성을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유지하며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indicator로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결측</a:t>
            </a:r>
            <a:r>
              <a:rPr lang="ko-KR" altLang="en-US"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치</a:t>
            </a:r>
            <a:r>
              <a:rPr sz="1000" b="1" dirty="0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를 </a:t>
            </a:r>
            <a:r>
              <a:rPr lang="ko-KR" altLang="en-US" sz="1000" b="1" dirty="0" err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활용하고자함</a:t>
            </a:r>
            <a:endParaRPr sz="1000" b="1" dirty="0">
              <a:solidFill>
                <a:srgbClr val="F2F6FA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873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3F6922-BAF1-C465-9DA5-E3E71E854549}"/>
              </a:ext>
            </a:extLst>
          </p:cNvPr>
          <p:cNvSpPr/>
          <p:nvPr/>
        </p:nvSpPr>
        <p:spPr>
          <a:xfrm>
            <a:off x="0" y="0"/>
            <a:ext cx="9209314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EA2CA3-E0F5-8E2E-8158-D68FD27A1A9D}"/>
              </a:ext>
            </a:extLst>
          </p:cNvPr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1AC1F-2B5C-5457-3608-8834DA17ADA7}"/>
              </a:ext>
            </a:extLst>
          </p:cNvPr>
          <p:cNvSpPr txBox="1"/>
          <p:nvPr/>
        </p:nvSpPr>
        <p:spPr>
          <a:xfrm>
            <a:off x="438150" y="881063"/>
            <a:ext cx="26670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32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단일 모델이 아닌</a:t>
            </a:r>
          </a:p>
          <a:p>
            <a:r>
              <a:rPr lang="ko-KR" altLang="en-US" sz="232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실험 플랫폼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A4413-BE0C-6695-F557-5D2CF8404741}"/>
              </a:ext>
            </a:extLst>
          </p:cNvPr>
          <p:cNvSpPr txBox="1"/>
          <p:nvPr/>
        </p:nvSpPr>
        <p:spPr>
          <a:xfrm>
            <a:off x="457201" y="1940978"/>
            <a:ext cx="2595563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목표는 하나의 모델을 높이는 것이 </a:t>
            </a:r>
            <a:r>
              <a:rPr lang="ko-KR" altLang="en-US" sz="1050" dirty="0" err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아니라서로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다른 </a:t>
            </a:r>
            <a:r>
              <a:rPr lang="ko-KR" altLang="en-US" sz="1050" dirty="0" err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전략을 같은 기준에서</a:t>
            </a:r>
            <a:endParaRPr lang="en-US" altLang="ko-KR" sz="1050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비교할 수 있는 구조를 만드는 것이었습니다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C76FE8A-58C2-1502-27CD-B87D447D76CC}"/>
              </a:ext>
            </a:extLst>
          </p:cNvPr>
          <p:cNvSpPr/>
          <p:nvPr/>
        </p:nvSpPr>
        <p:spPr>
          <a:xfrm>
            <a:off x="457201" y="3596783"/>
            <a:ext cx="2690813" cy="1072463"/>
          </a:xfrm>
          <a:prstGeom prst="roundRect">
            <a:avLst>
              <a:gd name="adj" fmla="val 10000"/>
            </a:avLst>
          </a:prstGeom>
          <a:solidFill>
            <a:srgbClr val="113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7C7CBC-D2E9-BDF0-F388-B19EA8F56FCA}"/>
              </a:ext>
            </a:extLst>
          </p:cNvPr>
          <p:cNvSpPr txBox="1"/>
          <p:nvPr/>
        </p:nvSpPr>
        <p:spPr>
          <a:xfrm>
            <a:off x="600076" y="3730133"/>
            <a:ext cx="242887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A/B/C </a:t>
            </a:r>
            <a:r>
              <a:rPr lang="ko-KR" altLang="en-US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각자의 </a:t>
            </a:r>
            <a:r>
              <a:rPr lang="en-US" altLang="ko-KR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engineering </a:t>
            </a:r>
            <a:r>
              <a:rPr lang="ko-KR" altLang="en-US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가설을 분리하고</a:t>
            </a:r>
            <a:r>
              <a:rPr lang="en-US" altLang="ko-KR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br>
              <a:rPr lang="en-US" altLang="ko-KR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공통 </a:t>
            </a:r>
            <a:r>
              <a:rPr lang="en-US" altLang="ko-KR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</a:t>
            </a:r>
            <a:r>
              <a:rPr lang="ko-KR" altLang="en-US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동일한 </a:t>
            </a:r>
            <a:r>
              <a:rPr lang="en-US" altLang="ko-KR" sz="1200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split·metric</a:t>
            </a:r>
            <a:r>
              <a:rPr lang="ko-KR" altLang="en-US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성능을 비교했습니다</a:t>
            </a:r>
            <a:r>
              <a:rPr lang="en-US" altLang="ko-KR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3360AE-D464-ADA2-ACDD-A1408F296E17}"/>
              </a:ext>
            </a:extLst>
          </p:cNvPr>
          <p:cNvSpPr txBox="1"/>
          <p:nvPr/>
        </p:nvSpPr>
        <p:spPr>
          <a:xfrm>
            <a:off x="3595688" y="809626"/>
            <a:ext cx="26670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7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공통 실험 흐름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5F8BB0-D29D-09B3-E089-A732E63BC877}"/>
              </a:ext>
            </a:extLst>
          </p:cNvPr>
          <p:cNvSpPr txBox="1"/>
          <p:nvPr/>
        </p:nvSpPr>
        <p:spPr>
          <a:xfrm>
            <a:off x="3619501" y="1066801"/>
            <a:ext cx="3095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825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전략은 다르게</a:t>
            </a:r>
            <a:r>
              <a:rPr lang="en-US" altLang="ko-KR" sz="825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25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평가 기준은 같게 고정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95D597-AD23-FF97-F892-31F063260C51}"/>
              </a:ext>
            </a:extLst>
          </p:cNvPr>
          <p:cNvSpPr/>
          <p:nvPr/>
        </p:nvSpPr>
        <p:spPr>
          <a:xfrm>
            <a:off x="3762375" y="1500188"/>
            <a:ext cx="19050" cy="1952625"/>
          </a:xfrm>
          <a:prstGeom prst="rect">
            <a:avLst/>
          </a:prstGeom>
          <a:solidFill>
            <a:srgbClr val="2D6DF6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092542C-FED8-2956-C28C-F18B5092A0E7}"/>
              </a:ext>
            </a:extLst>
          </p:cNvPr>
          <p:cNvSpPr/>
          <p:nvPr/>
        </p:nvSpPr>
        <p:spPr>
          <a:xfrm>
            <a:off x="3695700" y="1571625"/>
            <a:ext cx="152400" cy="152400"/>
          </a:xfrm>
          <a:prstGeom prst="ellipse">
            <a:avLst/>
          </a:prstGeom>
          <a:solidFill>
            <a:srgbClr val="07161D"/>
          </a:solidFill>
          <a:ln w="381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02EC6A8-02CF-3288-8D36-08D008874E34}"/>
              </a:ext>
            </a:extLst>
          </p:cNvPr>
          <p:cNvSpPr/>
          <p:nvPr/>
        </p:nvSpPr>
        <p:spPr>
          <a:xfrm>
            <a:off x="3695700" y="2143125"/>
            <a:ext cx="152400" cy="152400"/>
          </a:xfrm>
          <a:prstGeom prst="ellipse">
            <a:avLst/>
          </a:prstGeom>
          <a:solidFill>
            <a:srgbClr val="07161D"/>
          </a:solidFill>
          <a:ln w="381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225D6B8-CDC5-B9A6-2394-72F3AE29DB8D}"/>
              </a:ext>
            </a:extLst>
          </p:cNvPr>
          <p:cNvSpPr/>
          <p:nvPr/>
        </p:nvSpPr>
        <p:spPr>
          <a:xfrm>
            <a:off x="3695700" y="2714625"/>
            <a:ext cx="152400" cy="152400"/>
          </a:xfrm>
          <a:prstGeom prst="ellipse">
            <a:avLst/>
          </a:prstGeom>
          <a:solidFill>
            <a:srgbClr val="07161D"/>
          </a:solidFill>
          <a:ln w="381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8D4E221-D4F5-E77C-4FFC-29934BE27880}"/>
              </a:ext>
            </a:extLst>
          </p:cNvPr>
          <p:cNvSpPr/>
          <p:nvPr/>
        </p:nvSpPr>
        <p:spPr>
          <a:xfrm>
            <a:off x="3695700" y="3286125"/>
            <a:ext cx="152400" cy="152400"/>
          </a:xfrm>
          <a:prstGeom prst="ellipse">
            <a:avLst/>
          </a:prstGeom>
          <a:solidFill>
            <a:srgbClr val="07161D"/>
          </a:solidFill>
          <a:ln w="381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4C79597-87EB-61DF-FC00-530D046737E0}"/>
              </a:ext>
            </a:extLst>
          </p:cNvPr>
          <p:cNvSpPr/>
          <p:nvPr/>
        </p:nvSpPr>
        <p:spPr>
          <a:xfrm>
            <a:off x="3976688" y="1404938"/>
            <a:ext cx="4381500" cy="476250"/>
          </a:xfrm>
          <a:prstGeom prst="roundRect">
            <a:avLst>
              <a:gd name="adj" fmla="val 5000"/>
            </a:avLst>
          </a:prstGeom>
          <a:solidFill>
            <a:srgbClr val="121922">
              <a:alpha val="90000"/>
            </a:srgbClr>
          </a:solidFill>
          <a:ln w="2794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E560AB5-707B-ECBD-F8CB-7F1E1DE0F893}"/>
              </a:ext>
            </a:extLst>
          </p:cNvPr>
          <p:cNvSpPr/>
          <p:nvPr/>
        </p:nvSpPr>
        <p:spPr>
          <a:xfrm>
            <a:off x="4110038" y="1524001"/>
            <a:ext cx="257175" cy="257175"/>
          </a:xfrm>
          <a:prstGeom prst="ellipse">
            <a:avLst/>
          </a:prstGeom>
          <a:solidFill>
            <a:srgbClr val="5A9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8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6AD296-22DD-2A1B-09D3-9F1B1DF1278A}"/>
              </a:ext>
            </a:extLst>
          </p:cNvPr>
          <p:cNvSpPr txBox="1"/>
          <p:nvPr/>
        </p:nvSpPr>
        <p:spPr>
          <a:xfrm>
            <a:off x="4471988" y="1500188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12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설계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FF1F50-810F-B28E-E4BD-18830E81CDA4}"/>
              </a:ext>
            </a:extLst>
          </p:cNvPr>
          <p:cNvSpPr txBox="1"/>
          <p:nvPr/>
        </p:nvSpPr>
        <p:spPr>
          <a:xfrm>
            <a:off x="4471988" y="1700471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A/B/C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서로 다른 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engineering 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가설을 코드로 구현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ADF98E-45F1-B747-CB68-57C3A74ECB2F}"/>
              </a:ext>
            </a:extLst>
          </p:cNvPr>
          <p:cNvSpPr/>
          <p:nvPr/>
        </p:nvSpPr>
        <p:spPr>
          <a:xfrm>
            <a:off x="3976688" y="1976438"/>
            <a:ext cx="4381500" cy="476250"/>
          </a:xfrm>
          <a:prstGeom prst="roundRect">
            <a:avLst>
              <a:gd name="adj" fmla="val 5000"/>
            </a:avLst>
          </a:prstGeom>
          <a:solidFill>
            <a:srgbClr val="121922">
              <a:alpha val="90000"/>
            </a:srgbClr>
          </a:solidFill>
          <a:ln w="27940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8BD37C4-E72D-EEAA-42BE-C5C37B6671E6}"/>
              </a:ext>
            </a:extLst>
          </p:cNvPr>
          <p:cNvSpPr/>
          <p:nvPr/>
        </p:nvSpPr>
        <p:spPr>
          <a:xfrm>
            <a:off x="4110038" y="2095501"/>
            <a:ext cx="257175" cy="257175"/>
          </a:xfrm>
          <a:prstGeom prst="ellipse">
            <a:avLst/>
          </a:prstGeom>
          <a:solidFill>
            <a:srgbClr val="6CA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8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11F6E-5AB4-2F0A-761E-9C20016E81E6}"/>
              </a:ext>
            </a:extLst>
          </p:cNvPr>
          <p:cNvSpPr txBox="1"/>
          <p:nvPr/>
        </p:nvSpPr>
        <p:spPr>
          <a:xfrm>
            <a:off x="4471988" y="2071688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CSV </a:t>
            </a:r>
            <a:r>
              <a:rPr lang="ko-KR" altLang="en-US" sz="12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206D3E-6FAA-C06D-ADA7-DAA03F822A64}"/>
              </a:ext>
            </a:extLst>
          </p:cNvPr>
          <p:cNvSpPr txBox="1"/>
          <p:nvPr/>
        </p:nvSpPr>
        <p:spPr>
          <a:xfrm>
            <a:off x="4471988" y="2271971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processed CSV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전략별 산출물을 고정하고 재사용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75BEEDB-DAE4-6518-D2A2-DEE671537E4C}"/>
              </a:ext>
            </a:extLst>
          </p:cNvPr>
          <p:cNvSpPr/>
          <p:nvPr/>
        </p:nvSpPr>
        <p:spPr>
          <a:xfrm>
            <a:off x="3976688" y="2547938"/>
            <a:ext cx="4381500" cy="476250"/>
          </a:xfrm>
          <a:prstGeom prst="roundRect">
            <a:avLst>
              <a:gd name="adj" fmla="val 5000"/>
            </a:avLst>
          </a:prstGeom>
          <a:solidFill>
            <a:srgbClr val="121922">
              <a:alpha val="90000"/>
            </a:srgbClr>
          </a:solidFill>
          <a:ln w="27940">
            <a:solidFill>
              <a:srgbClr val="8AD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E8A72BE-4DFD-0D7E-C196-599E5E2B1115}"/>
              </a:ext>
            </a:extLst>
          </p:cNvPr>
          <p:cNvSpPr/>
          <p:nvPr/>
        </p:nvSpPr>
        <p:spPr>
          <a:xfrm>
            <a:off x="4110038" y="2667001"/>
            <a:ext cx="257175" cy="257175"/>
          </a:xfrm>
          <a:prstGeom prst="ellipse">
            <a:avLst/>
          </a:prstGeom>
          <a:solidFill>
            <a:srgbClr val="8AD9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8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89361B-9A24-5E56-609D-C9E69D65B899}"/>
              </a:ext>
            </a:extLst>
          </p:cNvPr>
          <p:cNvSpPr txBox="1"/>
          <p:nvPr/>
        </p:nvSpPr>
        <p:spPr>
          <a:xfrm>
            <a:off x="4471988" y="2643188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공통 러너 학습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B515ED-A0BD-9DC3-32CB-A455E4AE6A99}"/>
              </a:ext>
            </a:extLst>
          </p:cNvPr>
          <p:cNvSpPr txBox="1"/>
          <p:nvPr/>
        </p:nvSpPr>
        <p:spPr>
          <a:xfrm>
            <a:off x="4471988" y="2843471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동일 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split, 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모델 인터페이스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평가 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metric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비교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E954487-A6FC-1C0F-E039-2875DF595B57}"/>
              </a:ext>
            </a:extLst>
          </p:cNvPr>
          <p:cNvSpPr/>
          <p:nvPr/>
        </p:nvSpPr>
        <p:spPr>
          <a:xfrm>
            <a:off x="3976688" y="3119438"/>
            <a:ext cx="4381500" cy="476250"/>
          </a:xfrm>
          <a:prstGeom prst="roundRect">
            <a:avLst>
              <a:gd name="adj" fmla="val 5000"/>
            </a:avLst>
          </a:prstGeom>
          <a:solidFill>
            <a:srgbClr val="121922">
              <a:alpha val="90000"/>
            </a:srgbClr>
          </a:solidFill>
          <a:ln w="27940">
            <a:solidFill>
              <a:srgbClr val="E7B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C1DF439-B993-FE8F-235E-17101D322A4B}"/>
              </a:ext>
            </a:extLst>
          </p:cNvPr>
          <p:cNvSpPr/>
          <p:nvPr/>
        </p:nvSpPr>
        <p:spPr>
          <a:xfrm>
            <a:off x="4110038" y="3238501"/>
            <a:ext cx="257175" cy="257175"/>
          </a:xfrm>
          <a:prstGeom prst="ellipse">
            <a:avLst/>
          </a:prstGeom>
          <a:solidFill>
            <a:srgbClr val="E7B1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8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2F8A6A-B6C0-3B9D-B518-B73625FA6EAE}"/>
              </a:ext>
            </a:extLst>
          </p:cNvPr>
          <p:cNvSpPr txBox="1"/>
          <p:nvPr/>
        </p:nvSpPr>
        <p:spPr>
          <a:xfrm>
            <a:off x="4471988" y="3214688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최적화</a:t>
            </a:r>
            <a:r>
              <a:rPr lang="en-US" altLang="ko-KR" sz="12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리포트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F88068-B1A0-58E8-437D-42DD3C3A1E7B}"/>
              </a:ext>
            </a:extLst>
          </p:cNvPr>
          <p:cNvSpPr txBox="1"/>
          <p:nvPr/>
        </p:nvSpPr>
        <p:spPr>
          <a:xfrm>
            <a:off x="4471988" y="3414971"/>
            <a:ext cx="37719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tuning, threshold, report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artifact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저장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7EA913-F248-0DD9-622C-311CABE83D74}"/>
              </a:ext>
            </a:extLst>
          </p:cNvPr>
          <p:cNvSpPr/>
          <p:nvPr/>
        </p:nvSpPr>
        <p:spPr>
          <a:xfrm>
            <a:off x="3619500" y="3819526"/>
            <a:ext cx="3048000" cy="14288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592B64-FB80-1022-5551-890598D3B93C}"/>
              </a:ext>
            </a:extLst>
          </p:cNvPr>
          <p:cNvSpPr txBox="1"/>
          <p:nvPr/>
        </p:nvSpPr>
        <p:spPr>
          <a:xfrm>
            <a:off x="3619500" y="3990976"/>
            <a:ext cx="41910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전략</a:t>
            </a:r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</a:t>
            </a:r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실험</a:t>
            </a:r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저장을 분리했기 때문에</a:t>
            </a:r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 전략을 추가해도 기존 파이프라인 위에서 바로 비교할 수 있었습니다</a:t>
            </a:r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FB082C-4990-6582-B052-3582D42899AA}"/>
              </a:ext>
            </a:extLst>
          </p:cNvPr>
          <p:cNvSpPr txBox="1"/>
          <p:nvPr/>
        </p:nvSpPr>
        <p:spPr>
          <a:xfrm>
            <a:off x="3619501" y="4429125"/>
            <a:ext cx="5459186" cy="6137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주요 초점 </a:t>
            </a:r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</a:p>
          <a:p>
            <a:endParaRPr lang="en-US" altLang="ko-KR" sz="105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‘어떤 모델이 더 좋은가</a:t>
            </a:r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’가 아닌 ‘어떤 </a:t>
            </a:r>
            <a:r>
              <a:rPr lang="ko-KR" altLang="en-US" sz="1050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설계가 사기 의심 패턴을 더 잘 표현하는가’</a:t>
            </a:r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AC82EC-137C-3A43-A340-8A74B65335B2}"/>
              </a:ext>
            </a:extLst>
          </p:cNvPr>
          <p:cNvSpPr txBox="1"/>
          <p:nvPr/>
        </p:nvSpPr>
        <p:spPr>
          <a:xfrm>
            <a:off x="457200" y="4819651"/>
            <a:ext cx="3333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ko-KR" altLang="en-US" sz="525" dirty="0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821A1B9-0D77-44E9-09EF-B25870B5800A}"/>
              </a:ext>
            </a:extLst>
          </p:cNvPr>
          <p:cNvSpPr/>
          <p:nvPr/>
        </p:nvSpPr>
        <p:spPr>
          <a:xfrm>
            <a:off x="406400" y="190500"/>
            <a:ext cx="1655082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>
              <a:defRPr/>
            </a:pPr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1DFFB-3C7B-DD95-3C29-B3944E005045}"/>
              </a:ext>
            </a:extLst>
          </p:cNvPr>
          <p:cNvSpPr txBox="1"/>
          <p:nvPr/>
        </p:nvSpPr>
        <p:spPr>
          <a:xfrm>
            <a:off x="509588" y="324751"/>
            <a:ext cx="138044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5A9B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프로젝트 접근 방식</a:t>
            </a:r>
          </a:p>
        </p:txBody>
      </p:sp>
    </p:spTree>
    <p:extLst>
      <p:ext uri="{BB962C8B-B14F-4D97-AF65-F5344CB8AC3E}">
        <p14:creationId xmlns:p14="http://schemas.microsoft.com/office/powerpoint/2010/main" val="1373153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2F3C-5038-BB30-4778-E5C21013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90BED0-C8D3-2A55-E606-551B61293DB6}"/>
              </a:ext>
            </a:extLst>
          </p:cNvPr>
          <p:cNvSpPr/>
          <p:nvPr/>
        </p:nvSpPr>
        <p:spPr>
          <a:xfrm>
            <a:off x="-35169" y="0"/>
            <a:ext cx="9294725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683BB6-AEC6-6784-2AE9-A4E5BDBA8D59}"/>
              </a:ext>
            </a:extLst>
          </p:cNvPr>
          <p:cNvSpPr/>
          <p:nvPr/>
        </p:nvSpPr>
        <p:spPr>
          <a:xfrm>
            <a:off x="406400" y="190500"/>
            <a:ext cx="952954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3A837-A378-E844-136A-15C269EBC412}"/>
              </a:ext>
            </a:extLst>
          </p:cNvPr>
          <p:cNvSpPr txBox="1"/>
          <p:nvPr/>
        </p:nvSpPr>
        <p:spPr>
          <a:xfrm>
            <a:off x="546100" y="308176"/>
            <a:ext cx="723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2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협업 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21A37-F474-5855-AB22-89640B43BF91}"/>
              </a:ext>
            </a:extLst>
          </p:cNvPr>
          <p:cNvSpPr txBox="1"/>
          <p:nvPr/>
        </p:nvSpPr>
        <p:spPr>
          <a:xfrm>
            <a:off x="457200" y="1028700"/>
            <a:ext cx="6191250" cy="3577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32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A/B/C </a:t>
            </a:r>
            <a:r>
              <a:rPr kumimoji="0" lang="ko-KR" altLang="en-US" sz="232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전처리 전략 비교 구조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AC9A1B-1977-94DE-BBB9-A31ED5FC38F3}"/>
              </a:ext>
            </a:extLst>
          </p:cNvPr>
          <p:cNvSpPr txBox="1"/>
          <p:nvPr/>
        </p:nvSpPr>
        <p:spPr>
          <a:xfrm>
            <a:off x="476250" y="1587500"/>
            <a:ext cx="7620000" cy="159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같은 고객</a:t>
            </a:r>
            <a:r>
              <a:rPr kumimoji="0" lang="en-US" altLang="ko-KR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·</a:t>
            </a:r>
            <a:r>
              <a:rPr kumimoji="0" lang="ko-KR" altLang="en-US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청구 데이터를 세 관점으로 전처리하고</a:t>
            </a:r>
            <a:r>
              <a:rPr kumimoji="0" lang="en-US" altLang="ko-KR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kumimoji="0" lang="ko-KR" altLang="en-US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최종 </a:t>
            </a:r>
            <a:r>
              <a:rPr kumimoji="0" lang="en-US" altLang="ko-KR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A4+B3+C4 </a:t>
            </a:r>
            <a:r>
              <a:rPr kumimoji="0" lang="ko-KR" altLang="en-US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통합 전략으로 확장했습니다</a:t>
            </a:r>
            <a:r>
              <a:rPr kumimoji="0" lang="en-US" altLang="ko-KR" sz="103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kumimoji="0" lang="ko-KR" altLang="en-US" sz="103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AF314E4-C50F-7641-C781-E855F3C07FDB}"/>
              </a:ext>
            </a:extLst>
          </p:cNvPr>
          <p:cNvSpPr/>
          <p:nvPr/>
        </p:nvSpPr>
        <p:spPr>
          <a:xfrm>
            <a:off x="457200" y="1873774"/>
            <a:ext cx="2476500" cy="2164826"/>
          </a:xfrm>
          <a:prstGeom prst="roundRect">
            <a:avLst/>
          </a:prstGeom>
          <a:solidFill>
            <a:srgbClr val="0B2F68"/>
          </a:solidFill>
          <a:ln w="15240">
            <a:solidFill>
              <a:srgbClr val="2D6D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D081E-9365-CE5C-88FB-2BCE68F460D6}"/>
              </a:ext>
            </a:extLst>
          </p:cNvPr>
          <p:cNvSpPr txBox="1"/>
          <p:nvPr/>
        </p:nvSpPr>
        <p:spPr>
          <a:xfrm>
            <a:off x="748322" y="2038624"/>
            <a:ext cx="1047750" cy="2192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25" b="1" i="0" u="none" strike="noStrike" kern="1200" cap="none" spc="0" normalizeH="0" baseline="0" noProof="0" dirty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Member A</a:t>
            </a:r>
            <a:endParaRPr kumimoji="0" lang="ko-KR" altLang="en-US" sz="1425" b="1" i="0" u="none" strike="noStrike" kern="1200" cap="none" spc="0" normalizeH="0" baseline="0" noProof="0" dirty="0">
              <a:ln>
                <a:noFill/>
              </a:ln>
              <a:solidFill>
                <a:srgbClr val="F5F8FB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FFFB45-0217-2EB1-C839-11C6EF5072E8}"/>
              </a:ext>
            </a:extLst>
          </p:cNvPr>
          <p:cNvSpPr txBox="1"/>
          <p:nvPr/>
        </p:nvSpPr>
        <p:spPr>
          <a:xfrm>
            <a:off x="748322" y="2368035"/>
            <a:ext cx="2114550" cy="1638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65" b="1" i="0" u="none" strike="noStrike" kern="1200" cap="none" spc="0" normalizeH="0" baseline="0" noProof="0" dirty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고객</a:t>
            </a:r>
            <a:r>
              <a:rPr kumimoji="0" lang="en-US" altLang="ko-KR" sz="1065" b="1" i="0" u="none" strike="noStrike" kern="1200" cap="none" spc="0" normalizeH="0" baseline="0" noProof="0" dirty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·</a:t>
            </a:r>
            <a:r>
              <a:rPr kumimoji="0" lang="ko-KR" altLang="en-US" sz="1065" b="1" i="0" u="none" strike="noStrike" kern="1200" cap="none" spc="0" normalizeH="0" baseline="0" noProof="0" dirty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도메인 확장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11366-3F7F-3C8B-AF24-7EAD8F77AF7C}"/>
              </a:ext>
            </a:extLst>
          </p:cNvPr>
          <p:cNvSpPr txBox="1"/>
          <p:nvPr/>
        </p:nvSpPr>
        <p:spPr>
          <a:xfrm>
            <a:off x="628650" y="2719737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2FEEB-A672-22FD-E2E0-1F108D8D5EAD}"/>
              </a:ext>
            </a:extLst>
          </p:cNvPr>
          <p:cNvSpPr txBox="1"/>
          <p:nvPr/>
        </p:nvSpPr>
        <p:spPr>
          <a:xfrm>
            <a:off x="800100" y="2719738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KMeans·PCA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로 고객 군집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거리 추가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8C3DA3-E834-0276-427A-EE130B5E8A71}"/>
              </a:ext>
            </a:extLst>
          </p:cNvPr>
          <p:cNvSpPr txBox="1"/>
          <p:nvPr/>
        </p:nvSpPr>
        <p:spPr>
          <a:xfrm>
            <a:off x="628650" y="3041990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4A04B-B13E-47B4-1456-8D2B2AB44A33}"/>
              </a:ext>
            </a:extLst>
          </p:cNvPr>
          <p:cNvSpPr txBox="1"/>
          <p:nvPr/>
        </p:nvSpPr>
        <p:spPr>
          <a:xfrm>
            <a:off x="800100" y="3041990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Claim </a:t>
            </a:r>
            <a:r>
              <a:rPr lang="ko-KR" altLang="en-US" sz="9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집계</a:t>
            </a:r>
            <a:r>
              <a:rPr lang="en-US" altLang="ko-KR" sz="9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Z-Score,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시간패턴</a:t>
            </a:r>
            <a:r>
              <a:rPr lang="ko-KR" altLang="en-US" sz="90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파생변수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D5E0EA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03272-E828-1245-0818-7CA71FE5D251}"/>
              </a:ext>
            </a:extLst>
          </p:cNvPr>
          <p:cNvSpPr txBox="1"/>
          <p:nvPr/>
        </p:nvSpPr>
        <p:spPr>
          <a:xfrm>
            <a:off x="628650" y="3419475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99FD18-3324-03A5-A678-23867F20930A}"/>
              </a:ext>
            </a:extLst>
          </p:cNvPr>
          <p:cNvSpPr txBox="1"/>
          <p:nvPr/>
        </p:nvSpPr>
        <p:spPr>
          <a:xfrm>
            <a:off x="800100" y="3364243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다중공선성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 고려 및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Feature Selection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D5E0EA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632098-09E5-2BC0-D963-4E97A2670C15}"/>
              </a:ext>
            </a:extLst>
          </p:cNvPr>
          <p:cNvSpPr/>
          <p:nvPr/>
        </p:nvSpPr>
        <p:spPr>
          <a:xfrm>
            <a:off x="628650" y="3695700"/>
            <a:ext cx="2133600" cy="228600"/>
          </a:xfrm>
          <a:prstGeom prst="rect">
            <a:avLst/>
          </a:prstGeom>
          <a:solidFill>
            <a:srgbClr val="0A2131">
              <a:alpha val="9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AAA1F6-14B2-4AF7-E612-6D3BB4618014}"/>
              </a:ext>
            </a:extLst>
          </p:cNvPr>
          <p:cNvSpPr txBox="1"/>
          <p:nvPr/>
        </p:nvSpPr>
        <p:spPr>
          <a:xfrm>
            <a:off x="742950" y="3743326"/>
            <a:ext cx="971550" cy="108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5" b="1" i="0" u="none" strike="noStrike" kern="1200" cap="none" spc="0" normalizeH="0" baseline="0" noProof="0">
                <a:ln>
                  <a:noFill/>
                </a:ln>
                <a:solidFill>
                  <a:srgbClr val="AFC4D7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A4 89 features</a:t>
            </a:r>
            <a:endParaRPr kumimoji="0" lang="ko-KR" altLang="en-US" sz="705" b="1" i="0" u="none" strike="noStrike" kern="1200" cap="none" spc="0" normalizeH="0" baseline="0" noProof="0">
              <a:ln>
                <a:noFill/>
              </a:ln>
              <a:solidFill>
                <a:srgbClr val="AFC4D7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FDB56D-266E-C31D-B540-5E43164E3678}"/>
              </a:ext>
            </a:extLst>
          </p:cNvPr>
          <p:cNvSpPr txBox="1"/>
          <p:nvPr/>
        </p:nvSpPr>
        <p:spPr>
          <a:xfrm>
            <a:off x="1714500" y="3743326"/>
            <a:ext cx="933450" cy="108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5" b="1" i="0" u="none" strike="noStrike" kern="1200" cap="none" spc="0" normalizeH="0" baseline="0" noProof="0">
                <a:ln>
                  <a:noFill/>
                </a:ln>
                <a:solidFill>
                  <a:srgbClr val="8AF0A6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F1 0.6256</a:t>
            </a:r>
            <a:endParaRPr kumimoji="0" lang="ko-KR" altLang="en-US" sz="705" b="1" i="0" u="none" strike="noStrike" kern="1200" cap="none" spc="0" normalizeH="0" baseline="0" noProof="0">
              <a:ln>
                <a:noFill/>
              </a:ln>
              <a:solidFill>
                <a:srgbClr val="8AF0A6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8FCBC9F-A37B-E768-196C-E317DE37F73C}"/>
              </a:ext>
            </a:extLst>
          </p:cNvPr>
          <p:cNvSpPr/>
          <p:nvPr/>
        </p:nvSpPr>
        <p:spPr>
          <a:xfrm>
            <a:off x="3333750" y="1873774"/>
            <a:ext cx="2476500" cy="2164826"/>
          </a:xfrm>
          <a:prstGeom prst="roundRect">
            <a:avLst/>
          </a:prstGeom>
          <a:solidFill>
            <a:srgbClr val="0B2F68"/>
          </a:solidFill>
          <a:ln w="1524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F64C57-01F8-7476-D2DF-694918E34A97}"/>
              </a:ext>
            </a:extLst>
          </p:cNvPr>
          <p:cNvSpPr txBox="1"/>
          <p:nvPr/>
        </p:nvSpPr>
        <p:spPr>
          <a:xfrm>
            <a:off x="3624872" y="2038624"/>
            <a:ext cx="1047750" cy="2192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2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Member B</a:t>
            </a:r>
            <a:endParaRPr kumimoji="0" lang="ko-KR" altLang="en-US" sz="1425" b="1" i="0" u="none" strike="noStrike" kern="1200" cap="none" spc="0" normalizeH="0" baseline="0" noProof="0">
              <a:ln>
                <a:noFill/>
              </a:ln>
              <a:solidFill>
                <a:srgbClr val="F5F8FB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EE4B53-FCB3-DC06-479B-BBBE4089B5E7}"/>
              </a:ext>
            </a:extLst>
          </p:cNvPr>
          <p:cNvSpPr txBox="1"/>
          <p:nvPr/>
        </p:nvSpPr>
        <p:spPr>
          <a:xfrm>
            <a:off x="3624872" y="2359066"/>
            <a:ext cx="2114550" cy="1638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6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패턴형 </a:t>
            </a:r>
            <a:r>
              <a:rPr kumimoji="0" lang="en-US" altLang="ko-KR" sz="106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Feature Engineering</a:t>
            </a:r>
            <a:endParaRPr kumimoji="0" lang="ko-KR" altLang="en-US" sz="1065" b="1" i="0" u="none" strike="noStrike" kern="1200" cap="none" spc="0" normalizeH="0" baseline="0" noProof="0">
              <a:ln>
                <a:noFill/>
              </a:ln>
              <a:solidFill>
                <a:srgbClr val="F5F8FB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DA7B0D-646D-D45C-8E57-5DDEBEE48F9D}"/>
              </a:ext>
            </a:extLst>
          </p:cNvPr>
          <p:cNvSpPr txBox="1"/>
          <p:nvPr/>
        </p:nvSpPr>
        <p:spPr>
          <a:xfrm>
            <a:off x="3505200" y="2719737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ADB261-78D5-B9C8-AE78-39EE9EBA5ACB}"/>
              </a:ext>
            </a:extLst>
          </p:cNvPr>
          <p:cNvSpPr txBox="1"/>
          <p:nvPr/>
        </p:nvSpPr>
        <p:spPr>
          <a:xfrm>
            <a:off x="3676650" y="2719738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Deviation·Burst·Graph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패턴 포착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547944-47B8-EDD5-2B3B-3EF16ABC5465}"/>
              </a:ext>
            </a:extLst>
          </p:cNvPr>
          <p:cNvSpPr txBox="1"/>
          <p:nvPr/>
        </p:nvSpPr>
        <p:spPr>
          <a:xfrm>
            <a:off x="3505200" y="3041990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013F2A-FE8B-B618-5A62-02CEA57C779A}"/>
              </a:ext>
            </a:extLst>
          </p:cNvPr>
          <p:cNvSpPr txBox="1"/>
          <p:nvPr/>
        </p:nvSpPr>
        <p:spPr>
          <a:xfrm>
            <a:off x="3676650" y="3041990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Amount·Time·Medical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로 범위 확장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1767E7-8C72-C9FB-F051-9DE0E2EBDC7C}"/>
              </a:ext>
            </a:extLst>
          </p:cNvPr>
          <p:cNvSpPr txBox="1"/>
          <p:nvPr/>
        </p:nvSpPr>
        <p:spPr>
          <a:xfrm>
            <a:off x="3505200" y="3419475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D4DEC2-0EF8-D83E-EF62-9606FA891916}"/>
              </a:ext>
            </a:extLst>
          </p:cNvPr>
          <p:cNvSpPr txBox="1"/>
          <p:nvPr/>
        </p:nvSpPr>
        <p:spPr>
          <a:xfrm>
            <a:off x="3676650" y="3364243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B3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에서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selection·tuning·threshold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D5E0EA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7F8B146-AFF6-0E00-0FEE-FD4AD7B5B2C9}"/>
              </a:ext>
            </a:extLst>
          </p:cNvPr>
          <p:cNvSpPr/>
          <p:nvPr/>
        </p:nvSpPr>
        <p:spPr>
          <a:xfrm>
            <a:off x="3505200" y="3695700"/>
            <a:ext cx="2133600" cy="228600"/>
          </a:xfrm>
          <a:prstGeom prst="rect">
            <a:avLst/>
          </a:prstGeom>
          <a:solidFill>
            <a:srgbClr val="0A2131">
              <a:alpha val="9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AC4F56-ECB0-DE55-9DA7-62B93429A5B6}"/>
              </a:ext>
            </a:extLst>
          </p:cNvPr>
          <p:cNvSpPr txBox="1"/>
          <p:nvPr/>
        </p:nvSpPr>
        <p:spPr>
          <a:xfrm>
            <a:off x="3619500" y="3743326"/>
            <a:ext cx="971550" cy="108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5" b="1" i="0" u="none" strike="noStrike" kern="1200" cap="none" spc="0" normalizeH="0" baseline="0" noProof="0">
                <a:ln>
                  <a:noFill/>
                </a:ln>
                <a:solidFill>
                  <a:srgbClr val="AFC4D7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B3 101 features</a:t>
            </a:r>
            <a:endParaRPr kumimoji="0" lang="ko-KR" altLang="en-US" sz="705" b="1" i="0" u="none" strike="noStrike" kern="1200" cap="none" spc="0" normalizeH="0" baseline="0" noProof="0">
              <a:ln>
                <a:noFill/>
              </a:ln>
              <a:solidFill>
                <a:srgbClr val="AFC4D7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6BB80-0356-BFE7-A17E-EC549388E38D}"/>
              </a:ext>
            </a:extLst>
          </p:cNvPr>
          <p:cNvSpPr txBox="1"/>
          <p:nvPr/>
        </p:nvSpPr>
        <p:spPr>
          <a:xfrm>
            <a:off x="4591050" y="3743326"/>
            <a:ext cx="933450" cy="108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5" b="1" i="0" u="none" strike="noStrike" kern="1200" cap="none" spc="0" normalizeH="0" baseline="0" noProof="0">
                <a:ln>
                  <a:noFill/>
                </a:ln>
                <a:solidFill>
                  <a:srgbClr val="8AF0A6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Recall 0.6568</a:t>
            </a:r>
            <a:endParaRPr kumimoji="0" lang="ko-KR" altLang="en-US" sz="705" b="1" i="0" u="none" strike="noStrike" kern="1200" cap="none" spc="0" normalizeH="0" baseline="0" noProof="0">
              <a:ln>
                <a:noFill/>
              </a:ln>
              <a:solidFill>
                <a:srgbClr val="8AF0A6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35466A0-EEA9-D633-96B8-9AAB7ECC0FDA}"/>
              </a:ext>
            </a:extLst>
          </p:cNvPr>
          <p:cNvSpPr/>
          <p:nvPr/>
        </p:nvSpPr>
        <p:spPr>
          <a:xfrm>
            <a:off x="6210300" y="1873774"/>
            <a:ext cx="2476500" cy="2164826"/>
          </a:xfrm>
          <a:prstGeom prst="roundRect">
            <a:avLst/>
          </a:prstGeom>
          <a:solidFill>
            <a:srgbClr val="0B2F68"/>
          </a:solidFill>
          <a:ln w="15240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D3C9DE-06AE-098D-E2AC-B5595B9313AB}"/>
              </a:ext>
            </a:extLst>
          </p:cNvPr>
          <p:cNvSpPr txBox="1"/>
          <p:nvPr/>
        </p:nvSpPr>
        <p:spPr>
          <a:xfrm>
            <a:off x="6501422" y="2029654"/>
            <a:ext cx="1047750" cy="2192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2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Member C</a:t>
            </a:r>
            <a:endParaRPr kumimoji="0" lang="ko-KR" altLang="en-US" sz="1425" b="1" i="0" u="none" strike="noStrike" kern="1200" cap="none" spc="0" normalizeH="0" baseline="0" noProof="0">
              <a:ln>
                <a:noFill/>
              </a:ln>
              <a:solidFill>
                <a:srgbClr val="F5F8FB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55CCA0-8756-51F6-6023-70A6D60A6ECF}"/>
              </a:ext>
            </a:extLst>
          </p:cNvPr>
          <p:cNvSpPr txBox="1"/>
          <p:nvPr/>
        </p:nvSpPr>
        <p:spPr>
          <a:xfrm>
            <a:off x="6501422" y="2359066"/>
            <a:ext cx="2114550" cy="1638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6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Safe </a:t>
            </a:r>
            <a:r>
              <a:rPr kumimoji="0" lang="ko-KR" altLang="en-US" sz="106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고객</a:t>
            </a:r>
            <a:r>
              <a:rPr kumimoji="0" lang="en-US" altLang="ko-KR" sz="106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-</a:t>
            </a:r>
            <a:r>
              <a:rPr kumimoji="0" lang="ko-KR" altLang="en-US" sz="1065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청구 집계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DF99FD-B71C-4E37-60A5-1E5DB7EE8BF0}"/>
              </a:ext>
            </a:extLst>
          </p:cNvPr>
          <p:cNvSpPr txBox="1"/>
          <p:nvPr/>
        </p:nvSpPr>
        <p:spPr>
          <a:xfrm>
            <a:off x="6381750" y="2719737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 dirty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 dirty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8C0F26-4F4F-CD2D-2E4A-7BC2816DF8E3}"/>
              </a:ext>
            </a:extLst>
          </p:cNvPr>
          <p:cNvSpPr txBox="1"/>
          <p:nvPr/>
        </p:nvSpPr>
        <p:spPr>
          <a:xfrm>
            <a:off x="6553200" y="2719738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청구 건수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간격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금액을 고객별 집계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66B987-77DF-11CE-5C48-FAD607BF59C6}"/>
              </a:ext>
            </a:extLst>
          </p:cNvPr>
          <p:cNvSpPr txBox="1"/>
          <p:nvPr/>
        </p:nvSpPr>
        <p:spPr>
          <a:xfrm>
            <a:off x="6381750" y="3041990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 dirty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 dirty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68A99-AC1A-62DF-E1A8-5C8A53515C7F}"/>
              </a:ext>
            </a:extLst>
          </p:cNvPr>
          <p:cNvSpPr txBox="1"/>
          <p:nvPr/>
        </p:nvSpPr>
        <p:spPr>
          <a:xfrm>
            <a:off x="6553200" y="3041990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v3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에서 누수 위험 줄인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Safe 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구조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615155-C204-8C4F-E968-A99F2E68A03B}"/>
              </a:ext>
            </a:extLst>
          </p:cNvPr>
          <p:cNvSpPr txBox="1"/>
          <p:nvPr/>
        </p:nvSpPr>
        <p:spPr>
          <a:xfrm>
            <a:off x="6381750" y="3419475"/>
            <a:ext cx="114300" cy="13279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63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•</a:t>
            </a:r>
            <a:endParaRPr kumimoji="0" lang="ko-KR" altLang="en-US" sz="863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7A3CA2-321C-4A1D-83C0-FCC6894F2E71}"/>
              </a:ext>
            </a:extLst>
          </p:cNvPr>
          <p:cNvSpPr txBox="1"/>
          <p:nvPr/>
        </p:nvSpPr>
        <p:spPr>
          <a:xfrm>
            <a:off x="6553200" y="3364243"/>
            <a:ext cx="204787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v4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에서 유효 변수 복원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+threshold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D5E0EA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23D2DDD-8425-43AF-31CB-2EFAC44B53A9}"/>
              </a:ext>
            </a:extLst>
          </p:cNvPr>
          <p:cNvSpPr/>
          <p:nvPr/>
        </p:nvSpPr>
        <p:spPr>
          <a:xfrm>
            <a:off x="6381750" y="3695700"/>
            <a:ext cx="2133600" cy="228600"/>
          </a:xfrm>
          <a:prstGeom prst="rect">
            <a:avLst/>
          </a:prstGeom>
          <a:solidFill>
            <a:srgbClr val="0A2131">
              <a:alpha val="9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E86223-0A65-9106-B149-8AAD21A8583B}"/>
              </a:ext>
            </a:extLst>
          </p:cNvPr>
          <p:cNvSpPr txBox="1"/>
          <p:nvPr/>
        </p:nvSpPr>
        <p:spPr>
          <a:xfrm>
            <a:off x="6496050" y="3743326"/>
            <a:ext cx="971550" cy="108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5" b="1" i="0" u="none" strike="noStrike" kern="1200" cap="none" spc="0" normalizeH="0" baseline="0" noProof="0">
                <a:ln>
                  <a:noFill/>
                </a:ln>
                <a:solidFill>
                  <a:srgbClr val="AFC4D7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C4 191 features</a:t>
            </a:r>
            <a:endParaRPr kumimoji="0" lang="ko-KR" altLang="en-US" sz="705" b="1" i="0" u="none" strike="noStrike" kern="1200" cap="none" spc="0" normalizeH="0" baseline="0" noProof="0">
              <a:ln>
                <a:noFill/>
              </a:ln>
              <a:solidFill>
                <a:srgbClr val="AFC4D7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59E421-CA40-279C-8A9F-C9150DE8D110}"/>
              </a:ext>
            </a:extLst>
          </p:cNvPr>
          <p:cNvSpPr txBox="1"/>
          <p:nvPr/>
        </p:nvSpPr>
        <p:spPr>
          <a:xfrm>
            <a:off x="7467600" y="3743326"/>
            <a:ext cx="933450" cy="108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5" b="1" i="0" u="none" strike="noStrike" kern="1200" cap="none" spc="0" normalizeH="0" baseline="0" noProof="0">
                <a:ln>
                  <a:noFill/>
                </a:ln>
                <a:solidFill>
                  <a:srgbClr val="8AF0A6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Recall 0.7399</a:t>
            </a:r>
            <a:endParaRPr kumimoji="0" lang="ko-KR" altLang="en-US" sz="705" b="1" i="0" u="none" strike="noStrike" kern="1200" cap="none" spc="0" normalizeH="0" baseline="0" noProof="0">
              <a:ln>
                <a:noFill/>
              </a:ln>
              <a:solidFill>
                <a:srgbClr val="8AF0A6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4AB3223-6ED4-40B9-1B23-6575107844F6}"/>
              </a:ext>
            </a:extLst>
          </p:cNvPr>
          <p:cNvSpPr/>
          <p:nvPr/>
        </p:nvSpPr>
        <p:spPr>
          <a:xfrm>
            <a:off x="457200" y="4229100"/>
            <a:ext cx="8229600" cy="552450"/>
          </a:xfrm>
          <a:prstGeom prst="roundRect">
            <a:avLst/>
          </a:prstGeom>
          <a:solidFill>
            <a:srgbClr val="103D22"/>
          </a:solidFill>
          <a:ln w="12700">
            <a:solidFill>
              <a:srgbClr val="103D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AB51D2B-7E4B-3728-6034-0B677A5627E4}"/>
              </a:ext>
            </a:extLst>
          </p:cNvPr>
          <p:cNvSpPr/>
          <p:nvPr/>
        </p:nvSpPr>
        <p:spPr>
          <a:xfrm>
            <a:off x="628650" y="4362450"/>
            <a:ext cx="285750" cy="285750"/>
          </a:xfrm>
          <a:prstGeom prst="roundRect">
            <a:avLst/>
          </a:prstGeom>
          <a:solidFill>
            <a:srgbClr val="164F2B"/>
          </a:solidFill>
          <a:ln w="12700">
            <a:solidFill>
              <a:srgbClr val="68D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CA838C-CCA1-E2E5-FA55-9347A252BA34}"/>
              </a:ext>
            </a:extLst>
          </p:cNvPr>
          <p:cNvSpPr txBox="1"/>
          <p:nvPr/>
        </p:nvSpPr>
        <p:spPr>
          <a:xfrm>
            <a:off x="628650" y="4410075"/>
            <a:ext cx="28575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AF0A6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✓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332223-189A-52C1-E8F9-13731D824534}"/>
              </a:ext>
            </a:extLst>
          </p:cNvPr>
          <p:cNvSpPr txBox="1"/>
          <p:nvPr/>
        </p:nvSpPr>
        <p:spPr>
          <a:xfrm>
            <a:off x="1066800" y="4324350"/>
            <a:ext cx="24765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40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최종 통합 전략 </a:t>
            </a:r>
            <a:r>
              <a:rPr kumimoji="0" lang="en-US" altLang="ko-KR" sz="1140" b="1" i="0" u="none" strike="noStrike" kern="1200" cap="none" spc="0" normalizeH="0" baseline="0" noProof="0">
                <a:ln>
                  <a:noFill/>
                </a:ln>
                <a:solidFill>
                  <a:srgbClr val="F5F8FB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test_member_abc</a:t>
            </a:r>
            <a:endParaRPr kumimoji="0" lang="ko-KR" altLang="en-US" sz="1140" b="1" i="0" u="none" strike="noStrike" kern="1200" cap="none" spc="0" normalizeH="0" baseline="0" noProof="0">
              <a:ln>
                <a:noFill/>
              </a:ln>
              <a:solidFill>
                <a:srgbClr val="F5F8FB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6E598-8353-F0FC-AB96-05348F8BDDEA}"/>
              </a:ext>
            </a:extLst>
          </p:cNvPr>
          <p:cNvSpPr txBox="1"/>
          <p:nvPr/>
        </p:nvSpPr>
        <p:spPr>
          <a:xfrm>
            <a:off x="1066800" y="4543425"/>
            <a:ext cx="2857500" cy="1177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65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A4+B3+C4 feature </a:t>
            </a:r>
            <a:r>
              <a:rPr kumimoji="0" lang="ko-KR" altLang="en-US" sz="765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결합 → </a:t>
            </a:r>
            <a:r>
              <a:rPr kumimoji="0" lang="en-US" altLang="ko-KR" sz="765" b="0" i="0" u="none" strike="noStrike" kern="1200" cap="none" spc="0" normalizeH="0" baseline="0" noProof="0">
                <a:ln>
                  <a:noFill/>
                </a:ln>
                <a:solidFill>
                  <a:srgbClr val="D5E0E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295 features</a:t>
            </a:r>
            <a:endParaRPr kumimoji="0" lang="ko-KR" altLang="en-US" sz="765" b="0" i="0" u="none" strike="noStrike" kern="1200" cap="none" spc="0" normalizeH="0" baseline="0" noProof="0">
              <a:ln>
                <a:noFill/>
              </a:ln>
              <a:solidFill>
                <a:srgbClr val="D5E0EA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E01A63-DFDA-F973-B227-3D4B598DB941}"/>
              </a:ext>
            </a:extLst>
          </p:cNvPr>
          <p:cNvSpPr txBox="1"/>
          <p:nvPr/>
        </p:nvSpPr>
        <p:spPr>
          <a:xfrm>
            <a:off x="4800600" y="4334834"/>
            <a:ext cx="1047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8AF0A6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0.7417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AF0A6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1E6CFE-36CE-9D86-EA0E-E544E65CED4F}"/>
              </a:ext>
            </a:extLst>
          </p:cNvPr>
          <p:cNvSpPr txBox="1"/>
          <p:nvPr/>
        </p:nvSpPr>
        <p:spPr>
          <a:xfrm>
            <a:off x="4800600" y="4638675"/>
            <a:ext cx="114300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88" b="1" i="0" u="none" strike="noStrike" kern="1200" cap="none" spc="0" normalizeH="0" baseline="0" noProof="0" dirty="0">
                <a:ln>
                  <a:noFill/>
                </a:ln>
                <a:solidFill>
                  <a:srgbClr val="AFC4D7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Recall</a:t>
            </a:r>
            <a:endParaRPr kumimoji="0" lang="ko-KR" altLang="en-US" sz="788" b="1" i="0" u="none" strike="noStrike" kern="1200" cap="none" spc="0" normalizeH="0" baseline="0" noProof="0" dirty="0">
              <a:ln>
                <a:noFill/>
              </a:ln>
              <a:solidFill>
                <a:srgbClr val="AFC4D7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1E984D-730A-5C4B-43ED-FE3CDDEAD94A}"/>
              </a:ext>
            </a:extLst>
          </p:cNvPr>
          <p:cNvSpPr txBox="1"/>
          <p:nvPr/>
        </p:nvSpPr>
        <p:spPr>
          <a:xfrm>
            <a:off x="5962650" y="4334834"/>
            <a:ext cx="1047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6CA7FF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0.6919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srgbClr val="6CA7FF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973DB3-59C0-530A-A614-1B1F965DDAE5}"/>
              </a:ext>
            </a:extLst>
          </p:cNvPr>
          <p:cNvSpPr txBox="1"/>
          <p:nvPr/>
        </p:nvSpPr>
        <p:spPr>
          <a:xfrm>
            <a:off x="5962650" y="4638675"/>
            <a:ext cx="114300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88" b="1" i="0" u="none" strike="noStrike" kern="1200" cap="none" spc="0" normalizeH="0" baseline="0" noProof="0">
                <a:ln>
                  <a:noFill/>
                </a:ln>
                <a:solidFill>
                  <a:srgbClr val="AFC4D7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F1</a:t>
            </a:r>
            <a:endParaRPr kumimoji="0" lang="ko-KR" altLang="en-US" sz="788" b="1" i="0" u="none" strike="noStrike" kern="1200" cap="none" spc="0" normalizeH="0" baseline="0" noProof="0">
              <a:ln>
                <a:noFill/>
              </a:ln>
              <a:solidFill>
                <a:srgbClr val="AFC4D7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698C00-D768-D570-B370-B59367193555}"/>
              </a:ext>
            </a:extLst>
          </p:cNvPr>
          <p:cNvSpPr txBox="1"/>
          <p:nvPr/>
        </p:nvSpPr>
        <p:spPr>
          <a:xfrm>
            <a:off x="7124700" y="4334834"/>
            <a:ext cx="1047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srgbClr val="F6B35A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0.3109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srgbClr val="F6B35A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053D0B-AF6C-274A-B465-74FD7AAA7E3B}"/>
              </a:ext>
            </a:extLst>
          </p:cNvPr>
          <p:cNvSpPr txBox="1"/>
          <p:nvPr/>
        </p:nvSpPr>
        <p:spPr>
          <a:xfrm>
            <a:off x="7124700" y="4638675"/>
            <a:ext cx="1143000" cy="121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88" b="1" i="0" u="none" strike="noStrike" kern="1200" cap="none" spc="0" normalizeH="0" baseline="0" noProof="0">
                <a:ln>
                  <a:noFill/>
                </a:ln>
                <a:solidFill>
                  <a:srgbClr val="AFC4D7"/>
                </a:solidFill>
                <a:effectLst/>
                <a:uLnTx/>
                <a:uFillTx/>
                <a:latin typeface="Malgun Gothic" panose="020B0503020000020004" pitchFamily="50" charset="-127"/>
                <a:ea typeface="Malgun Gothic" panose="020B0503020000020004" pitchFamily="50" charset="-127"/>
                <a:cs typeface="+mn-cs"/>
              </a:rPr>
              <a:t>threshold</a:t>
            </a:r>
            <a:endParaRPr kumimoji="0" lang="ko-KR" altLang="en-US" sz="788" b="1" i="0" u="none" strike="noStrike" kern="1200" cap="none" spc="0" normalizeH="0" baseline="0" noProof="0">
              <a:ln>
                <a:noFill/>
              </a:ln>
              <a:solidFill>
                <a:srgbClr val="AFC4D7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57" name="data-ribbon">
            <a:extLst>
              <a:ext uri="{FF2B5EF4-FFF2-40B4-BE49-F238E27FC236}">
                <a16:creationId xmlns:a16="http://schemas.microsoft.com/office/drawing/2014/main" id="{5E2559E7-4FE4-4D84-2344-06598CF898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007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6330A0-B641-8034-6C49-7407D86D2ED2}"/>
              </a:ext>
            </a:extLst>
          </p:cNvPr>
          <p:cNvSpPr/>
          <p:nvPr/>
        </p:nvSpPr>
        <p:spPr>
          <a:xfrm>
            <a:off x="-55266" y="0"/>
            <a:ext cx="9199266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531EE2-AAE7-F4A8-25B1-6605FC06794A}"/>
              </a:ext>
            </a:extLst>
          </p:cNvPr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FD09056-F92B-56F0-A20F-D4D9E2752B86}"/>
              </a:ext>
            </a:extLst>
          </p:cNvPr>
          <p:cNvSpPr/>
          <p:nvPr/>
        </p:nvSpPr>
        <p:spPr>
          <a:xfrm>
            <a:off x="406400" y="190500"/>
            <a:ext cx="1075418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1F4B2-7B0D-2EDA-5CB1-9B8F44826D25}"/>
              </a:ext>
            </a:extLst>
          </p:cNvPr>
          <p:cNvSpPr txBox="1"/>
          <p:nvPr/>
        </p:nvSpPr>
        <p:spPr>
          <a:xfrm>
            <a:off x="546100" y="330200"/>
            <a:ext cx="82141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2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 원칙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4DBBD-7269-665E-2EBF-C897B05E2E92}"/>
              </a:ext>
            </a:extLst>
          </p:cNvPr>
          <p:cNvSpPr txBox="1"/>
          <p:nvPr/>
        </p:nvSpPr>
        <p:spPr>
          <a:xfrm>
            <a:off x="457200" y="1028700"/>
            <a:ext cx="4953000" cy="3577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2325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232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설계 원칙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92670-FC25-F276-C1B5-97049951D497}"/>
              </a:ext>
            </a:extLst>
          </p:cNvPr>
          <p:cNvSpPr txBox="1"/>
          <p:nvPr/>
        </p:nvSpPr>
        <p:spPr>
          <a:xfrm>
            <a:off x="476250" y="1581150"/>
            <a:ext cx="742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 단위 예측을 위해 청구 이력을 집계하고</a:t>
            </a:r>
            <a:r>
              <a:rPr lang="en-US" altLang="ko-KR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누수 가능성을 줄이며 반복 실험 가능한 구조를 만들었습니다</a:t>
            </a:r>
            <a:r>
              <a:rPr lang="en-US" altLang="ko-KR" sz="12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908E6F3-43DA-6E40-086C-659A4E5D1E00}"/>
              </a:ext>
            </a:extLst>
          </p:cNvPr>
          <p:cNvSpPr/>
          <p:nvPr/>
        </p:nvSpPr>
        <p:spPr>
          <a:xfrm>
            <a:off x="457200" y="2133600"/>
            <a:ext cx="2628900" cy="1123950"/>
          </a:xfrm>
          <a:prstGeom prst="roundRect">
            <a:avLst/>
          </a:prstGeom>
          <a:solidFill>
            <a:srgbClr val="0B1823"/>
          </a:solidFill>
          <a:ln w="14605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BFA6490-2BE7-7F47-AF7C-212743F9129A}"/>
              </a:ext>
            </a:extLst>
          </p:cNvPr>
          <p:cNvSpPr/>
          <p:nvPr/>
        </p:nvSpPr>
        <p:spPr>
          <a:xfrm>
            <a:off x="628650" y="2305050"/>
            <a:ext cx="400050" cy="400050"/>
          </a:xfrm>
          <a:prstGeom prst="ellipse">
            <a:avLst/>
          </a:prstGeom>
          <a:solidFill>
            <a:srgbClr val="5A9BFF"/>
          </a:solidFill>
          <a:ln w="127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80875-2319-B5C5-ED5C-01B7E5649070}"/>
              </a:ext>
            </a:extLst>
          </p:cNvPr>
          <p:cNvSpPr txBox="1"/>
          <p:nvPr/>
        </p:nvSpPr>
        <p:spPr>
          <a:xfrm>
            <a:off x="628650" y="2404583"/>
            <a:ext cx="400050" cy="1731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1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</a:t>
            </a:r>
            <a:endParaRPr lang="ko-KR" altLang="en-US" sz="11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A604F-17FE-8FCB-EBDF-501237930E2A}"/>
              </a:ext>
            </a:extLst>
          </p:cNvPr>
          <p:cNvSpPr txBox="1"/>
          <p:nvPr/>
        </p:nvSpPr>
        <p:spPr>
          <a:xfrm>
            <a:off x="1139675" y="2291881"/>
            <a:ext cx="169545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5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 연결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12FDCA-3449-4863-DC8E-AAC51DF54E6D}"/>
              </a:ext>
            </a:extLst>
          </p:cNvPr>
          <p:cNvSpPr txBox="1"/>
          <p:nvPr/>
        </p:nvSpPr>
        <p:spPr>
          <a:xfrm>
            <a:off x="1148561" y="2597639"/>
            <a:ext cx="1737514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 정보와 청구 데이터를 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CUST_ID 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기준으로 연결하고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최종 예측 단위를 고객으로 맞췄습니다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A61F958-4F14-6655-4145-0198AF2E6DE1}"/>
              </a:ext>
            </a:extLst>
          </p:cNvPr>
          <p:cNvSpPr/>
          <p:nvPr/>
        </p:nvSpPr>
        <p:spPr>
          <a:xfrm>
            <a:off x="3257550" y="2133600"/>
            <a:ext cx="2628900" cy="1123950"/>
          </a:xfrm>
          <a:prstGeom prst="roundRect">
            <a:avLst/>
          </a:prstGeom>
          <a:solidFill>
            <a:srgbClr val="0B1823"/>
          </a:solidFill>
          <a:ln w="14605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3EF3FB6-C9A3-913F-5918-19CBEFB4D738}"/>
              </a:ext>
            </a:extLst>
          </p:cNvPr>
          <p:cNvSpPr/>
          <p:nvPr/>
        </p:nvSpPr>
        <p:spPr>
          <a:xfrm>
            <a:off x="3429000" y="2305050"/>
            <a:ext cx="400050" cy="400050"/>
          </a:xfrm>
          <a:prstGeom prst="ellipse">
            <a:avLst/>
          </a:prstGeom>
          <a:solidFill>
            <a:srgbClr val="6CA7FF"/>
          </a:solidFill>
          <a:ln w="12700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F65A2B-8EB8-34D0-C525-F8A0099AD7F3}"/>
              </a:ext>
            </a:extLst>
          </p:cNvPr>
          <p:cNvSpPr txBox="1"/>
          <p:nvPr/>
        </p:nvSpPr>
        <p:spPr>
          <a:xfrm>
            <a:off x="3429000" y="2404583"/>
            <a:ext cx="400050" cy="1731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1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</a:t>
            </a:r>
            <a:endParaRPr lang="ko-KR" altLang="en-US" sz="11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24B08E-43D9-A591-957A-583DD94E8B0C}"/>
              </a:ext>
            </a:extLst>
          </p:cNvPr>
          <p:cNvSpPr txBox="1"/>
          <p:nvPr/>
        </p:nvSpPr>
        <p:spPr>
          <a:xfrm>
            <a:off x="3940025" y="2291881"/>
            <a:ext cx="169545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5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 이력 집계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39A411-B77A-C9A4-D7A8-18A6E49619F7}"/>
              </a:ext>
            </a:extLst>
          </p:cNvPr>
          <p:cNvSpPr txBox="1"/>
          <p:nvPr/>
        </p:nvSpPr>
        <p:spPr>
          <a:xfrm>
            <a:off x="3948911" y="2597639"/>
            <a:ext cx="169545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청구 이력을 고객별 통계로 변환해 청구 건수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금액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병원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의사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시간 패턴을 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 했습니다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1827F77-6410-3C44-98E0-D42C7AFA86E5}"/>
              </a:ext>
            </a:extLst>
          </p:cNvPr>
          <p:cNvSpPr/>
          <p:nvPr/>
        </p:nvSpPr>
        <p:spPr>
          <a:xfrm>
            <a:off x="6057900" y="2133600"/>
            <a:ext cx="2628900" cy="1123950"/>
          </a:xfrm>
          <a:prstGeom prst="roundRect">
            <a:avLst/>
          </a:prstGeom>
          <a:solidFill>
            <a:srgbClr val="0B1823"/>
          </a:solidFill>
          <a:ln w="14605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6385FB4-7B2B-7528-B361-44817CA3EE40}"/>
              </a:ext>
            </a:extLst>
          </p:cNvPr>
          <p:cNvSpPr/>
          <p:nvPr/>
        </p:nvSpPr>
        <p:spPr>
          <a:xfrm>
            <a:off x="6229350" y="2305050"/>
            <a:ext cx="400050" cy="400050"/>
          </a:xfrm>
          <a:prstGeom prst="ellipse">
            <a:avLst/>
          </a:prstGeom>
          <a:solidFill>
            <a:srgbClr val="5A9BFF"/>
          </a:solidFill>
          <a:ln w="127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8AB7A8-486D-B39A-5CA0-52D17EFB6D30}"/>
              </a:ext>
            </a:extLst>
          </p:cNvPr>
          <p:cNvSpPr txBox="1"/>
          <p:nvPr/>
        </p:nvSpPr>
        <p:spPr>
          <a:xfrm>
            <a:off x="6229350" y="2404583"/>
            <a:ext cx="400050" cy="1731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1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</a:t>
            </a:r>
            <a:endParaRPr lang="ko-KR" altLang="en-US" sz="11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ABF16B-2798-2D97-A95A-51BCA6323E6B}"/>
              </a:ext>
            </a:extLst>
          </p:cNvPr>
          <p:cNvSpPr txBox="1"/>
          <p:nvPr/>
        </p:nvSpPr>
        <p:spPr>
          <a:xfrm>
            <a:off x="6740375" y="2291881"/>
            <a:ext cx="169545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5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결측 처리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ABA9F1-E992-1433-8581-92DC6ABC7365}"/>
              </a:ext>
            </a:extLst>
          </p:cNvPr>
          <p:cNvSpPr txBox="1"/>
          <p:nvPr/>
        </p:nvSpPr>
        <p:spPr>
          <a:xfrm>
            <a:off x="6749261" y="2597639"/>
            <a:ext cx="169545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중앙값 대체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0 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대체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indicator 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생성 등 컬럼 특성에 맞게 결측 처리 방식을 선택했습니다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0FB886F-30D2-4608-8A8B-557F137D27E4}"/>
              </a:ext>
            </a:extLst>
          </p:cNvPr>
          <p:cNvSpPr/>
          <p:nvPr/>
        </p:nvSpPr>
        <p:spPr>
          <a:xfrm>
            <a:off x="457200" y="3505200"/>
            <a:ext cx="4019550" cy="1066800"/>
          </a:xfrm>
          <a:prstGeom prst="roundRect">
            <a:avLst/>
          </a:prstGeom>
          <a:solidFill>
            <a:srgbClr val="0B1823"/>
          </a:solidFill>
          <a:ln w="14605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CC4AA5E-3E98-DCD1-26D1-947610B73F93}"/>
              </a:ext>
            </a:extLst>
          </p:cNvPr>
          <p:cNvSpPr/>
          <p:nvPr/>
        </p:nvSpPr>
        <p:spPr>
          <a:xfrm>
            <a:off x="628650" y="3676650"/>
            <a:ext cx="400050" cy="400050"/>
          </a:xfrm>
          <a:prstGeom prst="ellipse">
            <a:avLst/>
          </a:prstGeom>
          <a:solidFill>
            <a:srgbClr val="6CA7FF"/>
          </a:solidFill>
          <a:ln w="12700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12F15F-D9F0-6065-EBE7-45711FADC886}"/>
              </a:ext>
            </a:extLst>
          </p:cNvPr>
          <p:cNvSpPr txBox="1"/>
          <p:nvPr/>
        </p:nvSpPr>
        <p:spPr>
          <a:xfrm>
            <a:off x="628650" y="3776183"/>
            <a:ext cx="400050" cy="1731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125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</a:t>
            </a:r>
            <a:endParaRPr lang="ko-KR" altLang="en-US" sz="1125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5FCB79-C299-4B6A-7FF6-29C671267DCF}"/>
              </a:ext>
            </a:extLst>
          </p:cNvPr>
          <p:cNvSpPr txBox="1"/>
          <p:nvPr/>
        </p:nvSpPr>
        <p:spPr>
          <a:xfrm>
            <a:off x="1139675" y="3663481"/>
            <a:ext cx="3086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5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범주형 인코딩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D382B2-27DD-4994-C1DD-6BF760DE7519}"/>
              </a:ext>
            </a:extLst>
          </p:cNvPr>
          <p:cNvSpPr txBox="1"/>
          <p:nvPr/>
        </p:nvSpPr>
        <p:spPr>
          <a:xfrm>
            <a:off x="1148561" y="3969240"/>
            <a:ext cx="30861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컬럼 특성에 따라 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One-hot, Target Encoding, Frequency Encoding </a:t>
            </a:r>
            <a:r>
              <a:rPr lang="ko-KR" altLang="en-US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등을 선택적으로 적용했습니다</a:t>
            </a:r>
            <a:r>
              <a:rPr lang="en-US" altLang="ko-KR" sz="105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75B57EF-E278-E031-E3EE-CFCEDAD930AC}"/>
              </a:ext>
            </a:extLst>
          </p:cNvPr>
          <p:cNvSpPr/>
          <p:nvPr/>
        </p:nvSpPr>
        <p:spPr>
          <a:xfrm>
            <a:off x="4667250" y="3505200"/>
            <a:ext cx="4019550" cy="1066800"/>
          </a:xfrm>
          <a:prstGeom prst="roundRect">
            <a:avLst/>
          </a:prstGeom>
          <a:solidFill>
            <a:srgbClr val="0B1823"/>
          </a:solidFill>
          <a:ln w="14605">
            <a:solidFill>
              <a:srgbClr val="8AF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D8F2D51-DDB8-2DD8-C66F-38E09DA7EBBD}"/>
              </a:ext>
            </a:extLst>
          </p:cNvPr>
          <p:cNvSpPr/>
          <p:nvPr/>
        </p:nvSpPr>
        <p:spPr>
          <a:xfrm>
            <a:off x="4838700" y="3676650"/>
            <a:ext cx="400050" cy="400050"/>
          </a:xfrm>
          <a:prstGeom prst="ellipse">
            <a:avLst/>
          </a:prstGeom>
          <a:solidFill>
            <a:srgbClr val="8AF0A6"/>
          </a:solidFill>
          <a:ln w="12700">
            <a:solidFill>
              <a:srgbClr val="8AF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F6C4B-7C34-9BC6-F520-315051C17C22}"/>
              </a:ext>
            </a:extLst>
          </p:cNvPr>
          <p:cNvSpPr txBox="1"/>
          <p:nvPr/>
        </p:nvSpPr>
        <p:spPr>
          <a:xfrm>
            <a:off x="4838700" y="3776183"/>
            <a:ext cx="400050" cy="1731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125" b="1" dirty="0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05</a:t>
            </a:r>
            <a:endParaRPr lang="ko-KR" altLang="en-US" sz="1125" b="1" dirty="0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A9C1CA-B1E8-737E-0562-B5D17EF56B8C}"/>
              </a:ext>
            </a:extLst>
          </p:cNvPr>
          <p:cNvSpPr txBox="1"/>
          <p:nvPr/>
        </p:nvSpPr>
        <p:spPr>
          <a:xfrm>
            <a:off x="5349725" y="3663481"/>
            <a:ext cx="3086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5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누수 없는 </a:t>
            </a:r>
            <a:r>
              <a:rPr lang="en-US" altLang="ko-KR" sz="15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Fit/Transform</a:t>
            </a:r>
            <a:endParaRPr lang="ko-KR" altLang="en-US" sz="1500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A2A4C5-A4DE-B5D3-EEBC-975E15B2862F}"/>
              </a:ext>
            </a:extLst>
          </p:cNvPr>
          <p:cNvSpPr txBox="1"/>
          <p:nvPr/>
        </p:nvSpPr>
        <p:spPr>
          <a:xfrm>
            <a:off x="5368136" y="3969240"/>
            <a:ext cx="30861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인코더와 </a:t>
            </a:r>
            <a:r>
              <a:rPr lang="ko-KR" altLang="en-US" sz="1050" dirty="0" err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스케일러는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학습 데이터 기준 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fit, 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평가 데이터에는 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transform</a:t>
            </a:r>
            <a:r>
              <a:rPr lang="ko-KR" altLang="en-US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적용하는 구조를 원칙으로 삼았습니다</a:t>
            </a:r>
            <a:r>
              <a:rPr lang="en-US" altLang="ko-KR" sz="1050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8B72AD9-4CA4-02F6-768A-CF3566903060}"/>
              </a:ext>
            </a:extLst>
          </p:cNvPr>
          <p:cNvSpPr/>
          <p:nvPr/>
        </p:nvSpPr>
        <p:spPr>
          <a:xfrm>
            <a:off x="457201" y="4730281"/>
            <a:ext cx="8191244" cy="241769"/>
          </a:xfrm>
          <a:prstGeom prst="roundRect">
            <a:avLst/>
          </a:prstGeom>
          <a:solidFill>
            <a:srgbClr val="103D22"/>
          </a:solidFill>
          <a:ln w="12700">
            <a:solidFill>
              <a:srgbClr val="103D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30CF98-2393-0F07-83B3-49116A15A154}"/>
              </a:ext>
            </a:extLst>
          </p:cNvPr>
          <p:cNvSpPr txBox="1"/>
          <p:nvPr/>
        </p:nvSpPr>
        <p:spPr>
          <a:xfrm>
            <a:off x="647700" y="4787112"/>
            <a:ext cx="7810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요약</a:t>
            </a:r>
            <a:r>
              <a:rPr lang="en-US" altLang="ko-KR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 단위 집계 → 안전한 결측</a:t>
            </a:r>
            <a:r>
              <a:rPr lang="en-US" altLang="ko-KR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인코딩 → </a:t>
            </a:r>
            <a:r>
              <a:rPr lang="en-US" altLang="ko-KR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train </a:t>
            </a:r>
            <a:r>
              <a:rPr lang="ko-KR" altLang="en-US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</a:t>
            </a:r>
            <a:r>
              <a:rPr lang="en-US" altLang="ko-KR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fit, test transform </a:t>
            </a:r>
            <a:r>
              <a:rPr lang="ko-KR" altLang="en-US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구조로 실험 재현성을 확보했습니다</a:t>
            </a:r>
            <a:r>
              <a:rPr lang="en-US" altLang="ko-KR" sz="105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7672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9521" y="968320"/>
            <a:ext cx="8647956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전처리는 파일 단위 작업이 아니라</a:t>
            </a:r>
            <a:r>
              <a:rPr kumimoji="0" lang="en-US" altLang="ko-KR" sz="11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kumimoji="0" lang="ko-KR" alt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선택된 전략 클래스가 공통 파이프라인 안에서 순차적으로 실행되도록 하였습니다</a:t>
            </a:r>
            <a:r>
              <a:rPr kumimoji="0" lang="en-US" altLang="ko-KR" sz="11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68" y="604986"/>
            <a:ext cx="8011790" cy="4887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84" y="1550675"/>
            <a:ext cx="1825914" cy="25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1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BEDF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원천 CSV 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0677" y="2290337"/>
            <a:ext cx="432393" cy="4323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37921" y="3726962"/>
            <a:ext cx="1825914" cy="25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1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BEDF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타깃 정규화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7715" y="2553961"/>
            <a:ext cx="432393" cy="4323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93860" y="1783761"/>
            <a:ext cx="1885233" cy="25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1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BEDF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전략 클래스 선택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84616" y="2817586"/>
            <a:ext cx="432393" cy="4323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59555" y="4293261"/>
            <a:ext cx="1825914" cy="25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1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BEDF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고객/청구 전처리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51383" y="3081210"/>
            <a:ext cx="432393" cy="43239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80217" y="2292769"/>
            <a:ext cx="1825914" cy="25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1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BEDF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Feature 생성·병합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06115" y="3364292"/>
            <a:ext cx="432393" cy="43239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48022" y="5531867"/>
            <a:ext cx="8647956" cy="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EBEDF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전략 클래스는 단계 3에서 주입되며, 이후 모든 변환 로직은 동일한 공통 파이프라인을 통해 실행됩니다. 이를 통해 전략 간 공정한 비교가 가능합니다.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C790E6-D396-F662-C479-F3B8FBF84B6A}"/>
              </a:ext>
            </a:extLst>
          </p:cNvPr>
          <p:cNvSpPr/>
          <p:nvPr/>
        </p:nvSpPr>
        <p:spPr>
          <a:xfrm>
            <a:off x="7187906" y="4817591"/>
            <a:ext cx="1906137" cy="241102"/>
          </a:xfrm>
          <a:prstGeom prst="rect">
            <a:avLst/>
          </a:prstGeom>
          <a:solidFill>
            <a:srgbClr val="09151B"/>
          </a:solidFill>
          <a:ln>
            <a:solidFill>
              <a:srgbClr val="091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data-ribbon">
            <a:extLst>
              <a:ext uri="{FF2B5EF4-FFF2-40B4-BE49-F238E27FC236}">
                <a16:creationId xmlns:a16="http://schemas.microsoft.com/office/drawing/2014/main" id="{70C5CE50-5167-7B76-9C01-BECF2D94F2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0A5C7A0-21EC-2B60-674B-4C920FD0AB1A}"/>
              </a:ext>
            </a:extLst>
          </p:cNvPr>
          <p:cNvSpPr/>
          <p:nvPr/>
        </p:nvSpPr>
        <p:spPr>
          <a:xfrm>
            <a:off x="406399" y="190500"/>
            <a:ext cx="1900011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" name="Text 0"/>
          <p:cNvSpPr/>
          <p:nvPr/>
        </p:nvSpPr>
        <p:spPr>
          <a:xfrm>
            <a:off x="534388" y="282587"/>
            <a:ext cx="177202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A9B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전처리 파이프라인 흐름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A9BFF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g">
            <a:extLst>
              <a:ext uri="{FF2B5EF4-FFF2-40B4-BE49-F238E27FC236}">
                <a16:creationId xmlns:a16="http://schemas.microsoft.com/office/drawing/2014/main" id="{1C15B4A5-7D73-4C24-9B4C-2D3151868C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205232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D23DE8CE-EF3C-466B-9A4A-E65A116813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6212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A4B1BC43-BA7D-4590-A638-953CA25745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44F6454-27EB-455A-A48F-A72CE5AD3A0A}"/>
              </a:ext>
            </a:extLst>
          </p:cNvPr>
          <p:cNvSpPr>
            <a:spLocks noGrp="1"/>
          </p:cNvSpPr>
          <p:nvPr/>
        </p:nvSpPr>
        <p:spPr>
          <a:xfrm>
            <a:off x="406399" y="190500"/>
            <a:ext cx="1157061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64FC-FCD5-42BC-8707-6DF0C5892AB7}"/>
              </a:ext>
            </a:extLst>
          </p:cNvPr>
          <p:cNvSpPr>
            <a:spLocks noGrp="1"/>
          </p:cNvSpPr>
          <p:nvPr/>
        </p:nvSpPr>
        <p:spPr>
          <a:xfrm>
            <a:off x="546100" y="310785"/>
            <a:ext cx="901700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전처리 전략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5BA558-05BF-4825-8397-ED7321FECB15}"/>
              </a:ext>
            </a:extLst>
          </p:cNvPr>
          <p:cNvSpPr>
            <a:spLocks noGrp="1"/>
          </p:cNvSpPr>
          <p:nvPr/>
        </p:nvSpPr>
        <p:spPr>
          <a:xfrm>
            <a:off x="406400" y="774700"/>
            <a:ext cx="82867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9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김동환 전처리 전략 (v1 → v4)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33F36C-F817-46D9-95A6-E4497F60F6CA}"/>
              </a:ext>
            </a:extLst>
          </p:cNvPr>
          <p:cNvSpPr>
            <a:spLocks noGrp="1"/>
          </p:cNvSpPr>
          <p:nvPr/>
        </p:nvSpPr>
        <p:spPr>
          <a:xfrm>
            <a:off x="406400" y="1193800"/>
            <a:ext cx="598678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2025" i="1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결측 처리와 데이터 누수 방지를 바탕으로, 기본 집계에서 비지도 학습·청구 파생변수 생성 및 선택까지 단계적으로 확장한 전략입니다.</a:t>
            </a:r>
            <a:endParaRPr sz="1013" b="1" i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EDDC1D-E612-4A1A-BBC4-68E09899A2AC}"/>
              </a:ext>
            </a:extLst>
          </p:cNvPr>
          <p:cNvSpPr>
            <a:spLocks noGrp="1"/>
          </p:cNvSpPr>
          <p:nvPr/>
        </p:nvSpPr>
        <p:spPr>
          <a:xfrm>
            <a:off x="406400" y="1625600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2CF8D31-E029-4311-A6CB-159917146EF1}"/>
              </a:ext>
            </a:extLst>
          </p:cNvPr>
          <p:cNvSpPr>
            <a:spLocks noGrp="1"/>
          </p:cNvSpPr>
          <p:nvPr/>
        </p:nvSpPr>
        <p:spPr>
          <a:xfrm>
            <a:off x="428625" y="1776679"/>
            <a:ext cx="514350" cy="514350"/>
          </a:xfrm>
          <a:prstGeom prst="roundRect">
            <a:avLst>
              <a:gd name="adj" fmla="val 16667"/>
            </a:avLst>
          </a:prstGeom>
          <a:solidFill>
            <a:srgbClr val="101923"/>
          </a:solidFill>
          <a:ln w="28575">
            <a:solidFill>
              <a:srgbClr val="0F4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C14705-1F27-40FF-A83D-A86795AD966C}"/>
              </a:ext>
            </a:extLst>
          </p:cNvPr>
          <p:cNvSpPr>
            <a:spLocks noGrp="1"/>
          </p:cNvSpPr>
          <p:nvPr/>
        </p:nvSpPr>
        <p:spPr>
          <a:xfrm>
            <a:off x="623887" y="1903323"/>
            <a:ext cx="514350" cy="514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E12AC6-200E-47FB-AEB6-A2FE1C70B8EB}"/>
              </a:ext>
            </a:extLst>
          </p:cNvPr>
          <p:cNvSpPr>
            <a:spLocks noGrp="1"/>
          </p:cNvSpPr>
          <p:nvPr/>
        </p:nvSpPr>
        <p:spPr>
          <a:xfrm>
            <a:off x="1066800" y="1781175"/>
            <a:ext cx="4838700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v1 </a:t>
            </a:r>
            <a:r>
              <a:rPr lang="en-US"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기본 집계 및 전처리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E82500-59DE-4CE5-A66F-37B824F0FF3C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5105398" cy="4762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고객/청구 기본 집계(건수, 금액, 평균), 결측 처리, Target Encoding, IQR·Robust scaling</a:t>
            </a:r>
            <a:endParaRPr lang="en-US" altLang="ko-KR" sz="863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863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36E02F3-EE2F-46B2-A52A-C993FAEFAE4D}"/>
              </a:ext>
            </a:extLst>
          </p:cNvPr>
          <p:cNvSpPr>
            <a:spLocks noGrp="1"/>
          </p:cNvSpPr>
          <p:nvPr/>
        </p:nvSpPr>
        <p:spPr>
          <a:xfrm>
            <a:off x="428625" y="2336400"/>
            <a:ext cx="514350" cy="514350"/>
          </a:xfrm>
          <a:prstGeom prst="roundRect">
            <a:avLst>
              <a:gd name="adj" fmla="val 16667"/>
            </a:avLst>
          </a:prstGeom>
          <a:solidFill>
            <a:srgbClr val="101923"/>
          </a:solidFill>
          <a:ln w="28575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833E84-D8CF-4B39-9322-55722A2F4987}"/>
              </a:ext>
            </a:extLst>
          </p:cNvPr>
          <p:cNvSpPr>
            <a:spLocks noGrp="1"/>
          </p:cNvSpPr>
          <p:nvPr/>
        </p:nvSpPr>
        <p:spPr>
          <a:xfrm>
            <a:off x="623887" y="2462400"/>
            <a:ext cx="514350" cy="514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FD5E9D8-5608-4C5C-85F6-12E09ECCABB6}"/>
              </a:ext>
            </a:extLst>
          </p:cNvPr>
          <p:cNvSpPr>
            <a:spLocks noGrp="1"/>
          </p:cNvSpPr>
          <p:nvPr/>
        </p:nvSpPr>
        <p:spPr>
          <a:xfrm>
            <a:off x="1066800" y="2340000"/>
            <a:ext cx="4838700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v2 </a:t>
            </a:r>
            <a:r>
              <a:rPr lang="en-US"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비지도 학습 (KMeans 군집)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522A72-8BE2-404A-A993-6F22D1DAF76D}"/>
              </a:ext>
            </a:extLst>
          </p:cNvPr>
          <p:cNvSpPr>
            <a:spLocks noGrp="1"/>
          </p:cNvSpPr>
          <p:nvPr/>
        </p:nvSpPr>
        <p:spPr>
          <a:xfrm>
            <a:off x="1066799" y="2577600"/>
            <a:ext cx="5019675" cy="3238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DIVIDED_SET=1 기준으로만 KMeans를 적합 — 군집 레이블과 중심 거리를 변수로 추가</a:t>
            </a:r>
            <a:endParaRPr lang="en-US" altLang="ko-KR" sz="863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endParaRPr lang="en-US" sz="863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endParaRPr sz="863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4E7A808-6D05-45CB-B06B-BF4006EF8919}"/>
              </a:ext>
            </a:extLst>
          </p:cNvPr>
          <p:cNvSpPr>
            <a:spLocks noGrp="1"/>
          </p:cNvSpPr>
          <p:nvPr/>
        </p:nvSpPr>
        <p:spPr>
          <a:xfrm>
            <a:off x="428625" y="2894399"/>
            <a:ext cx="514350" cy="514350"/>
          </a:xfrm>
          <a:prstGeom prst="roundRect">
            <a:avLst>
              <a:gd name="adj" fmla="val 16667"/>
            </a:avLst>
          </a:prstGeom>
          <a:solidFill>
            <a:srgbClr val="101923"/>
          </a:solidFill>
          <a:ln w="28575">
            <a:solidFill>
              <a:srgbClr val="0F4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358E74-2839-434D-8249-D82705ABDD2C}"/>
              </a:ext>
            </a:extLst>
          </p:cNvPr>
          <p:cNvSpPr>
            <a:spLocks noGrp="1"/>
          </p:cNvSpPr>
          <p:nvPr/>
        </p:nvSpPr>
        <p:spPr>
          <a:xfrm>
            <a:off x="638175" y="3020399"/>
            <a:ext cx="514350" cy="514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683331-91F1-45C5-8DB3-C91CEAF95A41}"/>
              </a:ext>
            </a:extLst>
          </p:cNvPr>
          <p:cNvSpPr>
            <a:spLocks noGrp="1"/>
          </p:cNvSpPr>
          <p:nvPr/>
        </p:nvSpPr>
        <p:spPr>
          <a:xfrm>
            <a:off x="1066800" y="2897999"/>
            <a:ext cx="4838700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v3 </a:t>
            </a:r>
            <a:r>
              <a:rPr lang="en-US"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파생변수 추가 (청구 집계 기반)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3435D9-27E5-43B0-ADC8-4EF39AE74297}"/>
              </a:ext>
            </a:extLst>
          </p:cNvPr>
          <p:cNvSpPr>
            <a:spLocks noGrp="1"/>
          </p:cNvSpPr>
          <p:nvPr/>
        </p:nvSpPr>
        <p:spPr>
          <a:xfrm>
            <a:off x="1066800" y="3135599"/>
            <a:ext cx="4724400" cy="3238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863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청구 금액 통계, 의사·병원 이용 패턴, 사고 유형 등 고객별 주요 항목을 집계하여 파생변수로 추가</a:t>
            </a:r>
          </a:p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endParaRPr sz="863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5E644B3-0D0B-4C17-9781-437006242B8D}"/>
              </a:ext>
            </a:extLst>
          </p:cNvPr>
          <p:cNvSpPr>
            <a:spLocks noGrp="1"/>
          </p:cNvSpPr>
          <p:nvPr/>
        </p:nvSpPr>
        <p:spPr>
          <a:xfrm>
            <a:off x="6464752" y="1604325"/>
            <a:ext cx="2543175" cy="17384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85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425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sz="1425" b="1" dirty="0">
              <a:solidFill>
                <a:srgbClr val="F3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739E632-70B9-494C-A0E1-7348DBFBB194}"/>
              </a:ext>
            </a:extLst>
          </p:cNvPr>
          <p:cNvSpPr>
            <a:spLocks noGrp="1"/>
          </p:cNvSpPr>
          <p:nvPr/>
        </p:nvSpPr>
        <p:spPr>
          <a:xfrm>
            <a:off x="6464753" y="1893075"/>
            <a:ext cx="2543175" cy="1580042"/>
          </a:xfrm>
          <a:prstGeom prst="roundRect">
            <a:avLst>
              <a:gd name="adj" fmla="val 6410"/>
            </a:avLst>
          </a:prstGeom>
          <a:noFill/>
          <a:ln w="9525">
            <a:solidFill>
              <a:srgbClr val="3C5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12B8B79-15DD-4097-8E8B-072E76FDC8F3}"/>
              </a:ext>
            </a:extLst>
          </p:cNvPr>
          <p:cNvSpPr>
            <a:spLocks noGrp="1"/>
          </p:cNvSpPr>
          <p:nvPr/>
        </p:nvSpPr>
        <p:spPr>
          <a:xfrm>
            <a:off x="6598103" y="1922818"/>
            <a:ext cx="1095375" cy="22273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v1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C200CF-BFAA-45B4-8E8C-6176615DC190}"/>
              </a:ext>
            </a:extLst>
          </p:cNvPr>
          <p:cNvSpPr>
            <a:spLocks noGrp="1"/>
          </p:cNvSpPr>
          <p:nvPr/>
        </p:nvSpPr>
        <p:spPr>
          <a:xfrm>
            <a:off x="6598103" y="2025028"/>
            <a:ext cx="1095375" cy="389793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F1 0.56</a:t>
            </a:r>
            <a:r>
              <a:rPr lang="en-US"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A57A11-4151-4401-BE68-AC1F712F7C9D}"/>
              </a:ext>
            </a:extLst>
          </p:cNvPr>
          <p:cNvSpPr>
            <a:spLocks noGrp="1"/>
          </p:cNvSpPr>
          <p:nvPr/>
        </p:nvSpPr>
        <p:spPr>
          <a:xfrm>
            <a:off x="6598103" y="2281721"/>
            <a:ext cx="1095375" cy="16705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12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Recall 0.</a:t>
            </a:r>
            <a:r>
              <a:rPr lang="en-US"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5517</a:t>
            </a:r>
            <a:endParaRPr sz="800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54B2B6-5FBF-4875-9BCB-2AEA47D7DD5F}"/>
              </a:ext>
            </a:extLst>
          </p:cNvPr>
          <p:cNvSpPr>
            <a:spLocks noGrp="1"/>
          </p:cNvSpPr>
          <p:nvPr/>
        </p:nvSpPr>
        <p:spPr>
          <a:xfrm>
            <a:off x="7779203" y="1922818"/>
            <a:ext cx="1095375" cy="22273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v2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A266F45-93B4-4AE5-9D61-8E1FC26BB157}"/>
              </a:ext>
            </a:extLst>
          </p:cNvPr>
          <p:cNvSpPr>
            <a:spLocks noGrp="1"/>
          </p:cNvSpPr>
          <p:nvPr/>
        </p:nvSpPr>
        <p:spPr>
          <a:xfrm>
            <a:off x="7779203" y="2025028"/>
            <a:ext cx="1095375" cy="389793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F1 0.5</a:t>
            </a:r>
            <a:r>
              <a:rPr lang="en-US"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689</a:t>
            </a:r>
            <a:endParaRPr sz="1275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B23DBBF-921B-400B-B6BA-20A0484D143F}"/>
              </a:ext>
            </a:extLst>
          </p:cNvPr>
          <p:cNvSpPr>
            <a:spLocks noGrp="1"/>
          </p:cNvSpPr>
          <p:nvPr/>
        </p:nvSpPr>
        <p:spPr>
          <a:xfrm>
            <a:off x="7779203" y="2267842"/>
            <a:ext cx="1095375" cy="16705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12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Recall 0.</a:t>
            </a:r>
            <a:r>
              <a:rPr lang="en-US"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6476</a:t>
            </a:r>
            <a:endParaRPr sz="800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FCFBFB1-919D-417A-B5BF-578BE4471DB9}"/>
              </a:ext>
            </a:extLst>
          </p:cNvPr>
          <p:cNvSpPr>
            <a:spLocks noGrp="1"/>
          </p:cNvSpPr>
          <p:nvPr/>
        </p:nvSpPr>
        <p:spPr>
          <a:xfrm>
            <a:off x="6598103" y="2475268"/>
            <a:ext cx="1095375" cy="22273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v3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B3EAE6D-D693-41BF-A062-E3D4400C19CC}"/>
              </a:ext>
            </a:extLst>
          </p:cNvPr>
          <p:cNvSpPr>
            <a:spLocks noGrp="1"/>
          </p:cNvSpPr>
          <p:nvPr/>
        </p:nvSpPr>
        <p:spPr>
          <a:xfrm>
            <a:off x="6598103" y="2567953"/>
            <a:ext cx="1095375" cy="389793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F1 0.6</a:t>
            </a:r>
            <a:r>
              <a:rPr lang="en-US"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187</a:t>
            </a:r>
            <a:endParaRPr sz="1275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7BCD43-2BFF-43C4-9D3C-011045BC7870}"/>
              </a:ext>
            </a:extLst>
          </p:cNvPr>
          <p:cNvSpPr>
            <a:spLocks noGrp="1"/>
          </p:cNvSpPr>
          <p:nvPr/>
        </p:nvSpPr>
        <p:spPr>
          <a:xfrm>
            <a:off x="6598103" y="2798284"/>
            <a:ext cx="1095375" cy="15186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12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Recall 0.</a:t>
            </a:r>
            <a:r>
              <a:rPr lang="en-US"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6347</a:t>
            </a:r>
            <a:endParaRPr sz="800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A72A37D-1379-465B-9075-95775E7EC874}"/>
              </a:ext>
            </a:extLst>
          </p:cNvPr>
          <p:cNvSpPr>
            <a:spLocks noGrp="1"/>
          </p:cNvSpPr>
          <p:nvPr/>
        </p:nvSpPr>
        <p:spPr>
          <a:xfrm>
            <a:off x="7779203" y="2475268"/>
            <a:ext cx="1095375" cy="22273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v4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DC4A64-A7BA-485B-93ED-21D440688716}"/>
              </a:ext>
            </a:extLst>
          </p:cNvPr>
          <p:cNvSpPr>
            <a:spLocks noGrp="1"/>
          </p:cNvSpPr>
          <p:nvPr/>
        </p:nvSpPr>
        <p:spPr>
          <a:xfrm>
            <a:off x="7779203" y="2567953"/>
            <a:ext cx="1095375" cy="389793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F1 0.6</a:t>
            </a:r>
            <a:r>
              <a:rPr lang="en-US"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181</a:t>
            </a:r>
            <a:endParaRPr sz="1275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827AD98-241A-4FD5-98FD-B09ECB86D581}"/>
              </a:ext>
            </a:extLst>
          </p:cNvPr>
          <p:cNvSpPr>
            <a:spLocks noGrp="1"/>
          </p:cNvSpPr>
          <p:nvPr/>
        </p:nvSpPr>
        <p:spPr>
          <a:xfrm>
            <a:off x="7779203" y="2790691"/>
            <a:ext cx="1095375" cy="16705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12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Recall 0.5</a:t>
            </a:r>
            <a:r>
              <a:rPr lang="en-US" sz="800" dirty="0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480</a:t>
            </a:r>
            <a:endParaRPr sz="800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296CDAE-C65E-4702-91F8-8FD43D02E587}"/>
              </a:ext>
            </a:extLst>
          </p:cNvPr>
          <p:cNvSpPr>
            <a:spLocks noGrp="1"/>
          </p:cNvSpPr>
          <p:nvPr/>
        </p:nvSpPr>
        <p:spPr>
          <a:xfrm>
            <a:off x="6598103" y="3018193"/>
            <a:ext cx="1095375" cy="222738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1181C69-870A-4957-ABD7-F68A113F2BAF}"/>
              </a:ext>
            </a:extLst>
          </p:cNvPr>
          <p:cNvSpPr>
            <a:spLocks noGrp="1"/>
          </p:cNvSpPr>
          <p:nvPr/>
        </p:nvSpPr>
        <p:spPr>
          <a:xfrm>
            <a:off x="6598103" y="3120403"/>
            <a:ext cx="1095375" cy="389793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endParaRPr sz="1275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828793F-EFF6-468D-B7DA-AC6F3E41EB88}"/>
              </a:ext>
            </a:extLst>
          </p:cNvPr>
          <p:cNvSpPr>
            <a:spLocks noGrp="1"/>
          </p:cNvSpPr>
          <p:nvPr/>
        </p:nvSpPr>
        <p:spPr>
          <a:xfrm>
            <a:off x="6598103" y="3393697"/>
            <a:ext cx="1095375" cy="16705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125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endParaRPr sz="800" dirty="0">
              <a:solidFill>
                <a:srgbClr val="AFC4D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E47CF9C-86DC-4802-AEAC-D947A5B20CA0}"/>
              </a:ext>
            </a:extLst>
          </p:cNvPr>
          <p:cNvSpPr>
            <a:spLocks noGrp="1"/>
          </p:cNvSpPr>
          <p:nvPr/>
        </p:nvSpPr>
        <p:spPr>
          <a:xfrm>
            <a:off x="7779203" y="3024718"/>
            <a:ext cx="1095375" cy="36333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 dirty="0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Best A</a:t>
            </a:r>
            <a:r>
              <a:rPr lang="en-US" sz="750" b="1" dirty="0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 F1 Score</a:t>
            </a:r>
            <a:endParaRPr sz="750" b="1" dirty="0">
              <a:solidFill>
                <a:srgbClr val="BFD0D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B3A46DD-A3A7-4E3D-A251-B834469DA42B}"/>
              </a:ext>
            </a:extLst>
          </p:cNvPr>
          <p:cNvSpPr>
            <a:spLocks noGrp="1"/>
          </p:cNvSpPr>
          <p:nvPr/>
        </p:nvSpPr>
        <p:spPr>
          <a:xfrm>
            <a:off x="7779203" y="3134238"/>
            <a:ext cx="1095375" cy="389793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</a:t>
            </a:r>
            <a:r>
              <a:rPr lang="en-US" sz="1275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275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E948AC9-C18B-0609-C626-C037C90129FB}"/>
              </a:ext>
            </a:extLst>
          </p:cNvPr>
          <p:cNvSpPr>
            <a:spLocks noGrp="1"/>
          </p:cNvSpPr>
          <p:nvPr/>
        </p:nvSpPr>
        <p:spPr>
          <a:xfrm>
            <a:off x="5509083" y="4391355"/>
            <a:ext cx="3286125" cy="468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다중공선성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제거·PCA는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ko-KR" altLang="en-US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평가지표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향상보다 변수 수 축소와 차원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압축이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목적</a:t>
            </a:r>
            <a:endParaRPr lang="en-US" altLang="ko-KR" sz="1000" i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두 방법 모두 F1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변화는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미미했음</a:t>
            </a:r>
            <a:b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altLang="ko-KR" sz="1000" i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000" i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000" i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3" name="사각형: 둥근 모서리 16">
            <a:extLst>
              <a:ext uri="{FF2B5EF4-FFF2-40B4-BE49-F238E27FC236}">
                <a16:creationId xmlns:a16="http://schemas.microsoft.com/office/drawing/2014/main" id="{94E7A808-6D05-45CB-B06B-BF4006EF8919}"/>
              </a:ext>
            </a:extLst>
          </p:cNvPr>
          <p:cNvSpPr>
            <a:spLocks noGrp="1"/>
          </p:cNvSpPr>
          <p:nvPr/>
        </p:nvSpPr>
        <p:spPr>
          <a:xfrm>
            <a:off x="428625" y="3452400"/>
            <a:ext cx="514350" cy="514350"/>
          </a:xfrm>
          <a:prstGeom prst="roundRect">
            <a:avLst>
              <a:gd name="adj" fmla="val 16667"/>
            </a:avLst>
          </a:prstGeom>
          <a:solidFill>
            <a:srgbClr val="101923"/>
          </a:solidFill>
          <a:ln w="28575">
            <a:solidFill>
              <a:srgbClr val="0F4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17">
            <a:extLst>
              <a:ext uri="{FF2B5EF4-FFF2-40B4-BE49-F238E27FC236}">
                <a16:creationId xmlns:a16="http://schemas.microsoft.com/office/drawing/2014/main" id="{C5358E74-2839-434D-8249-D82705ABDD2C}"/>
              </a:ext>
            </a:extLst>
          </p:cNvPr>
          <p:cNvSpPr>
            <a:spLocks noGrp="1"/>
          </p:cNvSpPr>
          <p:nvPr/>
        </p:nvSpPr>
        <p:spPr>
          <a:xfrm>
            <a:off x="638175" y="3578400"/>
            <a:ext cx="514350" cy="514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7" name="직사각형 18">
            <a:extLst>
              <a:ext uri="{FF2B5EF4-FFF2-40B4-BE49-F238E27FC236}">
                <a16:creationId xmlns:a16="http://schemas.microsoft.com/office/drawing/2014/main" id="{B9683331-91F1-45C5-8DB3-C91CEAF95A41}"/>
              </a:ext>
            </a:extLst>
          </p:cNvPr>
          <p:cNvSpPr>
            <a:spLocks noGrp="1"/>
          </p:cNvSpPr>
          <p:nvPr/>
        </p:nvSpPr>
        <p:spPr>
          <a:xfrm>
            <a:off x="1066800" y="3456000"/>
            <a:ext cx="4838700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v4 </a:t>
            </a:r>
            <a:r>
              <a:rPr lang="en-US"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75" b="1" dirty="0" err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다중공선성</a:t>
            </a:r>
            <a:r>
              <a:rPr lang="ko-KR" altLang="en-US"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 고려를 통한 변수 제거 및 </a:t>
            </a:r>
            <a:r>
              <a:rPr lang="en-US" altLang="ko-KR"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PCA </a:t>
            </a:r>
            <a:r>
              <a:rPr lang="ko-KR" altLang="en-US" sz="1275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차원축소</a:t>
            </a:r>
            <a:endParaRPr sz="1275" b="1" dirty="0">
              <a:solidFill>
                <a:srgbClr val="F5F8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8" name="직사각형 19">
            <a:extLst>
              <a:ext uri="{FF2B5EF4-FFF2-40B4-BE49-F238E27FC236}">
                <a16:creationId xmlns:a16="http://schemas.microsoft.com/office/drawing/2014/main" id="{913435D9-27E5-43B0-ADC8-4EF39AE74297}"/>
              </a:ext>
            </a:extLst>
          </p:cNvPr>
          <p:cNvSpPr>
            <a:spLocks noGrp="1"/>
          </p:cNvSpPr>
          <p:nvPr/>
        </p:nvSpPr>
        <p:spPr>
          <a:xfrm>
            <a:off x="1066800" y="3693600"/>
            <a:ext cx="4724400" cy="3238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863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강한 상관 변수 제거 (피어슨 0.99↑, VIF) + PCA 차원 압축</a:t>
            </a:r>
          </a:p>
          <a:p>
            <a:pPr defTabSz="457200" latinLnBrk="0">
              <a:lnSpc>
                <a:spcPct val="120000"/>
              </a:lnSpc>
              <a:defRPr sz="172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endParaRPr sz="863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2" name="직사각형 45">
            <a:extLst>
              <a:ext uri="{FF2B5EF4-FFF2-40B4-BE49-F238E27FC236}">
                <a16:creationId xmlns:a16="http://schemas.microsoft.com/office/drawing/2014/main" id="{4E948AC9-C18B-0609-C626-C037C90129FB}"/>
              </a:ext>
            </a:extLst>
          </p:cNvPr>
          <p:cNvSpPr>
            <a:spLocks noGrp="1"/>
          </p:cNvSpPr>
          <p:nvPr/>
        </p:nvSpPr>
        <p:spPr>
          <a:xfrm>
            <a:off x="5547945" y="3817425"/>
            <a:ext cx="3387232" cy="364163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Target Encoding — 범주형 변수에 타깃(사기)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정보를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반영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Robust Scaling —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이상치에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n-US" altLang="ko-KR" sz="1000" i="1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강한</a:t>
            </a:r>
            <a: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 정규화</a:t>
            </a:r>
            <a:b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</a:br>
            <a:br>
              <a:rPr lang="en-US" altLang="ko-KR" sz="1000" i="1" dirty="0"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altLang="ko-KR" sz="1000" i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000" i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defTabSz="457200" latinLnBrk="0">
              <a:defRPr sz="255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endParaRPr lang="en-US" altLang="ko-KR" sz="1000" i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100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g">
            <a:extLst>
              <a:ext uri="{FF2B5EF4-FFF2-40B4-BE49-F238E27FC236}">
                <a16:creationId xmlns:a16="http://schemas.microsoft.com/office/drawing/2014/main" id="{5105C8C7-3D27-4ABB-AF25-34FE00369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B4EBD6A4-189C-44F1-8DB6-2ABD60DDAD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09750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2D0BB375-54F7-4311-BD8A-70FFE1B09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D9B6AA-0F65-431E-B5E1-DF3C6BC80DF4}"/>
              </a:ext>
            </a:extLst>
          </p:cNvPr>
          <p:cNvSpPr>
            <a:spLocks noGrp="1"/>
          </p:cNvSpPr>
          <p:nvPr/>
        </p:nvSpPr>
        <p:spPr>
          <a:xfrm>
            <a:off x="406400" y="774700"/>
            <a:ext cx="82867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9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Member B 전처리 전략 (v1 → v3)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6CD49F-CC6C-4C30-B476-CF2E97265847}"/>
              </a:ext>
            </a:extLst>
          </p:cNvPr>
          <p:cNvSpPr>
            <a:spLocks noGrp="1"/>
          </p:cNvSpPr>
          <p:nvPr/>
        </p:nvSpPr>
        <p:spPr>
          <a:xfrm>
            <a:off x="406400" y="1193800"/>
            <a:ext cx="6866164" cy="3905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2025" i="1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Recall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중심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개선과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최적화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자동화가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강점이었던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전략입니다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 </a:t>
            </a:r>
            <a:endParaRPr lang="en-US" sz="1013" b="1" i="1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  <a:p>
            <a:pPr defTabSz="457200" latinLnBrk="0">
              <a:lnSpc>
                <a:spcPct val="125000"/>
              </a:lnSpc>
              <a:defRPr sz="2025" i="1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기본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패턴에서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출발해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feature를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확장하고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최종적으로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선택·튜닝·threshold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최적화를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b="1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적용했습니다</a:t>
            </a:r>
            <a:r>
              <a:rPr sz="1013" b="1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D6076E-F33A-4DE0-B715-9AD031DA3353}"/>
              </a:ext>
            </a:extLst>
          </p:cNvPr>
          <p:cNvSpPr>
            <a:spLocks noGrp="1"/>
          </p:cNvSpPr>
          <p:nvPr/>
        </p:nvSpPr>
        <p:spPr>
          <a:xfrm>
            <a:off x="406400" y="1625600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CD43BC8-0EE4-44BE-9250-4DC66762142B}"/>
              </a:ext>
            </a:extLst>
          </p:cNvPr>
          <p:cNvSpPr>
            <a:spLocks noGrp="1"/>
          </p:cNvSpPr>
          <p:nvPr/>
        </p:nvSpPr>
        <p:spPr>
          <a:xfrm>
            <a:off x="428625" y="1824038"/>
            <a:ext cx="533400" cy="533400"/>
          </a:xfrm>
          <a:prstGeom prst="roundRect">
            <a:avLst>
              <a:gd name="adj" fmla="val 16071"/>
            </a:avLst>
          </a:prstGeom>
          <a:solidFill>
            <a:srgbClr val="101923"/>
          </a:solidFill>
          <a:ln w="28575">
            <a:solidFill>
              <a:srgbClr val="0F4C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FBA133-A48F-45D6-96A2-AD486DEE5533}"/>
              </a:ext>
            </a:extLst>
          </p:cNvPr>
          <p:cNvSpPr>
            <a:spLocks noGrp="1"/>
          </p:cNvSpPr>
          <p:nvPr/>
        </p:nvSpPr>
        <p:spPr>
          <a:xfrm>
            <a:off x="638175" y="1967593"/>
            <a:ext cx="533400" cy="5334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1F8A38-4DA7-4DE3-B2EA-F215F027DA39}"/>
              </a:ext>
            </a:extLst>
          </p:cNvPr>
          <p:cNvSpPr>
            <a:spLocks noGrp="1"/>
          </p:cNvSpPr>
          <p:nvPr/>
        </p:nvSpPr>
        <p:spPr>
          <a:xfrm>
            <a:off x="1085850" y="1828800"/>
            <a:ext cx="3724275" cy="1905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47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v1 </a:t>
            </a:r>
            <a:r>
              <a:rPr lang="en-US"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238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기본</a:t>
            </a:r>
            <a:r>
              <a:rPr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38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설계</a:t>
            </a:r>
            <a:endParaRPr sz="1238" b="1" dirty="0">
              <a:solidFill>
                <a:srgbClr val="F3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1A4B59-71CE-490E-80CA-2F98FC5395A2}"/>
              </a:ext>
            </a:extLst>
          </p:cNvPr>
          <p:cNvSpPr>
            <a:spLocks noGrp="1"/>
          </p:cNvSpPr>
          <p:nvPr/>
        </p:nvSpPr>
        <p:spPr>
          <a:xfrm>
            <a:off x="1085850" y="2057400"/>
            <a:ext cx="3181350" cy="3429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4000"/>
              </a:lnSpc>
              <a:defRPr sz="1800">
                <a:solidFill>
                  <a:srgbClr val="D8E4E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Deviation · Burst · Graph 3대 패턴을 사용한 초기 설계입니다. 43개 feature로 시작했고, 별도 최적화는 적용하지 않았습니다.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3F55071-16AB-4D8F-8093-7EEB63C43C9C}"/>
              </a:ext>
            </a:extLst>
          </p:cNvPr>
          <p:cNvSpPr>
            <a:spLocks noGrp="1"/>
          </p:cNvSpPr>
          <p:nvPr/>
        </p:nvSpPr>
        <p:spPr>
          <a:xfrm>
            <a:off x="428625" y="2533765"/>
            <a:ext cx="533400" cy="533400"/>
          </a:xfrm>
          <a:prstGeom prst="roundRect">
            <a:avLst>
              <a:gd name="adj" fmla="val 16071"/>
            </a:avLst>
          </a:prstGeom>
          <a:solidFill>
            <a:srgbClr val="101923"/>
          </a:solidFill>
          <a:ln w="28575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292A64-E253-4E75-BB03-611EED51D185}"/>
              </a:ext>
            </a:extLst>
          </p:cNvPr>
          <p:cNvSpPr>
            <a:spLocks noGrp="1"/>
          </p:cNvSpPr>
          <p:nvPr/>
        </p:nvSpPr>
        <p:spPr>
          <a:xfrm>
            <a:off x="1085850" y="2533650"/>
            <a:ext cx="3724275" cy="1905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47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v2 </a:t>
            </a:r>
            <a:r>
              <a:rPr lang="en-US"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238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확장</a:t>
            </a:r>
            <a:endParaRPr sz="1238" b="1" dirty="0">
              <a:solidFill>
                <a:srgbClr val="F3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E335B9-FEFC-4C79-99DE-E6A63E25840A}"/>
              </a:ext>
            </a:extLst>
          </p:cNvPr>
          <p:cNvSpPr>
            <a:spLocks noGrp="1"/>
          </p:cNvSpPr>
          <p:nvPr/>
        </p:nvSpPr>
        <p:spPr>
          <a:xfrm>
            <a:off x="1085850" y="2771775"/>
            <a:ext cx="3094264" cy="3429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4000"/>
              </a:lnSpc>
              <a:defRPr sz="1800">
                <a:solidFill>
                  <a:srgbClr val="D8E4E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Amount · Time · Medical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패턴을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추가해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74개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feature로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확장했습니다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기록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Recall 0.4910, F1 0.5927입니다.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B17A98-4EB2-4CBE-A14C-B359FBED8ADC}"/>
              </a:ext>
            </a:extLst>
          </p:cNvPr>
          <p:cNvSpPr>
            <a:spLocks noGrp="1"/>
          </p:cNvSpPr>
          <p:nvPr/>
        </p:nvSpPr>
        <p:spPr>
          <a:xfrm>
            <a:off x="1085850" y="3248025"/>
            <a:ext cx="3724275" cy="1905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47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v3 </a:t>
            </a:r>
            <a:r>
              <a:rPr lang="en-US"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- </a:t>
            </a:r>
            <a:r>
              <a:rPr sz="1238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38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최적화</a:t>
            </a:r>
            <a:endParaRPr sz="1238" b="1" dirty="0">
              <a:solidFill>
                <a:srgbClr val="F3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B4F0E3-01B8-475D-A1E3-8988D43CA30F}"/>
              </a:ext>
            </a:extLst>
          </p:cNvPr>
          <p:cNvSpPr>
            <a:spLocks noGrp="1"/>
          </p:cNvSpPr>
          <p:nvPr/>
        </p:nvSpPr>
        <p:spPr>
          <a:xfrm>
            <a:off x="1085850" y="3476625"/>
            <a:ext cx="3543300" cy="514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4000"/>
              </a:lnSpc>
              <a:defRPr sz="1800">
                <a:solidFill>
                  <a:srgbClr val="D8E4EE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v2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개선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feature와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신규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7개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feature를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추가한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뒤, 326개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후보를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100개로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축소했습니다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LightGBM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900" dirty="0">
                <a:solidFill>
                  <a:srgbClr val="D8E4EE"/>
                </a:solidFill>
                <a:latin typeface="Malgun Gothic"/>
                <a:ea typeface="Malgun Gothic"/>
                <a:cs typeface="Malgun Gothic"/>
              </a:rPr>
              <a:t> Recall 0.6144, F1 0.6224입니다.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AE8A430-7FED-4F52-904E-50EA9000E9A0}"/>
              </a:ext>
            </a:extLst>
          </p:cNvPr>
          <p:cNvSpPr>
            <a:spLocks noGrp="1"/>
          </p:cNvSpPr>
          <p:nvPr/>
        </p:nvSpPr>
        <p:spPr>
          <a:xfrm>
            <a:off x="428625" y="4123297"/>
            <a:ext cx="4381500" cy="464820"/>
          </a:xfrm>
          <a:prstGeom prst="roundRect">
            <a:avLst>
              <a:gd name="adj" fmla="val 22541"/>
            </a:avLst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D7D136-153B-4D8C-B594-7E7DB6F331CF}"/>
              </a:ext>
            </a:extLst>
          </p:cNvPr>
          <p:cNvSpPr>
            <a:spLocks noGrp="1"/>
          </p:cNvSpPr>
          <p:nvPr/>
        </p:nvSpPr>
        <p:spPr>
          <a:xfrm>
            <a:off x="561975" y="4219575"/>
            <a:ext cx="3657600" cy="2762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CatBoost 적용 시 Recall 0.6919까지 도달해, Member B는 Recall 우선 전략으로 의미가 컸습니다.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A9C6CE-D87C-45A3-B6A7-9A11AD163A99}"/>
              </a:ext>
            </a:extLst>
          </p:cNvPr>
          <p:cNvSpPr>
            <a:spLocks noGrp="1"/>
          </p:cNvSpPr>
          <p:nvPr/>
        </p:nvSpPr>
        <p:spPr>
          <a:xfrm>
            <a:off x="5086350" y="1828800"/>
            <a:ext cx="3629025" cy="2190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85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v3 최적화 구조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815B6C9-74F4-4695-A1CA-E60E7911B4E2}"/>
              </a:ext>
            </a:extLst>
          </p:cNvPr>
          <p:cNvSpPr>
            <a:spLocks noGrp="1"/>
          </p:cNvSpPr>
          <p:nvPr/>
        </p:nvSpPr>
        <p:spPr>
          <a:xfrm>
            <a:off x="5086350" y="2165033"/>
            <a:ext cx="3629025" cy="1104900"/>
          </a:xfrm>
          <a:prstGeom prst="roundRect">
            <a:avLst>
              <a:gd name="adj" fmla="val 9483"/>
            </a:avLst>
          </a:prstGeom>
          <a:noFill/>
          <a:ln w="9525">
            <a:solidFill>
              <a:srgbClr val="3C5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9B1BA9-C1B7-43CE-A290-E7D2A1F2A90C}"/>
              </a:ext>
            </a:extLst>
          </p:cNvPr>
          <p:cNvSpPr>
            <a:spLocks noGrp="1"/>
          </p:cNvSpPr>
          <p:nvPr/>
        </p:nvSpPr>
        <p:spPr>
          <a:xfrm>
            <a:off x="5238750" y="2295525"/>
            <a:ext cx="160020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326 → 100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D370A4-B054-4FEE-B345-66ABAAF54D2C}"/>
              </a:ext>
            </a:extLst>
          </p:cNvPr>
          <p:cNvSpPr>
            <a:spLocks noGrp="1"/>
          </p:cNvSpPr>
          <p:nvPr/>
        </p:nvSpPr>
        <p:spPr>
          <a:xfrm>
            <a:off x="5238750" y="2562225"/>
            <a:ext cx="160020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3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Feature Selection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9361F8-C2BA-4DBE-BB87-970DF2AF6B10}"/>
              </a:ext>
            </a:extLst>
          </p:cNvPr>
          <p:cNvSpPr>
            <a:spLocks noGrp="1"/>
          </p:cNvSpPr>
          <p:nvPr/>
        </p:nvSpPr>
        <p:spPr>
          <a:xfrm>
            <a:off x="6962775" y="2295525"/>
            <a:ext cx="160020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 b="1">
                <a:solidFill>
                  <a:srgbClr val="BBD2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BD2FF"/>
                </a:solidFill>
                <a:latin typeface="Malgun Gothic"/>
                <a:ea typeface="Malgun Gothic"/>
                <a:cs typeface="Malgun Gothic"/>
              </a:rPr>
              <a:t>0.95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53BBAC-E3AA-4F7F-B502-A7EE0DB08463}"/>
              </a:ext>
            </a:extLst>
          </p:cNvPr>
          <p:cNvSpPr>
            <a:spLocks noGrp="1"/>
          </p:cNvSpPr>
          <p:nvPr/>
        </p:nvSpPr>
        <p:spPr>
          <a:xfrm>
            <a:off x="6962775" y="2562225"/>
            <a:ext cx="160020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3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Correlation threshold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71826E-2B93-4CBD-8982-02519319B598}"/>
              </a:ext>
            </a:extLst>
          </p:cNvPr>
          <p:cNvSpPr>
            <a:spLocks noGrp="1"/>
          </p:cNvSpPr>
          <p:nvPr/>
        </p:nvSpPr>
        <p:spPr>
          <a:xfrm>
            <a:off x="5238750" y="2771775"/>
            <a:ext cx="160020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100 trials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C46A7D-3077-4901-B9E9-8592C2088555}"/>
              </a:ext>
            </a:extLst>
          </p:cNvPr>
          <p:cNvSpPr>
            <a:spLocks noGrp="1"/>
          </p:cNvSpPr>
          <p:nvPr/>
        </p:nvSpPr>
        <p:spPr>
          <a:xfrm>
            <a:off x="5238750" y="3038475"/>
            <a:ext cx="160020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3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Optuna 탐색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A2E803-7E10-4C5A-BE9D-394AA1D0724E}"/>
              </a:ext>
            </a:extLst>
          </p:cNvPr>
          <p:cNvSpPr>
            <a:spLocks noGrp="1"/>
          </p:cNvSpPr>
          <p:nvPr/>
        </p:nvSpPr>
        <p:spPr>
          <a:xfrm>
            <a:off x="6962775" y="2771775"/>
            <a:ext cx="160020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150" b="1">
                <a:solidFill>
                  <a:srgbClr val="BBD2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BD2FF"/>
                </a:solidFill>
                <a:latin typeface="Malgun Gothic"/>
                <a:ea typeface="Malgun Gothic"/>
                <a:cs typeface="Malgun Gothic"/>
              </a:rPr>
              <a:t>0.3819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29ED062-2CEE-4612-82AF-080B66C5B60F}"/>
              </a:ext>
            </a:extLst>
          </p:cNvPr>
          <p:cNvSpPr>
            <a:spLocks noGrp="1"/>
          </p:cNvSpPr>
          <p:nvPr/>
        </p:nvSpPr>
        <p:spPr>
          <a:xfrm>
            <a:off x="6962775" y="3038475"/>
            <a:ext cx="1600200" cy="1047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350">
                <a:solidFill>
                  <a:srgbClr val="AFC4D7"/>
                </a:solidFill>
                <a:latin typeface="Malgun Gothic"/>
                <a:ea typeface="Malgun Gothic"/>
                <a:cs typeface="Malgun Gothic"/>
              </a:defRPr>
            </a:pPr>
            <a:r>
              <a:rPr sz="675">
                <a:solidFill>
                  <a:srgbClr val="AFC4D7"/>
                </a:solidFill>
                <a:latin typeface="Malgun Gothic"/>
                <a:ea typeface="Malgun Gothic"/>
                <a:cs typeface="Malgun Gothic"/>
              </a:rPr>
              <a:t>최적 threshold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BF622D0-310C-490C-B0CC-7CD3FF2A638B}"/>
              </a:ext>
            </a:extLst>
          </p:cNvPr>
          <p:cNvSpPr>
            <a:spLocks noGrp="1"/>
          </p:cNvSpPr>
          <p:nvPr/>
        </p:nvSpPr>
        <p:spPr>
          <a:xfrm>
            <a:off x="5086350" y="3393758"/>
            <a:ext cx="3629025" cy="1032815"/>
          </a:xfrm>
          <a:prstGeom prst="roundRect">
            <a:avLst>
              <a:gd name="adj" fmla="val 11067"/>
            </a:avLst>
          </a:prstGeom>
          <a:solidFill>
            <a:srgbClr val="113E9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8A66BEE-4B98-4BCB-9E6B-6207582496D5}"/>
              </a:ext>
            </a:extLst>
          </p:cNvPr>
          <p:cNvSpPr>
            <a:spLocks noGrp="1"/>
          </p:cNvSpPr>
          <p:nvPr/>
        </p:nvSpPr>
        <p:spPr>
          <a:xfrm>
            <a:off x="5238750" y="3524250"/>
            <a:ext cx="33242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방식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0D4AE7D-E034-4789-B164-16EC5D43FF3D}"/>
              </a:ext>
            </a:extLst>
          </p:cNvPr>
          <p:cNvSpPr>
            <a:spLocks noGrp="1"/>
          </p:cNvSpPr>
          <p:nvPr/>
        </p:nvSpPr>
        <p:spPr>
          <a:xfrm>
            <a:off x="5238750" y="3771900"/>
            <a:ext cx="2867025" cy="523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6000"/>
              </a:lnSpc>
              <a:defRPr sz="1800">
                <a:solidFill>
                  <a:srgbClr val="E0E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CorrelationRemover로 강한 중복 feature를 먼저 줄이고, ImportanceSelector로 LightGBM 중요도 상위 100개를 선택했습니다.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7968C9C-FFCF-4121-81EC-650A93711851}"/>
              </a:ext>
            </a:extLst>
          </p:cNvPr>
          <p:cNvSpPr>
            <a:spLocks noGrp="1"/>
          </p:cNvSpPr>
          <p:nvPr/>
        </p:nvSpPr>
        <p:spPr>
          <a:xfrm>
            <a:off x="5086350" y="4552950"/>
            <a:ext cx="3429000" cy="3714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8000"/>
              </a:lnSpc>
              <a:defRPr sz="187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요약하면 Member B는 feature를 많이 만들고, 중복과 중요도를 기준으로 다시 고르는 최적화형 전략입니다.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C4F0A04-F33E-6DCA-DEAE-6C5E8ADDCBF1}"/>
              </a:ext>
            </a:extLst>
          </p:cNvPr>
          <p:cNvSpPr>
            <a:spLocks noGrp="1"/>
          </p:cNvSpPr>
          <p:nvPr/>
        </p:nvSpPr>
        <p:spPr>
          <a:xfrm>
            <a:off x="647700" y="2688108"/>
            <a:ext cx="533400" cy="5334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1500" b="1" dirty="0">
              <a:solidFill>
                <a:srgbClr val="F5F8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37290F1-30F4-294B-4C2A-E43C61CFDB09}"/>
              </a:ext>
            </a:extLst>
          </p:cNvPr>
          <p:cNvSpPr>
            <a:spLocks noGrp="1"/>
          </p:cNvSpPr>
          <p:nvPr/>
        </p:nvSpPr>
        <p:spPr>
          <a:xfrm>
            <a:off x="428625" y="3290425"/>
            <a:ext cx="533400" cy="533400"/>
          </a:xfrm>
          <a:prstGeom prst="roundRect">
            <a:avLst>
              <a:gd name="adj" fmla="val 16071"/>
            </a:avLst>
          </a:prstGeom>
          <a:solidFill>
            <a:srgbClr val="101923"/>
          </a:solidFill>
          <a:ln w="28575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7196DE0-6C7A-CC21-E6A1-D1016E10470D}"/>
              </a:ext>
            </a:extLst>
          </p:cNvPr>
          <p:cNvSpPr>
            <a:spLocks noGrp="1"/>
          </p:cNvSpPr>
          <p:nvPr/>
        </p:nvSpPr>
        <p:spPr>
          <a:xfrm>
            <a:off x="638175" y="3408251"/>
            <a:ext cx="533400" cy="5334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00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500" b="1" dirty="0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500" b="1" dirty="0">
              <a:solidFill>
                <a:srgbClr val="F5F8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629A66C-2E99-C41D-2BFB-356B65A046D1}"/>
              </a:ext>
            </a:extLst>
          </p:cNvPr>
          <p:cNvSpPr>
            <a:spLocks noGrp="1"/>
          </p:cNvSpPr>
          <p:nvPr/>
        </p:nvSpPr>
        <p:spPr>
          <a:xfrm>
            <a:off x="406399" y="190500"/>
            <a:ext cx="1157061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419033D-838F-D656-8DA5-D62EA845F26D}"/>
              </a:ext>
            </a:extLst>
          </p:cNvPr>
          <p:cNvSpPr>
            <a:spLocks noGrp="1"/>
          </p:cNvSpPr>
          <p:nvPr/>
        </p:nvSpPr>
        <p:spPr>
          <a:xfrm>
            <a:off x="546100" y="310785"/>
            <a:ext cx="901700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전처리 전략</a:t>
            </a:r>
          </a:p>
        </p:txBody>
      </p:sp>
    </p:spTree>
    <p:extLst>
      <p:ext uri="{BB962C8B-B14F-4D97-AF65-F5344CB8AC3E}">
        <p14:creationId xmlns:p14="http://schemas.microsoft.com/office/powerpoint/2010/main" val="2859679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BDB25E4-878E-6AB5-3BB6-47CA9C5627C9}"/>
              </a:ext>
            </a:extLst>
          </p:cNvPr>
          <p:cNvSpPr/>
          <p:nvPr/>
        </p:nvSpPr>
        <p:spPr>
          <a:xfrm>
            <a:off x="0" y="-23336"/>
            <a:ext cx="9144000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B5ED612-E2E2-64BD-0A99-4E71F6C82066}"/>
              </a:ext>
            </a:extLst>
          </p:cNvPr>
          <p:cNvSpPr/>
          <p:nvPr/>
        </p:nvSpPr>
        <p:spPr>
          <a:xfrm>
            <a:off x="406399" y="190500"/>
            <a:ext cx="1165225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D92F4-E617-7372-C991-BAD6B719EB0D}"/>
              </a:ext>
            </a:extLst>
          </p:cNvPr>
          <p:cNvSpPr txBox="1"/>
          <p:nvPr/>
        </p:nvSpPr>
        <p:spPr>
          <a:xfrm>
            <a:off x="546100" y="330200"/>
            <a:ext cx="850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2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 전략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DBD26-9385-5CD4-866C-C982BA0E9261}"/>
              </a:ext>
            </a:extLst>
          </p:cNvPr>
          <p:cNvSpPr txBox="1"/>
          <p:nvPr/>
        </p:nvSpPr>
        <p:spPr>
          <a:xfrm>
            <a:off x="457200" y="923337"/>
            <a:ext cx="6191250" cy="3924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25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Member C </a:t>
            </a:r>
            <a:r>
              <a:rPr lang="ko-KR" altLang="en-US" sz="2550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25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전략 </a:t>
            </a:r>
            <a:r>
              <a:rPr lang="en-US" altLang="ko-KR" sz="25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(v1 → v4)</a:t>
            </a:r>
            <a:endParaRPr lang="ko-KR" altLang="en-US" sz="255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04DE7-1DA3-9F88-1B38-87EAC8357521}"/>
              </a:ext>
            </a:extLst>
          </p:cNvPr>
          <p:cNvSpPr txBox="1"/>
          <p:nvPr/>
        </p:nvSpPr>
        <p:spPr>
          <a:xfrm>
            <a:off x="476250" y="1587500"/>
            <a:ext cx="7239000" cy="1638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65" b="1" i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복잡한 최적화보다 안정적인 고객 단위 집계와 누수 위험 감소를 우선한 전략입니다</a:t>
            </a:r>
            <a:r>
              <a:rPr lang="en-US" altLang="ko-KR" sz="1065" b="1" i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65" b="1" i="1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532AF-222E-AD1C-9C7F-28AB2ED2ACE5}"/>
              </a:ext>
            </a:extLst>
          </p:cNvPr>
          <p:cNvSpPr txBox="1"/>
          <p:nvPr/>
        </p:nvSpPr>
        <p:spPr>
          <a:xfrm>
            <a:off x="457200" y="1962150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v1</a:t>
            </a:r>
            <a:r>
              <a:rPr lang="ko-KR" altLang="en-US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부터 </a:t>
            </a:r>
            <a:r>
              <a:rPr lang="en-US" altLang="ko-KR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</a:t>
            </a:r>
            <a:r>
              <a:rPr lang="ko-KR" altLang="en-US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까지의 설계 흐름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3EC030B-864C-CD06-9EA0-D881992C9B9C}"/>
              </a:ext>
            </a:extLst>
          </p:cNvPr>
          <p:cNvCxnSpPr/>
          <p:nvPr/>
        </p:nvCxnSpPr>
        <p:spPr>
          <a:xfrm>
            <a:off x="457200" y="1885950"/>
            <a:ext cx="1304925" cy="0"/>
          </a:xfrm>
          <a:prstGeom prst="line">
            <a:avLst/>
          </a:prstGeom>
          <a:ln w="30480">
            <a:solidFill>
              <a:srgbClr val="2D6D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B64810C-924A-1F4A-DB3B-624B09FBA0DC}"/>
              </a:ext>
            </a:extLst>
          </p:cNvPr>
          <p:cNvSpPr/>
          <p:nvPr/>
        </p:nvSpPr>
        <p:spPr>
          <a:xfrm>
            <a:off x="457200" y="2266950"/>
            <a:ext cx="552450" cy="552450"/>
          </a:xfrm>
          <a:prstGeom prst="roundRect">
            <a:avLst/>
          </a:prstGeom>
          <a:solidFill>
            <a:srgbClr val="0B1823"/>
          </a:solidFill>
          <a:ln w="30480">
            <a:solidFill>
              <a:srgbClr val="2D6D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FAA6B9-FA2F-ACBF-0964-C01B965A7088}"/>
              </a:ext>
            </a:extLst>
          </p:cNvPr>
          <p:cNvSpPr txBox="1"/>
          <p:nvPr/>
        </p:nvSpPr>
        <p:spPr>
          <a:xfrm>
            <a:off x="457200" y="2390775"/>
            <a:ext cx="55245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6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65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3361B6-0637-C36F-C3A3-6E1A048ACEE0}"/>
              </a:ext>
            </a:extLst>
          </p:cNvPr>
          <p:cNvSpPr txBox="1"/>
          <p:nvPr/>
        </p:nvSpPr>
        <p:spPr>
          <a:xfrm>
            <a:off x="1181100" y="2286000"/>
            <a:ext cx="3333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v1 - </a:t>
            </a:r>
            <a:r>
              <a:rPr lang="ko-KR" altLang="en-US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</a:t>
            </a:r>
            <a:r>
              <a:rPr lang="en-US" altLang="ko-KR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 이력 확장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515DF-8ECF-0B4E-42E2-08758C1D8768}"/>
              </a:ext>
            </a:extLst>
          </p:cNvPr>
          <p:cNvSpPr txBox="1"/>
          <p:nvPr/>
        </p:nvSpPr>
        <p:spPr>
          <a:xfrm>
            <a:off x="1181100" y="2552700"/>
            <a:ext cx="40005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청구 건수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간격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금액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병원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의사 이용 패턴을 고객 단위로 넓게 집계한 초기 설계입니다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6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295EF9E-1BAD-2887-0DDE-759C064ECCBF}"/>
              </a:ext>
            </a:extLst>
          </p:cNvPr>
          <p:cNvSpPr/>
          <p:nvPr/>
        </p:nvSpPr>
        <p:spPr>
          <a:xfrm>
            <a:off x="457200" y="2933700"/>
            <a:ext cx="552450" cy="552450"/>
          </a:xfrm>
          <a:prstGeom prst="roundRect">
            <a:avLst/>
          </a:prstGeom>
          <a:solidFill>
            <a:srgbClr val="0B1823"/>
          </a:solidFill>
          <a:ln w="30480">
            <a:solidFill>
              <a:srgbClr val="2D6D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4B3954-759A-D48A-D277-4C2A7A5DF4E0}"/>
              </a:ext>
            </a:extLst>
          </p:cNvPr>
          <p:cNvSpPr txBox="1"/>
          <p:nvPr/>
        </p:nvSpPr>
        <p:spPr>
          <a:xfrm>
            <a:off x="457200" y="3057525"/>
            <a:ext cx="55245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6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1650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7130AF-2898-8DC1-96CF-82B9E3B9C266}"/>
              </a:ext>
            </a:extLst>
          </p:cNvPr>
          <p:cNvSpPr txBox="1"/>
          <p:nvPr/>
        </p:nvSpPr>
        <p:spPr>
          <a:xfrm>
            <a:off x="1181100" y="2952750"/>
            <a:ext cx="3333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v2 - Target Encoding </a:t>
            </a:r>
            <a:r>
              <a:rPr lang="ko-KR" altLang="en-US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18C0C7-CCE8-20EF-AA68-E24E1E423B1B}"/>
              </a:ext>
            </a:extLst>
          </p:cNvPr>
          <p:cNvSpPr txBox="1"/>
          <p:nvPr/>
        </p:nvSpPr>
        <p:spPr>
          <a:xfrm>
            <a:off x="1181100" y="3219450"/>
            <a:ext cx="40005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범주형 변수 인코딩과 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축소를 실험했지만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유효한 집계 정보가 줄며 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낮아졌습니다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6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DB9C9C9-0ECC-2E51-C3AA-7BE2CB9827CC}"/>
              </a:ext>
            </a:extLst>
          </p:cNvPr>
          <p:cNvSpPr/>
          <p:nvPr/>
        </p:nvSpPr>
        <p:spPr>
          <a:xfrm>
            <a:off x="457200" y="3600450"/>
            <a:ext cx="552450" cy="552450"/>
          </a:xfrm>
          <a:prstGeom prst="roundRect">
            <a:avLst/>
          </a:prstGeom>
          <a:solidFill>
            <a:srgbClr val="0B1823"/>
          </a:solidFill>
          <a:ln w="30480">
            <a:solidFill>
              <a:srgbClr val="2D6D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0DD41-B3F8-6EF0-420B-6037F17258F8}"/>
              </a:ext>
            </a:extLst>
          </p:cNvPr>
          <p:cNvSpPr txBox="1"/>
          <p:nvPr/>
        </p:nvSpPr>
        <p:spPr>
          <a:xfrm>
            <a:off x="457200" y="3724275"/>
            <a:ext cx="55245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6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1650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1A7279-9B49-EBCD-A427-A36A0ADAB004}"/>
              </a:ext>
            </a:extLst>
          </p:cNvPr>
          <p:cNvSpPr txBox="1"/>
          <p:nvPr/>
        </p:nvSpPr>
        <p:spPr>
          <a:xfrm>
            <a:off x="1181100" y="3619500"/>
            <a:ext cx="3333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v3 - Safe </a:t>
            </a:r>
            <a:r>
              <a:rPr lang="ko-KR" altLang="en-US" sz="1350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전처리</a:t>
            </a:r>
            <a:r>
              <a:rPr lang="ko-KR" altLang="en-US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구조 강화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5F18B7-9C7F-E7E2-6C65-CBF8B7F28CF9}"/>
              </a:ext>
            </a:extLst>
          </p:cNvPr>
          <p:cNvSpPr txBox="1"/>
          <p:nvPr/>
        </p:nvSpPr>
        <p:spPr>
          <a:xfrm>
            <a:off x="1181100" y="3886200"/>
            <a:ext cx="40005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DIVIDED_SET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흐름을 반영하고 누수 위험을 줄이는 방향으로 정리해 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최고 성능을 만들었습니다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6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0F81DF3-1F2B-4EA4-07BB-D4BC82C0C98F}"/>
              </a:ext>
            </a:extLst>
          </p:cNvPr>
          <p:cNvSpPr/>
          <p:nvPr/>
        </p:nvSpPr>
        <p:spPr>
          <a:xfrm>
            <a:off x="457200" y="4267200"/>
            <a:ext cx="552450" cy="552450"/>
          </a:xfrm>
          <a:prstGeom prst="roundRect">
            <a:avLst/>
          </a:prstGeom>
          <a:solidFill>
            <a:srgbClr val="0B1823"/>
          </a:solidFill>
          <a:ln w="30480">
            <a:solidFill>
              <a:srgbClr val="2D6D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82BBAD-52DC-BBB2-32F9-7405AE1C5E1E}"/>
              </a:ext>
            </a:extLst>
          </p:cNvPr>
          <p:cNvSpPr txBox="1"/>
          <p:nvPr/>
        </p:nvSpPr>
        <p:spPr>
          <a:xfrm>
            <a:off x="457200" y="4391025"/>
            <a:ext cx="552450" cy="2539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6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1650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4676B9-9F01-BC37-7430-A84A55FCE75C}"/>
              </a:ext>
            </a:extLst>
          </p:cNvPr>
          <p:cNvSpPr txBox="1"/>
          <p:nvPr/>
        </p:nvSpPr>
        <p:spPr>
          <a:xfrm>
            <a:off x="1181100" y="4286250"/>
            <a:ext cx="3333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v4 - </a:t>
            </a:r>
            <a:r>
              <a:rPr lang="ko-KR" altLang="en-US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유효 변수 복원 </a:t>
            </a:r>
            <a:r>
              <a:rPr lang="en-US" altLang="ko-KR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Threshold</a:t>
            </a:r>
            <a:endParaRPr lang="ko-KR" altLang="en-US" sz="1350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A8C85-F4BE-6067-46AF-EAAADCDB1EDE}"/>
              </a:ext>
            </a:extLst>
          </p:cNvPr>
          <p:cNvSpPr txBox="1"/>
          <p:nvPr/>
        </p:nvSpPr>
        <p:spPr>
          <a:xfrm>
            <a:off x="1181100" y="4552950"/>
            <a:ext cx="40005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v1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효과적이던 변수 일부를 복원하고 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threshold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조정해 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강화했습니다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6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1560D5-B8F5-FDB2-8BBB-203CADE2DD11}"/>
              </a:ext>
            </a:extLst>
          </p:cNvPr>
          <p:cNvSpPr txBox="1"/>
          <p:nvPr/>
        </p:nvSpPr>
        <p:spPr>
          <a:xfrm>
            <a:off x="5456468" y="1826274"/>
            <a:ext cx="266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5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 </a:t>
            </a:r>
            <a:r>
              <a:rPr lang="ko-KR" altLang="en-US" sz="15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설계 포인트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E56E154-5992-EECD-7894-DB5099DA708E}"/>
              </a:ext>
            </a:extLst>
          </p:cNvPr>
          <p:cNvSpPr/>
          <p:nvPr/>
        </p:nvSpPr>
        <p:spPr>
          <a:xfrm>
            <a:off x="5399316" y="2182267"/>
            <a:ext cx="3476625" cy="1104900"/>
          </a:xfrm>
          <a:prstGeom prst="roundRect">
            <a:avLst/>
          </a:prstGeom>
          <a:solidFill>
            <a:srgbClr val="081D28"/>
          </a:solidFill>
          <a:ln w="12700">
            <a:solidFill>
              <a:srgbClr val="3656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7DD819-C884-62A6-59B3-C07E801FB75D}"/>
              </a:ext>
            </a:extLst>
          </p:cNvPr>
          <p:cNvSpPr txBox="1"/>
          <p:nvPr/>
        </p:nvSpPr>
        <p:spPr>
          <a:xfrm>
            <a:off x="5785761" y="2282957"/>
            <a:ext cx="1333500" cy="2654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72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191</a:t>
            </a:r>
            <a:endParaRPr lang="ko-KR" altLang="en-US" sz="1725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EA385B-7A20-5624-3461-3E389BE1AD89}"/>
              </a:ext>
            </a:extLst>
          </p:cNvPr>
          <p:cNvSpPr txBox="1"/>
          <p:nvPr/>
        </p:nvSpPr>
        <p:spPr>
          <a:xfrm>
            <a:off x="5785761" y="2578232"/>
            <a:ext cx="1381125" cy="109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최종 </a:t>
            </a:r>
            <a:r>
              <a:rPr lang="en-US" altLang="ko-KR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features</a:t>
            </a:r>
            <a:endParaRPr lang="ko-KR" altLang="en-US" sz="713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0A9022-7E8A-CD4B-4475-D5E9AE42BFEC}"/>
              </a:ext>
            </a:extLst>
          </p:cNvPr>
          <p:cNvSpPr txBox="1"/>
          <p:nvPr/>
        </p:nvSpPr>
        <p:spPr>
          <a:xfrm>
            <a:off x="7090686" y="2302447"/>
            <a:ext cx="1333500" cy="2654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725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0.6568</a:t>
            </a:r>
            <a:endParaRPr lang="ko-KR" altLang="en-US" sz="1725" b="1" dirty="0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CD76DB-521F-0FF3-C45F-87FF4CF87674}"/>
              </a:ext>
            </a:extLst>
          </p:cNvPr>
          <p:cNvSpPr txBox="1"/>
          <p:nvPr/>
        </p:nvSpPr>
        <p:spPr>
          <a:xfrm>
            <a:off x="7090686" y="2612572"/>
            <a:ext cx="1381125" cy="109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 </a:t>
            </a:r>
            <a:r>
              <a:rPr lang="ko-KR" altLang="en-US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최고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E13DF8-BF1F-41AB-AE2E-1B256B5CD102}"/>
              </a:ext>
            </a:extLst>
          </p:cNvPr>
          <p:cNvSpPr txBox="1"/>
          <p:nvPr/>
        </p:nvSpPr>
        <p:spPr>
          <a:xfrm>
            <a:off x="5785761" y="2778257"/>
            <a:ext cx="1333500" cy="2654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725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0.4643</a:t>
            </a:r>
            <a:endParaRPr lang="ko-KR" altLang="en-US" sz="1725" b="1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FF062E-0DCE-261F-158A-2337B85CD6F1}"/>
              </a:ext>
            </a:extLst>
          </p:cNvPr>
          <p:cNvSpPr txBox="1"/>
          <p:nvPr/>
        </p:nvSpPr>
        <p:spPr>
          <a:xfrm>
            <a:off x="5785761" y="3073532"/>
            <a:ext cx="1381125" cy="109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적용 </a:t>
            </a:r>
            <a:r>
              <a:rPr lang="en-US" altLang="ko-KR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threshold</a:t>
            </a:r>
            <a:endParaRPr lang="ko-KR" altLang="en-US" sz="713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91EB23-3635-83D7-9B12-BF19C77F3D57}"/>
              </a:ext>
            </a:extLst>
          </p:cNvPr>
          <p:cNvSpPr txBox="1"/>
          <p:nvPr/>
        </p:nvSpPr>
        <p:spPr>
          <a:xfrm>
            <a:off x="7090686" y="2778257"/>
            <a:ext cx="1333500" cy="2654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725" b="1" dirty="0">
                <a:solidFill>
                  <a:srgbClr val="F6B35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</a:t>
            </a:r>
            <a:endParaRPr lang="ko-KR" altLang="en-US" sz="1725" b="1" dirty="0">
              <a:solidFill>
                <a:srgbClr val="F6B35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26FA73-AD0A-F040-67CF-C1B8A8D97693}"/>
              </a:ext>
            </a:extLst>
          </p:cNvPr>
          <p:cNvSpPr txBox="1"/>
          <p:nvPr/>
        </p:nvSpPr>
        <p:spPr>
          <a:xfrm>
            <a:off x="7090686" y="3107872"/>
            <a:ext cx="1381125" cy="109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</a:t>
            </a:r>
            <a:r>
              <a:rPr lang="ko-KR" altLang="en-US" sz="71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대표 전략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61BED4F-9796-21A0-E9D6-945A5C87DAA8}"/>
              </a:ext>
            </a:extLst>
          </p:cNvPr>
          <p:cNvSpPr/>
          <p:nvPr/>
        </p:nvSpPr>
        <p:spPr>
          <a:xfrm>
            <a:off x="5399317" y="3464057"/>
            <a:ext cx="3476624" cy="876300"/>
          </a:xfrm>
          <a:prstGeom prst="roundRect">
            <a:avLst/>
          </a:prstGeom>
          <a:solidFill>
            <a:srgbClr val="113E90"/>
          </a:solidFill>
          <a:ln w="12700">
            <a:solidFill>
              <a:srgbClr val="113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C50AA2-861A-679B-97C6-5799C323130C}"/>
              </a:ext>
            </a:extLst>
          </p:cNvPr>
          <p:cNvSpPr txBox="1"/>
          <p:nvPr/>
        </p:nvSpPr>
        <p:spPr>
          <a:xfrm>
            <a:off x="5524504" y="3575339"/>
            <a:ext cx="238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3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방식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DE9BAC-1ED2-3B65-5AFE-F2B2A1997675}"/>
              </a:ext>
            </a:extLst>
          </p:cNvPr>
          <p:cNvSpPr txBox="1"/>
          <p:nvPr/>
        </p:nvSpPr>
        <p:spPr>
          <a:xfrm>
            <a:off x="5524503" y="3894370"/>
            <a:ext cx="3223529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Safe </a:t>
            </a:r>
            <a:r>
              <a:rPr lang="ko-KR" altLang="en-US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구조를 유지하면서 고객별 청구 이력</a:t>
            </a:r>
            <a:r>
              <a:rPr lang="en-US" altLang="ko-KR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금액</a:t>
            </a:r>
            <a:r>
              <a:rPr lang="en-US" altLang="ko-KR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간격</a:t>
            </a:r>
            <a:r>
              <a:rPr lang="en-US" altLang="ko-KR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기관 다양성 변수를 선별적으로 복원했습니다</a:t>
            </a:r>
            <a:r>
              <a:rPr lang="en-US" altLang="ko-KR" sz="975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75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2AAEDF-9D2F-C653-FDC3-6EDD56D46754}"/>
              </a:ext>
            </a:extLst>
          </p:cNvPr>
          <p:cNvSpPr txBox="1"/>
          <p:nvPr/>
        </p:nvSpPr>
        <p:spPr>
          <a:xfrm>
            <a:off x="5456467" y="4465119"/>
            <a:ext cx="3548739" cy="3185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3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요약하면 </a:t>
            </a:r>
            <a:r>
              <a:rPr lang="en-US" altLang="ko-KR" sz="103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Member C</a:t>
            </a:r>
            <a:r>
              <a:rPr lang="ko-KR" altLang="en-US" sz="103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“무조건 많이 </a:t>
            </a:r>
            <a:r>
              <a:rPr lang="ko-KR" altLang="en-US" sz="1035" b="1" dirty="0" err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만들기”보다</a:t>
            </a:r>
            <a:r>
              <a:rPr lang="en-US" altLang="ko-KR" sz="103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3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안정적인 집계 구조에서 목적에 맞게 변수를 복원하는 전략입니다</a:t>
            </a:r>
            <a:r>
              <a:rPr lang="en-US" altLang="ko-KR" sz="1035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35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1" name="top-line">
            <a:extLst>
              <a:ext uri="{FF2B5EF4-FFF2-40B4-BE49-F238E27FC236}">
                <a16:creationId xmlns:a16="http://schemas.microsoft.com/office/drawing/2014/main" id="{56A44337-1AD7-90D5-3B24-34EA9E1B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468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9301735-945E-5F59-0BCB-7DDB642BBC5E}"/>
              </a:ext>
            </a:extLst>
          </p:cNvPr>
          <p:cNvSpPr/>
          <p:nvPr/>
        </p:nvSpPr>
        <p:spPr>
          <a:xfrm>
            <a:off x="-35169" y="-4082"/>
            <a:ext cx="9179169" cy="5209128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31F74C3-D3B1-FBCA-FEDA-BCB3B64758EF}"/>
              </a:ext>
            </a:extLst>
          </p:cNvPr>
          <p:cNvSpPr/>
          <p:nvPr/>
        </p:nvSpPr>
        <p:spPr>
          <a:xfrm>
            <a:off x="406400" y="190500"/>
            <a:ext cx="1018268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036B9-2A28-B4CF-AD4B-8E5558C82AF2}"/>
              </a:ext>
            </a:extLst>
          </p:cNvPr>
          <p:cNvSpPr txBox="1"/>
          <p:nvPr/>
        </p:nvSpPr>
        <p:spPr>
          <a:xfrm>
            <a:off x="546100" y="330200"/>
            <a:ext cx="723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2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A74247-9AB6-DE12-2311-702B726D1350}"/>
              </a:ext>
            </a:extLst>
          </p:cNvPr>
          <p:cNvSpPr txBox="1"/>
          <p:nvPr/>
        </p:nvSpPr>
        <p:spPr>
          <a:xfrm>
            <a:off x="406400" y="1007734"/>
            <a:ext cx="6191250" cy="3924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25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Member C </a:t>
            </a:r>
            <a:r>
              <a:rPr lang="ko-KR" altLang="en-US" sz="25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비교 </a:t>
            </a:r>
            <a:r>
              <a:rPr lang="en-US" altLang="ko-KR" sz="25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(v1 → v4)</a:t>
            </a:r>
            <a:endParaRPr lang="ko-KR" altLang="en-US" sz="2550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E6C61-6558-6AEE-877E-FAD7C0D029D7}"/>
              </a:ext>
            </a:extLst>
          </p:cNvPr>
          <p:cNvSpPr txBox="1"/>
          <p:nvPr/>
        </p:nvSpPr>
        <p:spPr>
          <a:xfrm>
            <a:off x="476250" y="1587500"/>
            <a:ext cx="7239000" cy="1638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065" b="1" dirty="0" err="1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LightGBM</a:t>
            </a:r>
            <a:r>
              <a:rPr lang="en-US" altLang="ko-KR" sz="1065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artifacts </a:t>
            </a:r>
            <a:r>
              <a:rPr lang="ko-KR" altLang="en-US" sz="1065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기준으로 안정성을 바탕으로 주요 </a:t>
            </a:r>
            <a:r>
              <a:rPr lang="en-US" altLang="ko-KR" sz="1065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Features</a:t>
            </a:r>
            <a:r>
              <a:rPr lang="ko-KR" altLang="en-US" sz="1065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만 보완하였습니다</a:t>
            </a:r>
            <a:r>
              <a:rPr lang="en-US" altLang="ko-KR" sz="1065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65" b="1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C8693-D42A-C99E-C722-5BD312462539}"/>
              </a:ext>
            </a:extLst>
          </p:cNvPr>
          <p:cNvSpPr txBox="1"/>
          <p:nvPr/>
        </p:nvSpPr>
        <p:spPr>
          <a:xfrm>
            <a:off x="457200" y="1962150"/>
            <a:ext cx="314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전략별 성능</a:t>
            </a:r>
            <a:r>
              <a:rPr lang="en-US" altLang="ko-KR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/feature </a:t>
            </a:r>
            <a:r>
              <a:rPr lang="ko-KR" altLang="en-US" sz="135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비교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8D2704F-23C3-8C97-8A95-91B699730EAA}"/>
              </a:ext>
            </a:extLst>
          </p:cNvPr>
          <p:cNvCxnSpPr/>
          <p:nvPr/>
        </p:nvCxnSpPr>
        <p:spPr>
          <a:xfrm>
            <a:off x="457200" y="1885950"/>
            <a:ext cx="1304925" cy="0"/>
          </a:xfrm>
          <a:prstGeom prst="line">
            <a:avLst/>
          </a:prstGeom>
          <a:ln w="30480">
            <a:solidFill>
              <a:srgbClr val="2D6D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191821D-BF0A-3830-2AFD-343CA82838A2}"/>
              </a:ext>
            </a:extLst>
          </p:cNvPr>
          <p:cNvSpPr/>
          <p:nvPr/>
        </p:nvSpPr>
        <p:spPr>
          <a:xfrm>
            <a:off x="457200" y="2305050"/>
            <a:ext cx="4333875" cy="1771650"/>
          </a:xfrm>
          <a:prstGeom prst="roundRect">
            <a:avLst/>
          </a:prstGeom>
          <a:solidFill>
            <a:srgbClr val="081D28"/>
          </a:solidFill>
          <a:ln w="12700">
            <a:solidFill>
              <a:srgbClr val="0B35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F2888-8111-B102-09A5-2CB2C91335C5}"/>
              </a:ext>
            </a:extLst>
          </p:cNvPr>
          <p:cNvSpPr txBox="1"/>
          <p:nvPr/>
        </p:nvSpPr>
        <p:spPr>
          <a:xfrm>
            <a:off x="600075" y="2438400"/>
            <a:ext cx="4191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버전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5D4CF4-0A9C-AE54-8D2A-E34909ABB3E4}"/>
              </a:ext>
            </a:extLst>
          </p:cNvPr>
          <p:cNvSpPr txBox="1"/>
          <p:nvPr/>
        </p:nvSpPr>
        <p:spPr>
          <a:xfrm>
            <a:off x="1114425" y="2438400"/>
            <a:ext cx="59055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Features</a:t>
            </a:r>
            <a:endParaRPr lang="ko-KR" altLang="en-US" sz="750" b="1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06D41-0926-96A9-91EC-3C27CC9AFE7A}"/>
              </a:ext>
            </a:extLst>
          </p:cNvPr>
          <p:cNvSpPr txBox="1"/>
          <p:nvPr/>
        </p:nvSpPr>
        <p:spPr>
          <a:xfrm>
            <a:off x="1800225" y="2438400"/>
            <a:ext cx="619125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</a:t>
            </a:r>
            <a:endParaRPr lang="ko-KR" altLang="en-US" sz="750" b="1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610E9B-BDF6-7B10-48DB-CF8A1A82F2C2}"/>
              </a:ext>
            </a:extLst>
          </p:cNvPr>
          <p:cNvSpPr txBox="1"/>
          <p:nvPr/>
        </p:nvSpPr>
        <p:spPr>
          <a:xfrm>
            <a:off x="2514600" y="2438400"/>
            <a:ext cx="55245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</a:t>
            </a:r>
            <a:endParaRPr lang="ko-KR" altLang="en-US" sz="750" b="1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56917-926C-124A-B30A-4180E0D46625}"/>
              </a:ext>
            </a:extLst>
          </p:cNvPr>
          <p:cNvSpPr txBox="1"/>
          <p:nvPr/>
        </p:nvSpPr>
        <p:spPr>
          <a:xfrm>
            <a:off x="3162300" y="2438400"/>
            <a:ext cx="1524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750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0E03B2-24FA-05ED-6C13-B6014E820806}"/>
              </a:ext>
            </a:extLst>
          </p:cNvPr>
          <p:cNvSpPr/>
          <p:nvPr/>
        </p:nvSpPr>
        <p:spPr>
          <a:xfrm>
            <a:off x="552450" y="2705100"/>
            <a:ext cx="4095750" cy="295275"/>
          </a:xfrm>
          <a:prstGeom prst="rect">
            <a:avLst/>
          </a:prstGeom>
          <a:solidFill>
            <a:srgbClr val="0A1D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D064D-8E9E-66B7-E56F-09E516298445}"/>
              </a:ext>
            </a:extLst>
          </p:cNvPr>
          <p:cNvSpPr txBox="1"/>
          <p:nvPr/>
        </p:nvSpPr>
        <p:spPr>
          <a:xfrm>
            <a:off x="600075" y="2781300"/>
            <a:ext cx="4191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v1</a:t>
            </a:r>
            <a:endParaRPr lang="ko-KR" altLang="en-US" sz="803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63DC50-2106-703B-56F6-CBA323AC6D69}"/>
              </a:ext>
            </a:extLst>
          </p:cNvPr>
          <p:cNvSpPr txBox="1"/>
          <p:nvPr/>
        </p:nvSpPr>
        <p:spPr>
          <a:xfrm>
            <a:off x="1114425" y="2781300"/>
            <a:ext cx="5905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244</a:t>
            </a:r>
            <a:endParaRPr lang="ko-KR" altLang="en-US" sz="803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5A1596-51DF-9F17-3097-FC29924F9095}"/>
              </a:ext>
            </a:extLst>
          </p:cNvPr>
          <p:cNvSpPr txBox="1"/>
          <p:nvPr/>
        </p:nvSpPr>
        <p:spPr>
          <a:xfrm>
            <a:off x="1800225" y="2781300"/>
            <a:ext cx="619125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0.6513</a:t>
            </a:r>
            <a:endParaRPr lang="ko-KR" altLang="en-US" sz="803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D5FD4D-2378-FDA8-DBC6-1CF7B66A6FEF}"/>
              </a:ext>
            </a:extLst>
          </p:cNvPr>
          <p:cNvSpPr txBox="1"/>
          <p:nvPr/>
        </p:nvSpPr>
        <p:spPr>
          <a:xfrm>
            <a:off x="2514600" y="2781300"/>
            <a:ext cx="5524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0.6617</a:t>
            </a:r>
            <a:endParaRPr lang="ko-KR" altLang="en-US" sz="803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BB2CF-827C-D793-4E3E-0CA2E5A664AE}"/>
              </a:ext>
            </a:extLst>
          </p:cNvPr>
          <p:cNvSpPr txBox="1"/>
          <p:nvPr/>
        </p:nvSpPr>
        <p:spPr>
          <a:xfrm>
            <a:off x="3162300" y="2781300"/>
            <a:ext cx="15240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초기 고객 단위 집계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5E5C1D3-52B4-B7F4-7728-AF1E67AAE540}"/>
              </a:ext>
            </a:extLst>
          </p:cNvPr>
          <p:cNvSpPr/>
          <p:nvPr/>
        </p:nvSpPr>
        <p:spPr>
          <a:xfrm>
            <a:off x="552450" y="3028950"/>
            <a:ext cx="4095750" cy="295275"/>
          </a:xfrm>
          <a:prstGeom prst="rect">
            <a:avLst/>
          </a:prstGeom>
          <a:solidFill>
            <a:srgbClr val="0D25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23945E-8328-7B10-BADB-908ED239BEF3}"/>
              </a:ext>
            </a:extLst>
          </p:cNvPr>
          <p:cNvSpPr txBox="1"/>
          <p:nvPr/>
        </p:nvSpPr>
        <p:spPr>
          <a:xfrm>
            <a:off x="600075" y="3105150"/>
            <a:ext cx="4191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v2</a:t>
            </a:r>
            <a:endParaRPr lang="ko-KR" altLang="en-US" sz="803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7C9903-04B8-68A0-5E8C-512D741F2909}"/>
              </a:ext>
            </a:extLst>
          </p:cNvPr>
          <p:cNvSpPr txBox="1"/>
          <p:nvPr/>
        </p:nvSpPr>
        <p:spPr>
          <a:xfrm>
            <a:off x="1114425" y="3105150"/>
            <a:ext cx="5905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174</a:t>
            </a:r>
            <a:endParaRPr lang="ko-KR" altLang="en-US" sz="803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377D17-1D5E-445E-2996-6E97284298E1}"/>
              </a:ext>
            </a:extLst>
          </p:cNvPr>
          <p:cNvSpPr txBox="1"/>
          <p:nvPr/>
        </p:nvSpPr>
        <p:spPr>
          <a:xfrm>
            <a:off x="1800225" y="3105150"/>
            <a:ext cx="619125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0.5590</a:t>
            </a:r>
            <a:endParaRPr lang="ko-KR" altLang="en-US" sz="803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11425D-E48E-2792-448B-73D38CE61F78}"/>
              </a:ext>
            </a:extLst>
          </p:cNvPr>
          <p:cNvSpPr txBox="1"/>
          <p:nvPr/>
        </p:nvSpPr>
        <p:spPr>
          <a:xfrm>
            <a:off x="2514600" y="3105150"/>
            <a:ext cx="5524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0.6516</a:t>
            </a:r>
            <a:endParaRPr lang="ko-KR" altLang="en-US" sz="803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136995-A143-0DEC-3266-D64DB03E82A8}"/>
              </a:ext>
            </a:extLst>
          </p:cNvPr>
          <p:cNvSpPr txBox="1"/>
          <p:nvPr/>
        </p:nvSpPr>
        <p:spPr>
          <a:xfrm>
            <a:off x="3162300" y="3105150"/>
            <a:ext cx="15240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</a:t>
            </a:r>
            <a:r>
              <a:rPr lang="ko-KR" altLang="en-US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축소 후 </a:t>
            </a:r>
            <a:r>
              <a:rPr lang="en-US" altLang="ko-KR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</a:t>
            </a:r>
            <a:r>
              <a:rPr lang="ko-KR" altLang="en-US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하락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0362FA-624D-EABB-5505-F5952321ECA7}"/>
              </a:ext>
            </a:extLst>
          </p:cNvPr>
          <p:cNvSpPr/>
          <p:nvPr/>
        </p:nvSpPr>
        <p:spPr>
          <a:xfrm>
            <a:off x="552450" y="3352800"/>
            <a:ext cx="4095750" cy="295275"/>
          </a:xfrm>
          <a:prstGeom prst="rect">
            <a:avLst/>
          </a:prstGeom>
          <a:solidFill>
            <a:srgbClr val="0A1D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10D42-E7FC-1B47-260C-747473BE3C49}"/>
              </a:ext>
            </a:extLst>
          </p:cNvPr>
          <p:cNvSpPr txBox="1"/>
          <p:nvPr/>
        </p:nvSpPr>
        <p:spPr>
          <a:xfrm>
            <a:off x="600075" y="3429000"/>
            <a:ext cx="4191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v3</a:t>
            </a:r>
            <a:endParaRPr lang="ko-KR" altLang="en-US" sz="803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C60F44-DEA0-319E-EF27-00C06E5343A9}"/>
              </a:ext>
            </a:extLst>
          </p:cNvPr>
          <p:cNvSpPr txBox="1"/>
          <p:nvPr/>
        </p:nvSpPr>
        <p:spPr>
          <a:xfrm>
            <a:off x="1114425" y="3429000"/>
            <a:ext cx="5905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177</a:t>
            </a:r>
            <a:endParaRPr lang="ko-KR" altLang="en-US" sz="803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93430B-BEEC-02C9-3008-11683EFE4139}"/>
              </a:ext>
            </a:extLst>
          </p:cNvPr>
          <p:cNvSpPr txBox="1"/>
          <p:nvPr/>
        </p:nvSpPr>
        <p:spPr>
          <a:xfrm>
            <a:off x="1800225" y="3429000"/>
            <a:ext cx="619125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0.5498</a:t>
            </a:r>
            <a:endParaRPr lang="ko-KR" altLang="en-US" sz="803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DB68EA-99AA-64D7-2D5A-686C047CFF46}"/>
              </a:ext>
            </a:extLst>
          </p:cNvPr>
          <p:cNvSpPr txBox="1"/>
          <p:nvPr/>
        </p:nvSpPr>
        <p:spPr>
          <a:xfrm>
            <a:off x="2514600" y="3429000"/>
            <a:ext cx="5524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0.6327</a:t>
            </a:r>
            <a:endParaRPr lang="ko-KR" altLang="en-US" sz="803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60105C-7725-AC8A-7A57-D544B80A9CC7}"/>
              </a:ext>
            </a:extLst>
          </p:cNvPr>
          <p:cNvSpPr txBox="1"/>
          <p:nvPr/>
        </p:nvSpPr>
        <p:spPr>
          <a:xfrm>
            <a:off x="3162300" y="3429000"/>
            <a:ext cx="15240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Safe </a:t>
            </a:r>
            <a:r>
              <a:rPr lang="ko-KR" altLang="en-US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안정화 후 하락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2AE2A2-7E35-69A3-0DD3-938925B908AF}"/>
              </a:ext>
            </a:extLst>
          </p:cNvPr>
          <p:cNvSpPr/>
          <p:nvPr/>
        </p:nvSpPr>
        <p:spPr>
          <a:xfrm>
            <a:off x="552450" y="3676650"/>
            <a:ext cx="4095750" cy="295275"/>
          </a:xfrm>
          <a:prstGeom prst="rect">
            <a:avLst/>
          </a:prstGeom>
          <a:solidFill>
            <a:srgbClr val="0D25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F31083-D443-B673-5665-5AAC6FACAD1D}"/>
              </a:ext>
            </a:extLst>
          </p:cNvPr>
          <p:cNvSpPr txBox="1"/>
          <p:nvPr/>
        </p:nvSpPr>
        <p:spPr>
          <a:xfrm>
            <a:off x="600075" y="3752850"/>
            <a:ext cx="4191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</a:t>
            </a:r>
            <a:endParaRPr lang="ko-KR" altLang="en-US" sz="803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2C9A96-1B6B-7470-0A6C-CCA4CF324FEE}"/>
              </a:ext>
            </a:extLst>
          </p:cNvPr>
          <p:cNvSpPr txBox="1"/>
          <p:nvPr/>
        </p:nvSpPr>
        <p:spPr>
          <a:xfrm>
            <a:off x="1114425" y="3752850"/>
            <a:ext cx="5905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191</a:t>
            </a:r>
            <a:endParaRPr lang="ko-KR" altLang="en-US" sz="803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DE8342-B860-F710-4029-F04F8E9BFFBB}"/>
              </a:ext>
            </a:extLst>
          </p:cNvPr>
          <p:cNvSpPr txBox="1"/>
          <p:nvPr/>
        </p:nvSpPr>
        <p:spPr>
          <a:xfrm>
            <a:off x="1800225" y="3752850"/>
            <a:ext cx="619125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0.6568</a:t>
            </a:r>
            <a:endParaRPr lang="ko-KR" altLang="en-US" sz="803" b="1" dirty="0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B3DF0C-5965-650D-B71E-09546DB20B09}"/>
              </a:ext>
            </a:extLst>
          </p:cNvPr>
          <p:cNvSpPr txBox="1"/>
          <p:nvPr/>
        </p:nvSpPr>
        <p:spPr>
          <a:xfrm>
            <a:off x="2514600" y="3752850"/>
            <a:ext cx="55245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0.6729</a:t>
            </a:r>
            <a:endParaRPr lang="ko-KR" altLang="en-US" sz="803" b="1" dirty="0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FDE20E-2454-8FD3-BCAA-7E1F050FDE95}"/>
              </a:ext>
            </a:extLst>
          </p:cNvPr>
          <p:cNvSpPr txBox="1"/>
          <p:nvPr/>
        </p:nvSpPr>
        <p:spPr>
          <a:xfrm>
            <a:off x="3162300" y="3752850"/>
            <a:ext cx="1524000" cy="1235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</a:t>
            </a:r>
            <a:r>
              <a:rPr lang="ko-KR" altLang="en-US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</a:t>
            </a:r>
            <a:r>
              <a:rPr lang="en-US" altLang="ko-KR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</a:t>
            </a:r>
            <a:r>
              <a:rPr lang="ko-KR" altLang="en-US" sz="803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둘 다 최고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01B843-E4CD-2EA4-6184-EFA4CC9573D2}"/>
              </a:ext>
            </a:extLst>
          </p:cNvPr>
          <p:cNvSpPr txBox="1"/>
          <p:nvPr/>
        </p:nvSpPr>
        <p:spPr>
          <a:xfrm>
            <a:off x="476250" y="4238625"/>
            <a:ext cx="4286250" cy="1477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v1→v4 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변화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feature -53</a:t>
            </a:r>
            <a:r>
              <a:rPr lang="ko-KR" altLang="en-US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</a:t>
            </a:r>
            <a:r>
              <a:rPr lang="en-US" altLang="ko-KR" sz="960" b="1" dirty="0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 Recall +0.0886 · F1 +0.0312</a:t>
            </a:r>
            <a:endParaRPr lang="ko-KR" altLang="en-US" sz="960" b="1" dirty="0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AFB18D-1D0B-9E15-F0C2-F0DCCE61C451}"/>
              </a:ext>
            </a:extLst>
          </p:cNvPr>
          <p:cNvSpPr txBox="1"/>
          <p:nvPr/>
        </p:nvSpPr>
        <p:spPr>
          <a:xfrm>
            <a:off x="5219700" y="1962150"/>
            <a:ext cx="266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5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해석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493F4B8-8EB6-CA38-699A-0475FCC470B9}"/>
              </a:ext>
            </a:extLst>
          </p:cNvPr>
          <p:cNvSpPr/>
          <p:nvPr/>
        </p:nvSpPr>
        <p:spPr>
          <a:xfrm>
            <a:off x="5219700" y="2343150"/>
            <a:ext cx="3476625" cy="876300"/>
          </a:xfrm>
          <a:prstGeom prst="roundRect">
            <a:avLst/>
          </a:prstGeom>
          <a:solidFill>
            <a:srgbClr val="081D28"/>
          </a:solidFill>
          <a:ln w="12700">
            <a:solidFill>
              <a:srgbClr val="3656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D02A2A-08DE-C512-A9CF-B1166F729DB9}"/>
              </a:ext>
            </a:extLst>
          </p:cNvPr>
          <p:cNvSpPr txBox="1"/>
          <p:nvPr/>
        </p:nvSpPr>
        <p:spPr>
          <a:xfrm>
            <a:off x="5410200" y="2552700"/>
            <a:ext cx="1333500" cy="2654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725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 · 0.6729</a:t>
            </a:r>
            <a:endParaRPr lang="ko-KR" altLang="en-US" sz="1725" b="1" dirty="0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51C245-7808-68F8-18E3-B0EFA1D5A131}"/>
              </a:ext>
            </a:extLst>
          </p:cNvPr>
          <p:cNvSpPr txBox="1"/>
          <p:nvPr/>
        </p:nvSpPr>
        <p:spPr>
          <a:xfrm>
            <a:off x="5410200" y="2847975"/>
            <a:ext cx="1381125" cy="109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13" b="1" dirty="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</a:t>
            </a:r>
            <a:r>
              <a:rPr lang="ko-KR" altLang="en-US" sz="713" b="1" dirty="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대표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3BBBB8-72FD-9971-5CCF-14783654C275}"/>
              </a:ext>
            </a:extLst>
          </p:cNvPr>
          <p:cNvSpPr txBox="1"/>
          <p:nvPr/>
        </p:nvSpPr>
        <p:spPr>
          <a:xfrm>
            <a:off x="6953250" y="2552700"/>
            <a:ext cx="1333500" cy="2654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725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 · 0.6568</a:t>
            </a:r>
            <a:endParaRPr lang="ko-KR" altLang="en-US" sz="1725" b="1" dirty="0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D3560B-5D5C-E985-8349-CB342EDBE6F7}"/>
              </a:ext>
            </a:extLst>
          </p:cNvPr>
          <p:cNvSpPr txBox="1"/>
          <p:nvPr/>
        </p:nvSpPr>
        <p:spPr>
          <a:xfrm>
            <a:off x="6953250" y="2847975"/>
            <a:ext cx="1381125" cy="1097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713" b="1" dirty="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 </a:t>
            </a:r>
            <a:r>
              <a:rPr lang="ko-KR" altLang="en-US" sz="713" b="1" dirty="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 대표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B82813-C030-CC6D-B305-E945BB46E4B2}"/>
              </a:ext>
            </a:extLst>
          </p:cNvPr>
          <p:cNvSpPr txBox="1"/>
          <p:nvPr/>
        </p:nvSpPr>
        <p:spPr>
          <a:xfrm>
            <a:off x="5267325" y="3421784"/>
            <a:ext cx="3429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결론</a:t>
            </a:r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</a:p>
          <a:p>
            <a:pPr defTabSz="685800"/>
            <a:endParaRPr lang="en-US" altLang="ko-KR" sz="105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defTabSz="685800"/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Member C</a:t>
            </a:r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v3</a:t>
            </a:r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균형 성능을 확보했고</a:t>
            </a:r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</a:p>
          <a:p>
            <a:pPr defTabSz="685800"/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v4</a:t>
            </a:r>
            <a:r>
              <a:rPr lang="ko-KR" altLang="en-US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운영 관점의 탐지율을 더 높였습니다</a:t>
            </a:r>
            <a:r>
              <a:rPr lang="en-US" altLang="ko-KR" sz="105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05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2" name="top-line">
            <a:extLst>
              <a:ext uri="{FF2B5EF4-FFF2-40B4-BE49-F238E27FC236}">
                <a16:creationId xmlns:a16="http://schemas.microsoft.com/office/drawing/2014/main" id="{E2A7CC20-70EF-BF67-32A7-CA10AF485C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098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8A109CD-7BA4-F2F1-A221-268EB2322D4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446050-D801-8049-0C5B-811351711942}"/>
              </a:ext>
            </a:extLst>
          </p:cNvPr>
          <p:cNvSpPr/>
          <p:nvPr/>
        </p:nvSpPr>
        <p:spPr>
          <a:xfrm>
            <a:off x="0" y="0"/>
            <a:ext cx="2952750" cy="5143500"/>
          </a:xfrm>
          <a:prstGeom prst="rect">
            <a:avLst/>
          </a:prstGeom>
          <a:solidFill>
            <a:srgbClr val="0B1925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B13EAC-CFB6-3D91-3E05-538548972116}"/>
              </a:ext>
            </a:extLst>
          </p:cNvPr>
          <p:cNvSpPr/>
          <p:nvPr/>
        </p:nvSpPr>
        <p:spPr>
          <a:xfrm>
            <a:off x="409575" y="342900"/>
            <a:ext cx="2952750" cy="14288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1349585-9750-43E5-332C-832148413F60}"/>
              </a:ext>
            </a:extLst>
          </p:cNvPr>
          <p:cNvSpPr/>
          <p:nvPr/>
        </p:nvSpPr>
        <p:spPr>
          <a:xfrm>
            <a:off x="409575" y="457200"/>
            <a:ext cx="904875" cy="276225"/>
          </a:xfrm>
          <a:prstGeom prst="roundRect">
            <a:avLst>
              <a:gd name="adj" fmla="val 45000"/>
            </a:avLst>
          </a:prstGeom>
          <a:solidFill>
            <a:srgbClr val="07161D"/>
          </a:solidFill>
          <a:ln w="2540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7784D-93D4-07D4-A96E-40887AF1D8C8}"/>
              </a:ext>
            </a:extLst>
          </p:cNvPr>
          <p:cNvSpPr txBox="1"/>
          <p:nvPr/>
        </p:nvSpPr>
        <p:spPr>
          <a:xfrm>
            <a:off x="542925" y="523875"/>
            <a:ext cx="642938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defTabSz="342900"/>
            <a:r>
              <a:rPr lang="ko-KR" altLang="en-US" sz="900" b="1">
                <a:solidFill>
                  <a:srgbClr val="5A9B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A82B6-2E96-FB2D-A1BB-589F2602BDF3}"/>
              </a:ext>
            </a:extLst>
          </p:cNvPr>
          <p:cNvSpPr txBox="1"/>
          <p:nvPr/>
        </p:nvSpPr>
        <p:spPr>
          <a:xfrm>
            <a:off x="409575" y="895350"/>
            <a:ext cx="3095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ko-KR" altLang="en-US" sz="217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전략별 성능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079C0-D26B-07CB-EBCE-8B0532C57CAA}"/>
              </a:ext>
            </a:extLst>
          </p:cNvPr>
          <p:cNvSpPr txBox="1"/>
          <p:nvPr/>
        </p:nvSpPr>
        <p:spPr>
          <a:xfrm>
            <a:off x="419100" y="1228725"/>
            <a:ext cx="17145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1125" b="1">
                <a:solidFill>
                  <a:srgbClr val="5A9B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LightGBM </a:t>
            </a:r>
            <a:r>
              <a:rPr lang="ko-KR" altLang="en-US" sz="1125" b="1">
                <a:solidFill>
                  <a:srgbClr val="5A9B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9334FA-6516-2D32-DA2D-2E2A093AF5B3}"/>
              </a:ext>
            </a:extLst>
          </p:cNvPr>
          <p:cNvSpPr txBox="1"/>
          <p:nvPr/>
        </p:nvSpPr>
        <p:spPr>
          <a:xfrm>
            <a:off x="419100" y="1524000"/>
            <a:ext cx="36195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9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A4 · B3 · C4 · ABC </a:t>
            </a:r>
            <a:r>
              <a:rPr lang="ko-KR" altLang="en-US" sz="9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병합 전략을 동일한 평가 기준으로 비교했습니다</a:t>
            </a:r>
            <a:r>
              <a:rPr lang="en-US" altLang="ko-KR" sz="900" b="1" dirty="0">
                <a:solidFill>
                  <a:schemeClr val="bg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00" b="1" dirty="0">
              <a:solidFill>
                <a:schemeClr val="bg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F07DEA0-8A96-4613-041D-4684CE4057B7}"/>
              </a:ext>
            </a:extLst>
          </p:cNvPr>
          <p:cNvSpPr/>
          <p:nvPr/>
        </p:nvSpPr>
        <p:spPr>
          <a:xfrm>
            <a:off x="409575" y="1881188"/>
            <a:ext cx="4071938" cy="2714625"/>
          </a:xfrm>
          <a:prstGeom prst="roundRect">
            <a:avLst>
              <a:gd name="adj" fmla="val 4000"/>
            </a:avLst>
          </a:prstGeom>
          <a:solidFill>
            <a:srgbClr val="121922">
              <a:alpha val="9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FF67E-EC80-810D-2F09-4932E2263732}"/>
              </a:ext>
            </a:extLst>
          </p:cNvPr>
          <p:cNvSpPr txBox="1"/>
          <p:nvPr/>
        </p:nvSpPr>
        <p:spPr>
          <a:xfrm>
            <a:off x="523875" y="2000250"/>
            <a:ext cx="204787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112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 · F1 · F1 Macro </a:t>
            </a:r>
            <a:r>
              <a:rPr lang="ko-KR" altLang="en-US" sz="112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DBEA47-9B59-D878-FD09-D4E96C859B9B}"/>
              </a:ext>
            </a:extLst>
          </p:cNvPr>
          <p:cNvSpPr/>
          <p:nvPr/>
        </p:nvSpPr>
        <p:spPr>
          <a:xfrm>
            <a:off x="533400" y="2262188"/>
            <a:ext cx="123825" cy="85725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7CB511-C3D2-6BF9-F281-DFA456BAD303}"/>
              </a:ext>
            </a:extLst>
          </p:cNvPr>
          <p:cNvSpPr txBox="1"/>
          <p:nvPr/>
        </p:nvSpPr>
        <p:spPr>
          <a:xfrm>
            <a:off x="704850" y="2233613"/>
            <a:ext cx="4381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38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</a:t>
            </a:r>
            <a:endParaRPr lang="ko-KR" altLang="en-US" sz="638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CAF840-B974-294C-C2E3-6C740C3F3B7E}"/>
              </a:ext>
            </a:extLst>
          </p:cNvPr>
          <p:cNvSpPr/>
          <p:nvPr/>
        </p:nvSpPr>
        <p:spPr>
          <a:xfrm>
            <a:off x="1152525" y="2262188"/>
            <a:ext cx="123825" cy="85725"/>
          </a:xfrm>
          <a:prstGeom prst="rect">
            <a:avLst/>
          </a:prstGeom>
          <a:solidFill>
            <a:srgbClr val="5A9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BCFFE2-82BB-5035-4E99-5E677754758D}"/>
              </a:ext>
            </a:extLst>
          </p:cNvPr>
          <p:cNvSpPr txBox="1"/>
          <p:nvPr/>
        </p:nvSpPr>
        <p:spPr>
          <a:xfrm>
            <a:off x="1323975" y="2233613"/>
            <a:ext cx="500063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38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Score</a:t>
            </a:r>
            <a:endParaRPr lang="ko-KR" altLang="en-US" sz="638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AC5618-DD4D-0348-5B66-DF327FBAECFD}"/>
              </a:ext>
            </a:extLst>
          </p:cNvPr>
          <p:cNvSpPr/>
          <p:nvPr/>
        </p:nvSpPr>
        <p:spPr>
          <a:xfrm>
            <a:off x="1943100" y="2262188"/>
            <a:ext cx="123825" cy="85725"/>
          </a:xfrm>
          <a:prstGeom prst="rect">
            <a:avLst/>
          </a:prstGeom>
          <a:solidFill>
            <a:srgbClr val="6CA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F1063D-1CCC-CD50-6D10-E6D29DFB73A0}"/>
              </a:ext>
            </a:extLst>
          </p:cNvPr>
          <p:cNvSpPr txBox="1"/>
          <p:nvPr/>
        </p:nvSpPr>
        <p:spPr>
          <a:xfrm>
            <a:off x="2114550" y="2233613"/>
            <a:ext cx="52387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38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Macro</a:t>
            </a:r>
            <a:endParaRPr lang="ko-KR" altLang="en-US" sz="638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BE30A-2948-5D8E-13C8-863DC49B5373}"/>
              </a:ext>
            </a:extLst>
          </p:cNvPr>
          <p:cNvSpPr txBox="1"/>
          <p:nvPr/>
        </p:nvSpPr>
        <p:spPr>
          <a:xfrm>
            <a:off x="500062" y="2547938"/>
            <a:ext cx="642938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938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A4</a:t>
            </a:r>
            <a:endParaRPr lang="ko-KR" altLang="en-US" sz="938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B0E4A9-842F-191B-9DB2-21A0BE97168E}"/>
              </a:ext>
            </a:extLst>
          </p:cNvPr>
          <p:cNvSpPr/>
          <p:nvPr/>
        </p:nvSpPr>
        <p:spPr>
          <a:xfrm>
            <a:off x="1262063" y="255746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9BC166-745E-01C0-14C4-26DE42DB4CFE}"/>
              </a:ext>
            </a:extLst>
          </p:cNvPr>
          <p:cNvSpPr/>
          <p:nvPr/>
        </p:nvSpPr>
        <p:spPr>
          <a:xfrm>
            <a:off x="1262063" y="2557463"/>
            <a:ext cx="2076450" cy="85725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CF4E85-2438-65DF-350E-E32F4BC716B5}"/>
              </a:ext>
            </a:extLst>
          </p:cNvPr>
          <p:cNvSpPr txBox="1"/>
          <p:nvPr/>
        </p:nvSpPr>
        <p:spPr>
          <a:xfrm>
            <a:off x="4205288" y="252412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0.6181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1341384-D7CF-7044-8312-EC5C223CA810}"/>
              </a:ext>
            </a:extLst>
          </p:cNvPr>
          <p:cNvSpPr/>
          <p:nvPr/>
        </p:nvSpPr>
        <p:spPr>
          <a:xfrm>
            <a:off x="1262063" y="270986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C734C4-C9E0-7A8C-0BBD-87EF414B67CC}"/>
              </a:ext>
            </a:extLst>
          </p:cNvPr>
          <p:cNvSpPr/>
          <p:nvPr/>
        </p:nvSpPr>
        <p:spPr>
          <a:xfrm>
            <a:off x="1262063" y="2709863"/>
            <a:ext cx="2105025" cy="85725"/>
          </a:xfrm>
          <a:prstGeom prst="rect">
            <a:avLst/>
          </a:prstGeom>
          <a:solidFill>
            <a:srgbClr val="5A9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002C61-3EB0-CB9F-8D37-B51A59FD6B8B}"/>
              </a:ext>
            </a:extLst>
          </p:cNvPr>
          <p:cNvSpPr txBox="1"/>
          <p:nvPr/>
        </p:nvSpPr>
        <p:spPr>
          <a:xfrm>
            <a:off x="4205288" y="267652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0.6256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4AB844-1077-1086-2E36-7096565D0EBF}"/>
              </a:ext>
            </a:extLst>
          </p:cNvPr>
          <p:cNvSpPr/>
          <p:nvPr/>
        </p:nvSpPr>
        <p:spPr>
          <a:xfrm>
            <a:off x="1262063" y="286226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01D2F6-03FD-FA6E-90AE-449C74FE8554}"/>
              </a:ext>
            </a:extLst>
          </p:cNvPr>
          <p:cNvSpPr/>
          <p:nvPr/>
        </p:nvSpPr>
        <p:spPr>
          <a:xfrm>
            <a:off x="1262062" y="2862263"/>
            <a:ext cx="2671763" cy="85725"/>
          </a:xfrm>
          <a:prstGeom prst="rect">
            <a:avLst/>
          </a:prstGeom>
          <a:solidFill>
            <a:srgbClr val="6CA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2F2E36-7F6A-392C-5F27-49AD94A58200}"/>
              </a:ext>
            </a:extLst>
          </p:cNvPr>
          <p:cNvSpPr txBox="1"/>
          <p:nvPr/>
        </p:nvSpPr>
        <p:spPr>
          <a:xfrm>
            <a:off x="4205288" y="282892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0.7950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E20045-05B2-D3D9-9185-AEDDF98A4685}"/>
              </a:ext>
            </a:extLst>
          </p:cNvPr>
          <p:cNvSpPr txBox="1"/>
          <p:nvPr/>
        </p:nvSpPr>
        <p:spPr>
          <a:xfrm>
            <a:off x="500063" y="2776538"/>
            <a:ext cx="5715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38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89</a:t>
            </a:r>
            <a:endParaRPr lang="ko-KR" altLang="en-US" sz="638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36CCC3-3103-FCD2-DD65-E96982D97098}"/>
              </a:ext>
            </a:extLst>
          </p:cNvPr>
          <p:cNvSpPr txBox="1"/>
          <p:nvPr/>
        </p:nvSpPr>
        <p:spPr>
          <a:xfrm>
            <a:off x="500062" y="3024188"/>
            <a:ext cx="642938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938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B3</a:t>
            </a:r>
            <a:endParaRPr lang="ko-KR" altLang="en-US" sz="938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D3E065E-7051-79F6-A16E-600182A59F96}"/>
              </a:ext>
            </a:extLst>
          </p:cNvPr>
          <p:cNvSpPr/>
          <p:nvPr/>
        </p:nvSpPr>
        <p:spPr>
          <a:xfrm>
            <a:off x="1262063" y="303371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4834424-E875-30A8-7E4A-D1B3EE62F3DB}"/>
              </a:ext>
            </a:extLst>
          </p:cNvPr>
          <p:cNvSpPr/>
          <p:nvPr/>
        </p:nvSpPr>
        <p:spPr>
          <a:xfrm>
            <a:off x="1262063" y="3033713"/>
            <a:ext cx="2209800" cy="85725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8C52CA-8C15-E450-FB63-671DAC750D66}"/>
              </a:ext>
            </a:extLst>
          </p:cNvPr>
          <p:cNvSpPr txBox="1"/>
          <p:nvPr/>
        </p:nvSpPr>
        <p:spPr>
          <a:xfrm>
            <a:off x="4205288" y="300037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0.6568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20FEC41-4159-EDC6-4668-6DBA9509CCE5}"/>
              </a:ext>
            </a:extLst>
          </p:cNvPr>
          <p:cNvSpPr/>
          <p:nvPr/>
        </p:nvSpPr>
        <p:spPr>
          <a:xfrm>
            <a:off x="1262063" y="318611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99271EE-8405-90AE-F3EE-8049443A68C9}"/>
              </a:ext>
            </a:extLst>
          </p:cNvPr>
          <p:cNvSpPr/>
          <p:nvPr/>
        </p:nvSpPr>
        <p:spPr>
          <a:xfrm>
            <a:off x="1262062" y="3186113"/>
            <a:ext cx="2071688" cy="85725"/>
          </a:xfrm>
          <a:prstGeom prst="rect">
            <a:avLst/>
          </a:prstGeom>
          <a:solidFill>
            <a:srgbClr val="5A9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E34A47-7D0A-82E6-DD41-B2A88663E3F1}"/>
              </a:ext>
            </a:extLst>
          </p:cNvPr>
          <p:cNvSpPr txBox="1"/>
          <p:nvPr/>
        </p:nvSpPr>
        <p:spPr>
          <a:xfrm>
            <a:off x="4205288" y="315277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0.6165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907502-E5F3-1CCF-13E8-827D9ABCB22C}"/>
              </a:ext>
            </a:extLst>
          </p:cNvPr>
          <p:cNvSpPr/>
          <p:nvPr/>
        </p:nvSpPr>
        <p:spPr>
          <a:xfrm>
            <a:off x="1262063" y="333851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2028C30-756A-98F2-6482-E2DF66D69354}"/>
              </a:ext>
            </a:extLst>
          </p:cNvPr>
          <p:cNvSpPr/>
          <p:nvPr/>
        </p:nvSpPr>
        <p:spPr>
          <a:xfrm>
            <a:off x="1262062" y="3338513"/>
            <a:ext cx="2652713" cy="85725"/>
          </a:xfrm>
          <a:prstGeom prst="rect">
            <a:avLst/>
          </a:prstGeom>
          <a:solidFill>
            <a:srgbClr val="6CA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2C2910-53C2-4FB0-F59E-86819ED0ECE4}"/>
              </a:ext>
            </a:extLst>
          </p:cNvPr>
          <p:cNvSpPr txBox="1"/>
          <p:nvPr/>
        </p:nvSpPr>
        <p:spPr>
          <a:xfrm>
            <a:off x="4205288" y="330517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0.7885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CB447-F281-B494-210F-0803730A5CA2}"/>
              </a:ext>
            </a:extLst>
          </p:cNvPr>
          <p:cNvSpPr txBox="1"/>
          <p:nvPr/>
        </p:nvSpPr>
        <p:spPr>
          <a:xfrm>
            <a:off x="500063" y="3252788"/>
            <a:ext cx="5715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38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101</a:t>
            </a:r>
            <a:endParaRPr lang="ko-KR" altLang="en-US" sz="638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4653C8-4949-9A5C-679E-B4EFB21EEBFC}"/>
              </a:ext>
            </a:extLst>
          </p:cNvPr>
          <p:cNvSpPr txBox="1"/>
          <p:nvPr/>
        </p:nvSpPr>
        <p:spPr>
          <a:xfrm>
            <a:off x="500062" y="3500438"/>
            <a:ext cx="642938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938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C4</a:t>
            </a:r>
            <a:endParaRPr lang="ko-KR" altLang="en-US" sz="938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5BB21F1-5EF4-A32A-4B6A-B6F860AAFECB}"/>
              </a:ext>
            </a:extLst>
          </p:cNvPr>
          <p:cNvSpPr/>
          <p:nvPr/>
        </p:nvSpPr>
        <p:spPr>
          <a:xfrm>
            <a:off x="1262063" y="350996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1E16A1C-4502-03EB-B3F4-7A4F447799D9}"/>
              </a:ext>
            </a:extLst>
          </p:cNvPr>
          <p:cNvSpPr/>
          <p:nvPr/>
        </p:nvSpPr>
        <p:spPr>
          <a:xfrm>
            <a:off x="1262063" y="3509963"/>
            <a:ext cx="2486025" cy="85725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B63D3D-EB74-1AA9-FE95-72EE7D25F76E}"/>
              </a:ext>
            </a:extLst>
          </p:cNvPr>
          <p:cNvSpPr txBox="1"/>
          <p:nvPr/>
        </p:nvSpPr>
        <p:spPr>
          <a:xfrm>
            <a:off x="4205288" y="347662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0.7399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7FE795B-EC65-4341-6E06-D40648331F32}"/>
              </a:ext>
            </a:extLst>
          </p:cNvPr>
          <p:cNvSpPr/>
          <p:nvPr/>
        </p:nvSpPr>
        <p:spPr>
          <a:xfrm>
            <a:off x="1262063" y="366236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3B8A835-0521-506F-46C7-F10E1C46EE36}"/>
              </a:ext>
            </a:extLst>
          </p:cNvPr>
          <p:cNvSpPr/>
          <p:nvPr/>
        </p:nvSpPr>
        <p:spPr>
          <a:xfrm>
            <a:off x="1262062" y="3662363"/>
            <a:ext cx="2119313" cy="85725"/>
          </a:xfrm>
          <a:prstGeom prst="rect">
            <a:avLst/>
          </a:prstGeom>
          <a:solidFill>
            <a:srgbClr val="5A9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31AD6A-A2E1-C6F6-87BF-EF474698BBE4}"/>
              </a:ext>
            </a:extLst>
          </p:cNvPr>
          <p:cNvSpPr txBox="1"/>
          <p:nvPr/>
        </p:nvSpPr>
        <p:spPr>
          <a:xfrm>
            <a:off x="4205288" y="362902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0.6310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05C860A-B579-2924-EDFF-695114282207}"/>
              </a:ext>
            </a:extLst>
          </p:cNvPr>
          <p:cNvSpPr/>
          <p:nvPr/>
        </p:nvSpPr>
        <p:spPr>
          <a:xfrm>
            <a:off x="1262063" y="381476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AD16B98-BC1D-E87A-C984-EAB4861FDE3E}"/>
              </a:ext>
            </a:extLst>
          </p:cNvPr>
          <p:cNvSpPr/>
          <p:nvPr/>
        </p:nvSpPr>
        <p:spPr>
          <a:xfrm>
            <a:off x="1262062" y="3814763"/>
            <a:ext cx="2671763" cy="85725"/>
          </a:xfrm>
          <a:prstGeom prst="rect">
            <a:avLst/>
          </a:prstGeom>
          <a:solidFill>
            <a:srgbClr val="6CA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54E200-D173-7A65-5628-88153C9143ED}"/>
              </a:ext>
            </a:extLst>
          </p:cNvPr>
          <p:cNvSpPr txBox="1"/>
          <p:nvPr/>
        </p:nvSpPr>
        <p:spPr>
          <a:xfrm>
            <a:off x="4205288" y="378142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0.7944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62511B-BB3B-B9A8-7674-AAB4CD65AC07}"/>
              </a:ext>
            </a:extLst>
          </p:cNvPr>
          <p:cNvSpPr txBox="1"/>
          <p:nvPr/>
        </p:nvSpPr>
        <p:spPr>
          <a:xfrm>
            <a:off x="500063" y="3729038"/>
            <a:ext cx="5715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38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191</a:t>
            </a:r>
            <a:endParaRPr lang="ko-KR" altLang="en-US" sz="638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7DF203-C36F-59CE-0EE3-6459C519A135}"/>
              </a:ext>
            </a:extLst>
          </p:cNvPr>
          <p:cNvSpPr txBox="1"/>
          <p:nvPr/>
        </p:nvSpPr>
        <p:spPr>
          <a:xfrm>
            <a:off x="500062" y="3976688"/>
            <a:ext cx="642938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938" b="1">
                <a:solidFill>
                  <a:srgbClr val="FFB53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</a:t>
            </a:r>
            <a:endParaRPr lang="ko-KR" altLang="en-US" sz="938" b="1">
              <a:solidFill>
                <a:srgbClr val="FFB539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BAC6DBD-3EBB-29D8-205F-C5020D661622}"/>
              </a:ext>
            </a:extLst>
          </p:cNvPr>
          <p:cNvSpPr/>
          <p:nvPr/>
        </p:nvSpPr>
        <p:spPr>
          <a:xfrm>
            <a:off x="1262063" y="398621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4E1453-5CF3-4715-314B-9A34DC845B93}"/>
              </a:ext>
            </a:extLst>
          </p:cNvPr>
          <p:cNvSpPr/>
          <p:nvPr/>
        </p:nvSpPr>
        <p:spPr>
          <a:xfrm>
            <a:off x="1262063" y="3986213"/>
            <a:ext cx="2495550" cy="85725"/>
          </a:xfrm>
          <a:prstGeom prst="rect">
            <a:avLst/>
          </a:prstGeom>
          <a:solidFill>
            <a:srgbClr val="2D6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9D73F7-A6FE-B6F2-8C95-3F7F41B72579}"/>
              </a:ext>
            </a:extLst>
          </p:cNvPr>
          <p:cNvSpPr txBox="1"/>
          <p:nvPr/>
        </p:nvSpPr>
        <p:spPr>
          <a:xfrm>
            <a:off x="4205288" y="395287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0.7417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76B85BA-3BEF-3A8B-0A21-C5F7F09D0C78}"/>
              </a:ext>
            </a:extLst>
          </p:cNvPr>
          <p:cNvSpPr/>
          <p:nvPr/>
        </p:nvSpPr>
        <p:spPr>
          <a:xfrm>
            <a:off x="1262063" y="413861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BDA1CFB-4D50-4627-C5F6-8B5EDC5BCCCA}"/>
              </a:ext>
            </a:extLst>
          </p:cNvPr>
          <p:cNvSpPr/>
          <p:nvPr/>
        </p:nvSpPr>
        <p:spPr>
          <a:xfrm>
            <a:off x="1262063" y="4138613"/>
            <a:ext cx="2324100" cy="85725"/>
          </a:xfrm>
          <a:prstGeom prst="rect">
            <a:avLst/>
          </a:prstGeom>
          <a:solidFill>
            <a:srgbClr val="5A9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1D26D3-582A-A6E0-A9F4-F32974DBA02F}"/>
              </a:ext>
            </a:extLst>
          </p:cNvPr>
          <p:cNvSpPr txBox="1"/>
          <p:nvPr/>
        </p:nvSpPr>
        <p:spPr>
          <a:xfrm>
            <a:off x="4205288" y="410527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0.6919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D1C48D0-3AF7-F306-8350-1DBD819B9391}"/>
              </a:ext>
            </a:extLst>
          </p:cNvPr>
          <p:cNvSpPr/>
          <p:nvPr/>
        </p:nvSpPr>
        <p:spPr>
          <a:xfrm>
            <a:off x="1262063" y="4291013"/>
            <a:ext cx="2857500" cy="85725"/>
          </a:xfrm>
          <a:prstGeom prst="rect">
            <a:avLst/>
          </a:prstGeom>
          <a:solidFill>
            <a:srgbClr val="16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B13F310-7A03-01AC-186C-22924BC4DC90}"/>
              </a:ext>
            </a:extLst>
          </p:cNvPr>
          <p:cNvSpPr/>
          <p:nvPr/>
        </p:nvSpPr>
        <p:spPr>
          <a:xfrm>
            <a:off x="1262063" y="4291013"/>
            <a:ext cx="2790825" cy="85725"/>
          </a:xfrm>
          <a:prstGeom prst="rect">
            <a:avLst/>
          </a:prstGeom>
          <a:solidFill>
            <a:srgbClr val="6CA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7BA737-969E-D99C-18F0-98881BB63F45}"/>
              </a:ext>
            </a:extLst>
          </p:cNvPr>
          <p:cNvSpPr txBox="1"/>
          <p:nvPr/>
        </p:nvSpPr>
        <p:spPr>
          <a:xfrm>
            <a:off x="4205288" y="4257675"/>
            <a:ext cx="428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0.8300</a:t>
            </a:r>
            <a:endParaRPr lang="ko-KR" altLang="en-US" sz="6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4AFAA8-53F9-EF60-AD09-EA55BEF97DB4}"/>
              </a:ext>
            </a:extLst>
          </p:cNvPr>
          <p:cNvSpPr txBox="1"/>
          <p:nvPr/>
        </p:nvSpPr>
        <p:spPr>
          <a:xfrm>
            <a:off x="7858125" y="1971675"/>
            <a:ext cx="619125" cy="1809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defTabSz="342900"/>
            <a:r>
              <a:rPr lang="en-US" altLang="ko-KR" sz="638" b="1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295</a:t>
            </a:r>
            <a:r>
              <a:rPr lang="ko-KR" altLang="en-US" sz="638" b="1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B46C1A-E636-751A-50AD-61D8518732A8}"/>
              </a:ext>
            </a:extLst>
          </p:cNvPr>
          <p:cNvSpPr txBox="1"/>
          <p:nvPr/>
        </p:nvSpPr>
        <p:spPr>
          <a:xfrm>
            <a:off x="523875" y="4476750"/>
            <a:ext cx="3143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ko-KR" altLang="en-US" sz="56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성능 수치는 </a:t>
            </a:r>
            <a:r>
              <a:rPr lang="en-US" altLang="ko-KR" sz="56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LightGBM </a:t>
            </a:r>
            <a:r>
              <a:rPr lang="ko-KR" altLang="en-US" sz="56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내부 비교 기준이며</a:t>
            </a:r>
            <a:r>
              <a:rPr lang="en-US" altLang="ko-KR" sz="56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threshold </a:t>
            </a:r>
            <a:r>
              <a:rPr lang="ko-KR" altLang="en-US" sz="56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적용 결과를 기준으로 정리했습니다</a:t>
            </a:r>
            <a:r>
              <a:rPr lang="en-US" altLang="ko-KR" sz="563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563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83BC06-810D-2007-5FDC-13F75F5F8C48}"/>
              </a:ext>
            </a:extLst>
          </p:cNvPr>
          <p:cNvSpPr txBox="1"/>
          <p:nvPr/>
        </p:nvSpPr>
        <p:spPr>
          <a:xfrm>
            <a:off x="4881563" y="881063"/>
            <a:ext cx="857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ko-KR" altLang="en-US" sz="127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결론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37FC740-DE0A-E33D-48EA-FC40174D34EC}"/>
              </a:ext>
            </a:extLst>
          </p:cNvPr>
          <p:cNvSpPr txBox="1"/>
          <p:nvPr/>
        </p:nvSpPr>
        <p:spPr>
          <a:xfrm>
            <a:off x="4881563" y="1119188"/>
            <a:ext cx="361950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</a:t>
            </a:r>
            <a:r>
              <a:rPr lang="ko-KR" altLang="en-US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병합 전략이 </a:t>
            </a:r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Recall, F1, F1 Macro </a:t>
            </a:r>
            <a:r>
              <a:rPr lang="ko-KR" altLang="en-US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모두에서 가장 높은 값을 기록했습니다</a:t>
            </a:r>
            <a:r>
              <a:rPr lang="en-US" altLang="ko-KR" sz="97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97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32F3D4C5-E78C-88CA-AE7B-4158A4EFB9DC}"/>
              </a:ext>
            </a:extLst>
          </p:cNvPr>
          <p:cNvSpPr/>
          <p:nvPr/>
        </p:nvSpPr>
        <p:spPr>
          <a:xfrm>
            <a:off x="4881563" y="1571625"/>
            <a:ext cx="3619500" cy="833438"/>
          </a:xfrm>
          <a:prstGeom prst="roundRect">
            <a:avLst>
              <a:gd name="adj" fmla="val 8000"/>
            </a:avLst>
          </a:prstGeom>
          <a:solidFill>
            <a:srgbClr val="113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ko-KR" altLang="en-US" sz="675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45C583-C03C-7212-8DDA-7FCD05D7B995}"/>
              </a:ext>
            </a:extLst>
          </p:cNvPr>
          <p:cNvSpPr txBox="1"/>
          <p:nvPr/>
        </p:nvSpPr>
        <p:spPr>
          <a:xfrm>
            <a:off x="5048250" y="1714500"/>
            <a:ext cx="10001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1013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</a:t>
            </a:r>
            <a:r>
              <a:rPr lang="ko-KR" altLang="en-US" sz="1013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병합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A3D10A-59C9-226E-F196-A49C415C32E4}"/>
              </a:ext>
            </a:extLst>
          </p:cNvPr>
          <p:cNvSpPr txBox="1"/>
          <p:nvPr/>
        </p:nvSpPr>
        <p:spPr>
          <a:xfrm>
            <a:off x="5048250" y="1952625"/>
            <a:ext cx="809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</a:t>
            </a:r>
            <a:endParaRPr lang="ko-KR" altLang="en-US" sz="675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A642BA-6755-751B-1C83-2F927F5F515A}"/>
              </a:ext>
            </a:extLst>
          </p:cNvPr>
          <p:cNvSpPr txBox="1"/>
          <p:nvPr/>
        </p:nvSpPr>
        <p:spPr>
          <a:xfrm>
            <a:off x="5048250" y="2095500"/>
            <a:ext cx="809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1313" b="1">
                <a:solidFill>
                  <a:srgbClr val="FFB53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0.7417</a:t>
            </a:r>
            <a:endParaRPr lang="ko-KR" altLang="en-US" sz="1313" b="1">
              <a:solidFill>
                <a:srgbClr val="FFB539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DDA635-7B90-DD50-46C9-873590EC79AA}"/>
              </a:ext>
            </a:extLst>
          </p:cNvPr>
          <p:cNvSpPr txBox="1"/>
          <p:nvPr/>
        </p:nvSpPr>
        <p:spPr>
          <a:xfrm>
            <a:off x="6072188" y="1952625"/>
            <a:ext cx="809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Score</a:t>
            </a:r>
            <a:endParaRPr lang="ko-KR" altLang="en-US" sz="675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9A496E-7FEB-2FD4-5671-A7499F274947}"/>
              </a:ext>
            </a:extLst>
          </p:cNvPr>
          <p:cNvSpPr txBox="1"/>
          <p:nvPr/>
        </p:nvSpPr>
        <p:spPr>
          <a:xfrm>
            <a:off x="6072188" y="2095500"/>
            <a:ext cx="809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1313" b="1">
                <a:solidFill>
                  <a:srgbClr val="FFB53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0.6919</a:t>
            </a:r>
            <a:endParaRPr lang="ko-KR" altLang="en-US" sz="1313" b="1">
              <a:solidFill>
                <a:srgbClr val="FFB539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8A6AFD-187B-31D3-C2E6-E66EC2CD6335}"/>
              </a:ext>
            </a:extLst>
          </p:cNvPr>
          <p:cNvSpPr txBox="1"/>
          <p:nvPr/>
        </p:nvSpPr>
        <p:spPr>
          <a:xfrm>
            <a:off x="7096125" y="1952625"/>
            <a:ext cx="809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675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Macro</a:t>
            </a:r>
            <a:endParaRPr lang="ko-KR" altLang="en-US" sz="675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65BF6A-126B-5FC3-62B4-D4EDE183695F}"/>
              </a:ext>
            </a:extLst>
          </p:cNvPr>
          <p:cNvSpPr txBox="1"/>
          <p:nvPr/>
        </p:nvSpPr>
        <p:spPr>
          <a:xfrm>
            <a:off x="7096125" y="2095500"/>
            <a:ext cx="809625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1313" b="1">
                <a:solidFill>
                  <a:srgbClr val="FFB539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0.8300</a:t>
            </a:r>
            <a:endParaRPr lang="ko-KR" altLang="en-US" sz="1313" b="1">
              <a:solidFill>
                <a:srgbClr val="FFB539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E8AFAC-94C7-8EDD-139C-40EA87E73DED}"/>
              </a:ext>
            </a:extLst>
          </p:cNvPr>
          <p:cNvSpPr txBox="1"/>
          <p:nvPr/>
        </p:nvSpPr>
        <p:spPr>
          <a:xfrm>
            <a:off x="7858125" y="1971675"/>
            <a:ext cx="619125" cy="1809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defTabSz="342900"/>
            <a:r>
              <a:rPr lang="en-US" altLang="ko-KR" sz="638" b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295</a:t>
            </a:r>
            <a:r>
              <a:rPr lang="ko-KR" altLang="en-US" sz="638" b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839BC2C-E3C6-9E5F-BB63-66FF51AFD743}"/>
              </a:ext>
            </a:extLst>
          </p:cNvPr>
          <p:cNvSpPr txBox="1"/>
          <p:nvPr/>
        </p:nvSpPr>
        <p:spPr>
          <a:xfrm>
            <a:off x="4881563" y="2667000"/>
            <a:ext cx="12382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ko-KR" altLang="en-US" sz="1200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해석 포인트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EC59CC3-FAF6-8CD0-5025-F79EE7D6DF4A}"/>
              </a:ext>
            </a:extLst>
          </p:cNvPr>
          <p:cNvSpPr/>
          <p:nvPr/>
        </p:nvSpPr>
        <p:spPr>
          <a:xfrm>
            <a:off x="4881563" y="2976563"/>
            <a:ext cx="209550" cy="209550"/>
          </a:xfrm>
          <a:prstGeom prst="ellipse">
            <a:avLst/>
          </a:prstGeom>
          <a:solidFill>
            <a:srgbClr val="5A9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342900"/>
            <a:r>
              <a:rPr lang="en-US" altLang="ko-KR" sz="713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713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56AB17C1-8F24-B88E-FB1D-3A3A91AFBB6F}"/>
              </a:ext>
            </a:extLst>
          </p:cNvPr>
          <p:cNvSpPr/>
          <p:nvPr/>
        </p:nvSpPr>
        <p:spPr>
          <a:xfrm>
            <a:off x="4881563" y="3476625"/>
            <a:ext cx="209550" cy="209550"/>
          </a:xfrm>
          <a:prstGeom prst="ellipse">
            <a:avLst/>
          </a:prstGeom>
          <a:solidFill>
            <a:srgbClr val="8AD9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342900"/>
            <a:r>
              <a:rPr lang="en-US" altLang="ko-KR" sz="713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713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06E5B6E-CFDE-A0A1-5D07-CEE86009FF2B}"/>
              </a:ext>
            </a:extLst>
          </p:cNvPr>
          <p:cNvSpPr/>
          <p:nvPr/>
        </p:nvSpPr>
        <p:spPr>
          <a:xfrm>
            <a:off x="4881563" y="3976688"/>
            <a:ext cx="209550" cy="209550"/>
          </a:xfrm>
          <a:prstGeom prst="ellipse">
            <a:avLst/>
          </a:prstGeom>
          <a:solidFill>
            <a:srgbClr val="FFB5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342900"/>
            <a:r>
              <a:rPr lang="en-US" altLang="ko-KR" sz="713" b="1">
                <a:solidFill>
                  <a:srgbClr val="0716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713" b="1">
              <a:solidFill>
                <a:srgbClr val="07161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00893C-E4DD-EA5A-8348-D6F3A3D6A396}"/>
              </a:ext>
            </a:extLst>
          </p:cNvPr>
          <p:cNvSpPr txBox="1"/>
          <p:nvPr/>
        </p:nvSpPr>
        <p:spPr>
          <a:xfrm>
            <a:off x="5214938" y="2952750"/>
            <a:ext cx="3333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C4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단일 전략 중 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가장 높아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고객 단위 집계형 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설계가 강했습니다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2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DE9C6DA-BF32-1333-E3CD-E1E8650E1E3B}"/>
              </a:ext>
            </a:extLst>
          </p:cNvPr>
          <p:cNvSpPr txBox="1"/>
          <p:nvPr/>
        </p:nvSpPr>
        <p:spPr>
          <a:xfrm>
            <a:off x="5214938" y="3452813"/>
            <a:ext cx="3333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병합은 팀별 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서로 보완되며 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 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Macro F1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까지 함께 개선했습니다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2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EC1105-F2F9-9EB8-AC24-82A6CBE0D4F7}"/>
              </a:ext>
            </a:extLst>
          </p:cNvPr>
          <p:cNvSpPr txBox="1"/>
          <p:nvPr/>
        </p:nvSpPr>
        <p:spPr>
          <a:xfrm>
            <a:off x="5214938" y="3952875"/>
            <a:ext cx="3333750" cy="1038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defTabSz="342900"/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단순히 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수를 늘린 것이 아니라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유효한 전처리 조합을 선별해 성능을 끌어올린 결과입니다</a:t>
            </a:r>
            <a:r>
              <a:rPr lang="en-US" altLang="ko-KR" sz="825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25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5" name="top-line">
            <a:extLst>
              <a:ext uri="{FF2B5EF4-FFF2-40B4-BE49-F238E27FC236}">
                <a16:creationId xmlns:a16="http://schemas.microsoft.com/office/drawing/2014/main" id="{CA52A5DA-FCBC-F8AD-C8F1-855D4A143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60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g">
            <a:extLst>
              <a:ext uri="{FF2B5EF4-FFF2-40B4-BE49-F238E27FC236}">
                <a16:creationId xmlns:a16="http://schemas.microsoft.com/office/drawing/2014/main" id="{6ED54B7D-445F-4190-B935-8742551E57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2315351C-AFED-48A6-9215-D32315C3D3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39589830-45ED-41CF-8CE5-0A1FEF93BA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F348850-7929-441E-B23F-649260C63251}"/>
              </a:ext>
            </a:extLst>
          </p:cNvPr>
          <p:cNvSpPr>
            <a:spLocks noGrp="1"/>
          </p:cNvSpPr>
          <p:nvPr/>
        </p:nvSpPr>
        <p:spPr>
          <a:xfrm>
            <a:off x="406400" y="190500"/>
            <a:ext cx="1117600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04979C-5BFF-47B8-A44E-2B3C1699099B}"/>
              </a:ext>
            </a:extLst>
          </p:cNvPr>
          <p:cNvSpPr>
            <a:spLocks noGrp="1"/>
          </p:cNvSpPr>
          <p:nvPr/>
        </p:nvSpPr>
        <p:spPr>
          <a:xfrm>
            <a:off x="507546" y="297925"/>
            <a:ext cx="915307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A19121-B191-4397-BBE4-9AF2DAA21FB9}"/>
              </a:ext>
            </a:extLst>
          </p:cNvPr>
          <p:cNvSpPr>
            <a:spLocks noGrp="1"/>
          </p:cNvSpPr>
          <p:nvPr/>
        </p:nvSpPr>
        <p:spPr>
          <a:xfrm>
            <a:off x="406400" y="774700"/>
            <a:ext cx="83629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9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모듈화 아키텍처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CE551A-415B-4D33-B245-A63088022DE2}"/>
              </a:ext>
            </a:extLst>
          </p:cNvPr>
          <p:cNvSpPr>
            <a:spLocks noGrp="1"/>
          </p:cNvSpPr>
          <p:nvPr/>
        </p:nvSpPr>
        <p:spPr>
          <a:xfrm>
            <a:off x="406400" y="1193800"/>
            <a:ext cx="8108496" cy="3905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4000"/>
              </a:lnSpc>
              <a:defRPr sz="2025" i="1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전략·데이터·실험·저장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로직을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분리해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,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새로운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전처리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전략을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추가해도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동일한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실행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파이프라인에서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바로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비교할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수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있도록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설계했습니다</a:t>
            </a:r>
            <a:r>
              <a:rPr sz="1013" i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7CFB59-BB7E-440D-8CB2-AF07C53A2372}"/>
              </a:ext>
            </a:extLst>
          </p:cNvPr>
          <p:cNvSpPr>
            <a:spLocks noGrp="1"/>
          </p:cNvSpPr>
          <p:nvPr/>
        </p:nvSpPr>
        <p:spPr>
          <a:xfrm>
            <a:off x="406400" y="1625600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998F920-CD25-4CA5-A7DC-659B51E44E0D}"/>
              </a:ext>
            </a:extLst>
          </p:cNvPr>
          <p:cNvSpPr>
            <a:spLocks noGrp="1"/>
          </p:cNvSpPr>
          <p:nvPr/>
        </p:nvSpPr>
        <p:spPr>
          <a:xfrm>
            <a:off x="390525" y="1859052"/>
            <a:ext cx="2005013" cy="2084298"/>
          </a:xfrm>
          <a:prstGeom prst="roundRect">
            <a:avLst>
              <a:gd name="adj" fmla="val 7879"/>
            </a:avLst>
          </a:prstGeom>
          <a:noFill/>
          <a:ln w="28575">
            <a:solidFill>
              <a:srgbClr val="D9B7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C51905-9ABC-418A-9813-96FCEDA54B76}"/>
              </a:ext>
            </a:extLst>
          </p:cNvPr>
          <p:cNvSpPr>
            <a:spLocks noGrp="1"/>
          </p:cNvSpPr>
          <p:nvPr/>
        </p:nvSpPr>
        <p:spPr>
          <a:xfrm>
            <a:off x="504825" y="1990725"/>
            <a:ext cx="1762125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 b="1">
                <a:solidFill>
                  <a:srgbClr val="D9B75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>
                <a:solidFill>
                  <a:srgbClr val="D9B75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24B3C1-8FD8-412A-B0B3-54B38D82A9F6}"/>
              </a:ext>
            </a:extLst>
          </p:cNvPr>
          <p:cNvSpPr>
            <a:spLocks noGrp="1"/>
          </p:cNvSpPr>
          <p:nvPr/>
        </p:nvSpPr>
        <p:spPr>
          <a:xfrm>
            <a:off x="514350" y="224350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5F8FB"/>
                </a:solidFill>
                <a:latin typeface="Consolas"/>
                <a:ea typeface="Consolas"/>
                <a:cs typeface="Consolas"/>
              </a:defRPr>
            </a:pPr>
            <a:r>
              <a:rPr sz="1050" b="1" dirty="0">
                <a:solidFill>
                  <a:srgbClr val="F5F8FB"/>
                </a:solidFill>
                <a:latin typeface="Consolas"/>
                <a:ea typeface="Consolas"/>
                <a:cs typeface="Consolas"/>
              </a:rPr>
              <a:t>preprocessor_factory.py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DA1072-DF67-4DC9-AED1-6B0774B674DD}"/>
              </a:ext>
            </a:extLst>
          </p:cNvPr>
          <p:cNvSpPr>
            <a:spLocks noGrp="1"/>
          </p:cNvSpPr>
          <p:nvPr/>
        </p:nvSpPr>
        <p:spPr>
          <a:xfrm>
            <a:off x="514350" y="2484557"/>
            <a:ext cx="1762125" cy="9525"/>
          </a:xfrm>
          <a:prstGeom prst="rect">
            <a:avLst/>
          </a:prstGeom>
          <a:solidFill>
            <a:srgbClr val="D9B75F"/>
          </a:solidFill>
          <a:ln w="0">
            <a:solidFill>
              <a:srgbClr val="D9B7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DBC3B4-BF2A-44F9-89A9-165ED23FEDAC}"/>
              </a:ext>
            </a:extLst>
          </p:cNvPr>
          <p:cNvSpPr>
            <a:spLocks noGrp="1"/>
          </p:cNvSpPr>
          <p:nvPr/>
        </p:nvSpPr>
        <p:spPr>
          <a:xfrm>
            <a:off x="514350" y="259226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전략</a:t>
            </a:r>
            <a:r>
              <a:rPr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탐색</a:t>
            </a:r>
            <a:endParaRPr sz="11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65C185-2080-44C3-8634-95EA967A4CA7}"/>
              </a:ext>
            </a:extLst>
          </p:cNvPr>
          <p:cNvSpPr>
            <a:spLocks noGrp="1"/>
          </p:cNvSpPr>
          <p:nvPr/>
        </p:nvSpPr>
        <p:spPr>
          <a:xfrm>
            <a:off x="514349" y="2930029"/>
            <a:ext cx="1790699" cy="655864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5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strategies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폴더의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*_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strategy.py를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탐색하고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BaseStrategy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하위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클래스를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registry에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등록합니다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0739BCE-4E02-48EC-92C6-82B8AF369632}"/>
              </a:ext>
            </a:extLst>
          </p:cNvPr>
          <p:cNvSpPr>
            <a:spLocks noGrp="1"/>
          </p:cNvSpPr>
          <p:nvPr/>
        </p:nvSpPr>
        <p:spPr>
          <a:xfrm>
            <a:off x="2509838" y="1859052"/>
            <a:ext cx="2005013" cy="2084298"/>
          </a:xfrm>
          <a:prstGeom prst="roundRect">
            <a:avLst>
              <a:gd name="adj" fmla="val 7879"/>
            </a:avLst>
          </a:prstGeom>
          <a:noFill/>
          <a:ln w="28575">
            <a:solidFill>
              <a:srgbClr val="5BC0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8A17AB-EFF5-442D-B266-DCB478B2F339}"/>
              </a:ext>
            </a:extLst>
          </p:cNvPr>
          <p:cNvSpPr>
            <a:spLocks noGrp="1"/>
          </p:cNvSpPr>
          <p:nvPr/>
        </p:nvSpPr>
        <p:spPr>
          <a:xfrm>
            <a:off x="2628900" y="1990725"/>
            <a:ext cx="1762125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 b="1">
                <a:solidFill>
                  <a:srgbClr val="5BC0B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C0B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14ADDF-80AB-4609-8594-177CC63570B9}"/>
              </a:ext>
            </a:extLst>
          </p:cNvPr>
          <p:cNvSpPr>
            <a:spLocks noGrp="1"/>
          </p:cNvSpPr>
          <p:nvPr/>
        </p:nvSpPr>
        <p:spPr>
          <a:xfrm>
            <a:off x="2638425" y="224350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5F8FB"/>
                </a:solidFill>
                <a:latin typeface="Consolas"/>
                <a:ea typeface="Consolas"/>
                <a:cs typeface="Consolas"/>
              </a:defRPr>
            </a:pPr>
            <a:r>
              <a:rPr sz="1050" b="1" dirty="0">
                <a:solidFill>
                  <a:srgbClr val="F5F8FB"/>
                </a:solidFill>
                <a:latin typeface="Consolas"/>
                <a:ea typeface="Consolas"/>
                <a:cs typeface="Consolas"/>
              </a:rPr>
              <a:t>processed_data.py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9982E7-45BA-4B22-9606-B7279AC9CF5F}"/>
              </a:ext>
            </a:extLst>
          </p:cNvPr>
          <p:cNvSpPr>
            <a:spLocks noGrp="1"/>
          </p:cNvSpPr>
          <p:nvPr/>
        </p:nvSpPr>
        <p:spPr>
          <a:xfrm>
            <a:off x="2638425" y="2484557"/>
            <a:ext cx="1762125" cy="9525"/>
          </a:xfrm>
          <a:prstGeom prst="rect">
            <a:avLst/>
          </a:prstGeom>
          <a:solidFill>
            <a:srgbClr val="5BC0B6"/>
          </a:solidFill>
          <a:ln w="0">
            <a:solidFill>
              <a:srgbClr val="5BC0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D72F29D-731E-47AC-9C4C-701239F4C23C}"/>
              </a:ext>
            </a:extLst>
          </p:cNvPr>
          <p:cNvSpPr>
            <a:spLocks noGrp="1"/>
          </p:cNvSpPr>
          <p:nvPr/>
        </p:nvSpPr>
        <p:spPr>
          <a:xfrm>
            <a:off x="2638425" y="259226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전처리 CSV 생성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E1697E-E9F3-4C81-8BCF-DEC820F45F0B}"/>
              </a:ext>
            </a:extLst>
          </p:cNvPr>
          <p:cNvSpPr>
            <a:spLocks noGrp="1"/>
          </p:cNvSpPr>
          <p:nvPr/>
        </p:nvSpPr>
        <p:spPr>
          <a:xfrm>
            <a:off x="2638425" y="2930029"/>
            <a:ext cx="1724026" cy="5619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5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청구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데이터를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불러와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전략을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실행하고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컬럼·결측·비수치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feature를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검증합니다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A465B38-837F-47B9-896F-DD943BB0CADA}"/>
              </a:ext>
            </a:extLst>
          </p:cNvPr>
          <p:cNvSpPr>
            <a:spLocks noGrp="1"/>
          </p:cNvSpPr>
          <p:nvPr/>
        </p:nvSpPr>
        <p:spPr>
          <a:xfrm>
            <a:off x="4629150" y="1859052"/>
            <a:ext cx="2005013" cy="2084298"/>
          </a:xfrm>
          <a:prstGeom prst="roundRect">
            <a:avLst>
              <a:gd name="adj" fmla="val 7879"/>
            </a:avLst>
          </a:prstGeom>
          <a:noFill/>
          <a:ln w="28575">
            <a:solidFill>
              <a:srgbClr val="F17A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28670C-FA9C-4C04-ADD8-5F20F7B2EE81}"/>
              </a:ext>
            </a:extLst>
          </p:cNvPr>
          <p:cNvSpPr>
            <a:spLocks noGrp="1"/>
          </p:cNvSpPr>
          <p:nvPr/>
        </p:nvSpPr>
        <p:spPr>
          <a:xfrm>
            <a:off x="4743450" y="1990725"/>
            <a:ext cx="1762125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 b="1">
                <a:solidFill>
                  <a:srgbClr val="F1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17A7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77979E-EF0B-4EDE-A0D7-E41573225A85}"/>
              </a:ext>
            </a:extLst>
          </p:cNvPr>
          <p:cNvSpPr>
            <a:spLocks noGrp="1"/>
          </p:cNvSpPr>
          <p:nvPr/>
        </p:nvSpPr>
        <p:spPr>
          <a:xfrm>
            <a:off x="4752975" y="224350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5F8F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F8FB"/>
                </a:solidFill>
                <a:latin typeface="Consolas"/>
                <a:ea typeface="Consolas"/>
                <a:cs typeface="Consolas"/>
              </a:rPr>
              <a:t>run_experiment.py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762647-B1EB-4E49-AC92-DC4B272A678A}"/>
              </a:ext>
            </a:extLst>
          </p:cNvPr>
          <p:cNvSpPr>
            <a:spLocks noGrp="1"/>
          </p:cNvSpPr>
          <p:nvPr/>
        </p:nvSpPr>
        <p:spPr>
          <a:xfrm>
            <a:off x="4752975" y="2484557"/>
            <a:ext cx="1762125" cy="9525"/>
          </a:xfrm>
          <a:prstGeom prst="rect">
            <a:avLst/>
          </a:prstGeom>
          <a:solidFill>
            <a:srgbClr val="F17A7A"/>
          </a:solidFill>
          <a:ln w="0">
            <a:solidFill>
              <a:srgbClr val="F17A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CC71DB-D02A-4A45-B6B6-F08FADE6504D}"/>
              </a:ext>
            </a:extLst>
          </p:cNvPr>
          <p:cNvSpPr>
            <a:spLocks noGrp="1"/>
          </p:cNvSpPr>
          <p:nvPr/>
        </p:nvSpPr>
        <p:spPr>
          <a:xfrm>
            <a:off x="4752975" y="259226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CLI 실행 제어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134896-1393-4B13-A55D-2F3704CD0E53}"/>
              </a:ext>
            </a:extLst>
          </p:cNvPr>
          <p:cNvSpPr>
            <a:spLocks noGrp="1"/>
          </p:cNvSpPr>
          <p:nvPr/>
        </p:nvSpPr>
        <p:spPr>
          <a:xfrm>
            <a:off x="4752975" y="2930028"/>
            <a:ext cx="1762124" cy="523871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5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--strategy, --model, --prepare-only, --force-preprocess, --use-tuning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옵션을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제공합니다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DB3A8E9-8D81-4B4E-B68E-A716AA4BE5AD}"/>
              </a:ext>
            </a:extLst>
          </p:cNvPr>
          <p:cNvSpPr>
            <a:spLocks noGrp="1"/>
          </p:cNvSpPr>
          <p:nvPr/>
        </p:nvSpPr>
        <p:spPr>
          <a:xfrm>
            <a:off x="6748463" y="1871243"/>
            <a:ext cx="2005013" cy="2084298"/>
          </a:xfrm>
          <a:prstGeom prst="roundRect">
            <a:avLst>
              <a:gd name="adj" fmla="val 7879"/>
            </a:avLst>
          </a:prstGeom>
          <a:noFill/>
          <a:ln w="28575">
            <a:solidFill>
              <a:srgbClr val="9EB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FA1915-DBFB-4624-93BA-91EFF969F01E}"/>
              </a:ext>
            </a:extLst>
          </p:cNvPr>
          <p:cNvSpPr>
            <a:spLocks noGrp="1"/>
          </p:cNvSpPr>
          <p:nvPr/>
        </p:nvSpPr>
        <p:spPr>
          <a:xfrm>
            <a:off x="6877050" y="1990725"/>
            <a:ext cx="1762125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 b="1">
                <a:solidFill>
                  <a:srgbClr val="9EB5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EB5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6C2D30B-0FD3-495B-8BD0-761B90E70977}"/>
              </a:ext>
            </a:extLst>
          </p:cNvPr>
          <p:cNvSpPr>
            <a:spLocks noGrp="1"/>
          </p:cNvSpPr>
          <p:nvPr/>
        </p:nvSpPr>
        <p:spPr>
          <a:xfrm>
            <a:off x="6877050" y="224350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5F8F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F8FB"/>
                </a:solidFill>
                <a:latin typeface="Consolas"/>
                <a:ea typeface="Consolas"/>
                <a:cs typeface="Consolas"/>
              </a:rPr>
              <a:t>experiment_runner.py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6FB833-0FEE-4263-A3DC-D8C8075AF5C3}"/>
              </a:ext>
            </a:extLst>
          </p:cNvPr>
          <p:cNvSpPr>
            <a:spLocks noGrp="1"/>
          </p:cNvSpPr>
          <p:nvPr/>
        </p:nvSpPr>
        <p:spPr>
          <a:xfrm>
            <a:off x="6877050" y="2484557"/>
            <a:ext cx="1762125" cy="9525"/>
          </a:xfrm>
          <a:prstGeom prst="rect">
            <a:avLst/>
          </a:prstGeom>
          <a:solidFill>
            <a:srgbClr val="9EB5FF"/>
          </a:solidFill>
          <a:ln w="0">
            <a:solidFill>
              <a:srgbClr val="9EB5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AE3E63-6695-4FF5-B1E9-0D73CC6BD38E}"/>
              </a:ext>
            </a:extLst>
          </p:cNvPr>
          <p:cNvSpPr>
            <a:spLocks noGrp="1"/>
          </p:cNvSpPr>
          <p:nvPr/>
        </p:nvSpPr>
        <p:spPr>
          <a:xfrm>
            <a:off x="6877050" y="2592262"/>
            <a:ext cx="17621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학습·평가·저장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C004BFE-A0E2-4CEB-856E-DFCD196515E3}"/>
              </a:ext>
            </a:extLst>
          </p:cNvPr>
          <p:cNvSpPr>
            <a:spLocks noGrp="1"/>
          </p:cNvSpPr>
          <p:nvPr/>
        </p:nvSpPr>
        <p:spPr>
          <a:xfrm>
            <a:off x="6877050" y="2930028"/>
            <a:ext cx="1762124" cy="5619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5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모델을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학습하고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threshold와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tuning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반영해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metric, pipeline,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summary를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저장합니다</a:t>
            </a:r>
            <a:r>
              <a:rPr sz="10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E026904-F4B0-4164-9121-E8772D966ED7}"/>
              </a:ext>
            </a:extLst>
          </p:cNvPr>
          <p:cNvSpPr>
            <a:spLocks noGrp="1"/>
          </p:cNvSpPr>
          <p:nvPr/>
        </p:nvSpPr>
        <p:spPr>
          <a:xfrm>
            <a:off x="390525" y="4179484"/>
            <a:ext cx="4191000" cy="571500"/>
          </a:xfrm>
          <a:prstGeom prst="roundRect">
            <a:avLst>
              <a:gd name="adj" fmla="val 20000"/>
            </a:avLst>
          </a:prstGeom>
          <a:solidFill>
            <a:srgbClr val="0B356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A4BB2F-7769-4059-AF38-18F3CD395E50}"/>
              </a:ext>
            </a:extLst>
          </p:cNvPr>
          <p:cNvSpPr>
            <a:spLocks noGrp="1"/>
          </p:cNvSpPr>
          <p:nvPr/>
        </p:nvSpPr>
        <p:spPr>
          <a:xfrm>
            <a:off x="490538" y="4281696"/>
            <a:ext cx="4038600" cy="3429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800" b="1">
                <a:solidFill>
                  <a:srgbClr val="E0EB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DFA72A"/>
                </a:solidFill>
                <a:latin typeface="Malgun Gothic"/>
                <a:ea typeface="Malgun Gothic"/>
                <a:cs typeface="Malgun Gothic"/>
              </a:rPr>
              <a:t>확장</a:t>
            </a:r>
            <a:r>
              <a:rPr sz="1200" b="1" dirty="0">
                <a:solidFill>
                  <a:srgbClr val="DFA72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DFA72A"/>
                </a:solidFill>
                <a:latin typeface="Malgun Gothic"/>
                <a:ea typeface="Malgun Gothic"/>
                <a:cs typeface="Malgun Gothic"/>
              </a:rPr>
              <a:t>방식</a:t>
            </a:r>
            <a:r>
              <a:rPr lang="en-US" sz="10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새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전략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클래스만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추가하면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factory가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strategy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ID를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등록하고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run_experiment.py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명령으로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전처리·학습·평가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흐름에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투입됩니다</a:t>
            </a:r>
            <a:r>
              <a:rPr sz="900" b="1" dirty="0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EFF3446-2405-476D-B02E-AEB229B447A7}"/>
              </a:ext>
            </a:extLst>
          </p:cNvPr>
          <p:cNvSpPr>
            <a:spLocks noGrp="1"/>
          </p:cNvSpPr>
          <p:nvPr/>
        </p:nvSpPr>
        <p:spPr>
          <a:xfrm>
            <a:off x="4638675" y="4179484"/>
            <a:ext cx="4114800" cy="571500"/>
          </a:xfrm>
          <a:prstGeom prst="roundRect">
            <a:avLst>
              <a:gd name="adj" fmla="val 20000"/>
            </a:avLst>
          </a:prstGeom>
          <a:solidFill>
            <a:srgbClr val="DFA72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21B7A84-E2EB-44B4-9EC4-E74A512B28EE}"/>
              </a:ext>
            </a:extLst>
          </p:cNvPr>
          <p:cNvSpPr>
            <a:spLocks noGrp="1"/>
          </p:cNvSpPr>
          <p:nvPr/>
        </p:nvSpPr>
        <p:spPr>
          <a:xfrm>
            <a:off x="4791075" y="4292107"/>
            <a:ext cx="3962401" cy="3429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800" b="1">
                <a:solidFill>
                  <a:srgbClr val="0610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 dirty="0" err="1">
                <a:solidFill>
                  <a:srgbClr val="0B356E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200" b="1" dirty="0">
                <a:solidFill>
                  <a:srgbClr val="0B356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1" dirty="0" err="1">
                <a:solidFill>
                  <a:srgbClr val="0B356E"/>
                </a:solidFill>
                <a:latin typeface="Malgun Gothic"/>
                <a:ea typeface="Malgun Gothic"/>
                <a:cs typeface="Malgun Gothic"/>
              </a:rPr>
              <a:t>효과</a:t>
            </a:r>
            <a:r>
              <a:rPr lang="en-US"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전략·데이터·실험·저장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책임이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분리되어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유지보수와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재실험이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쉬워졌고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, A/B/C/ABC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전략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비교도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인터페이스로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반복할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900" b="1" dirty="0" err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있었습니다</a:t>
            </a:r>
            <a:r>
              <a:rPr sz="900" b="1" dirty="0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0596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g">
            <a:extLst>
              <a:ext uri="{FF2B5EF4-FFF2-40B4-BE49-F238E27FC236}">
                <a16:creationId xmlns:a16="http://schemas.microsoft.com/office/drawing/2014/main" id="{2E705531-1BED-4F58-9B32-230244971F1B}"/>
              </a:ext>
            </a:extLst>
          </p:cNvPr>
          <p:cNvSpPr>
            <a:spLocks noGrp="1"/>
          </p:cNvSpPr>
          <p:nvPr/>
        </p:nvSpPr>
        <p:spPr>
          <a:xfrm>
            <a:off x="-55267" y="0"/>
            <a:ext cx="9294725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E917CBB8-2FA2-4E55-828D-FDA15AAEE7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DE75FF18-BA67-45EE-8C81-EAE1D2B9BB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A8DC08-32A8-415F-9BA0-FD341545DB53}"/>
              </a:ext>
            </a:extLst>
          </p:cNvPr>
          <p:cNvSpPr>
            <a:spLocks noGrp="1"/>
          </p:cNvSpPr>
          <p:nvPr/>
        </p:nvSpPr>
        <p:spPr>
          <a:xfrm>
            <a:off x="406400" y="774700"/>
            <a:ext cx="8286750" cy="3619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6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실험 자동화와 최적화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2C3E25-6F09-46BD-8E76-C24B5E0739AD}"/>
              </a:ext>
            </a:extLst>
          </p:cNvPr>
          <p:cNvSpPr>
            <a:spLocks noGrp="1"/>
          </p:cNvSpPr>
          <p:nvPr/>
        </p:nvSpPr>
        <p:spPr>
          <a:xfrm>
            <a:off x="406400" y="1193800"/>
            <a:ext cx="7943850" cy="3905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2025" i="1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수작업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실험이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전략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선택부터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전처리·모델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학습·튜닝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파라미터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적용·결과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저장까지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반복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파이프라인으로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13" i="1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운영했습니다</a:t>
            </a:r>
            <a:r>
              <a:rPr sz="1013" i="1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9AB12-F376-499E-AA50-373A65059CB2}"/>
              </a:ext>
            </a:extLst>
          </p:cNvPr>
          <p:cNvSpPr>
            <a:spLocks noGrp="1"/>
          </p:cNvSpPr>
          <p:nvPr/>
        </p:nvSpPr>
        <p:spPr>
          <a:xfrm>
            <a:off x="406400" y="1443321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6D3BF9-8C51-42D5-8727-C6C77DDFE333}"/>
              </a:ext>
            </a:extLst>
          </p:cNvPr>
          <p:cNvSpPr>
            <a:spLocks noGrp="1"/>
          </p:cNvSpPr>
          <p:nvPr/>
        </p:nvSpPr>
        <p:spPr>
          <a:xfrm>
            <a:off x="428624" y="1545659"/>
            <a:ext cx="4905375" cy="2095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700" b="1">
                <a:solidFill>
                  <a:srgbClr val="EAF1F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자동화</a:t>
            </a:r>
            <a:r>
              <a:rPr sz="1350" b="1" dirty="0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EAF1F6"/>
                </a:solidFill>
                <a:latin typeface="Malgun Gothic"/>
                <a:ea typeface="Malgun Gothic"/>
                <a:cs typeface="Malgun Gothic"/>
              </a:rPr>
              <a:t>흐름</a:t>
            </a:r>
            <a:endParaRPr sz="1350" b="1" dirty="0">
              <a:solidFill>
                <a:srgbClr val="EAF1F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F9A54FB-28FA-4BC2-9D3F-42C1A40D6A42}"/>
              </a:ext>
            </a:extLst>
          </p:cNvPr>
          <p:cNvSpPr>
            <a:spLocks noGrp="1"/>
          </p:cNvSpPr>
          <p:nvPr/>
        </p:nvSpPr>
        <p:spPr>
          <a:xfrm>
            <a:off x="428625" y="1822133"/>
            <a:ext cx="1166813" cy="1000125"/>
          </a:xfrm>
          <a:prstGeom prst="roundRect">
            <a:avLst>
              <a:gd name="adj" fmla="val 11429"/>
            </a:avLst>
          </a:prstGeom>
          <a:noFill/>
          <a:ln w="28575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1B6CFD-D409-4476-884E-655833A76486}"/>
              </a:ext>
            </a:extLst>
          </p:cNvPr>
          <p:cNvSpPr>
            <a:spLocks noGrp="1"/>
          </p:cNvSpPr>
          <p:nvPr/>
        </p:nvSpPr>
        <p:spPr>
          <a:xfrm>
            <a:off x="533400" y="1924050"/>
            <a:ext cx="9620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전략 선택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210F93-ACDA-4BBF-8A39-CF19730D0E04}"/>
              </a:ext>
            </a:extLst>
          </p:cNvPr>
          <p:cNvSpPr>
            <a:spLocks noGrp="1"/>
          </p:cNvSpPr>
          <p:nvPr/>
        </p:nvSpPr>
        <p:spPr>
          <a:xfrm>
            <a:off x="533400" y="2124075"/>
            <a:ext cx="96202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4000"/>
              </a:lnSpc>
              <a:defRPr sz="127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--strategy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--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member로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전처리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전략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지정</a:t>
            </a:r>
            <a:endParaRPr sz="900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1A77BAF-9B5D-4C0A-9CA3-AEE2FE8512A9}"/>
              </a:ext>
            </a:extLst>
          </p:cNvPr>
          <p:cNvSpPr>
            <a:spLocks noGrp="1"/>
          </p:cNvSpPr>
          <p:nvPr/>
        </p:nvSpPr>
        <p:spPr>
          <a:xfrm>
            <a:off x="1728788" y="1822133"/>
            <a:ext cx="1166813" cy="1000125"/>
          </a:xfrm>
          <a:prstGeom prst="roundRect">
            <a:avLst>
              <a:gd name="adj" fmla="val 9796"/>
            </a:avLst>
          </a:prstGeom>
          <a:noFill/>
          <a:ln w="28575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8480D7-7260-4220-B30F-B3DDA581E0D1}"/>
              </a:ext>
            </a:extLst>
          </p:cNvPr>
          <p:cNvSpPr>
            <a:spLocks noGrp="1"/>
          </p:cNvSpPr>
          <p:nvPr/>
        </p:nvSpPr>
        <p:spPr>
          <a:xfrm>
            <a:off x="1838325" y="1924050"/>
            <a:ext cx="9620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전처리 캐시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460846-020D-4D1C-9389-BF596100EB62}"/>
              </a:ext>
            </a:extLst>
          </p:cNvPr>
          <p:cNvSpPr>
            <a:spLocks noGrp="1"/>
          </p:cNvSpPr>
          <p:nvPr/>
        </p:nvSpPr>
        <p:spPr>
          <a:xfrm>
            <a:off x="1838325" y="2124075"/>
            <a:ext cx="962025" cy="2286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4000"/>
              </a:lnSpc>
              <a:defRPr sz="127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processed CSV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생성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재사용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가능</a:t>
            </a:r>
            <a:endParaRPr sz="900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CDC59C3-EB6E-489B-AC99-491FFBFDC5FB}"/>
              </a:ext>
            </a:extLst>
          </p:cNvPr>
          <p:cNvSpPr>
            <a:spLocks noGrp="1"/>
          </p:cNvSpPr>
          <p:nvPr/>
        </p:nvSpPr>
        <p:spPr>
          <a:xfrm>
            <a:off x="3028950" y="1822133"/>
            <a:ext cx="1166813" cy="1000125"/>
          </a:xfrm>
          <a:prstGeom prst="roundRect">
            <a:avLst>
              <a:gd name="adj" fmla="val 11429"/>
            </a:avLst>
          </a:prstGeom>
          <a:noFill/>
          <a:ln w="28575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45AB56-22BE-4D5D-979D-EA676E14A5F6}"/>
              </a:ext>
            </a:extLst>
          </p:cNvPr>
          <p:cNvSpPr>
            <a:spLocks noGrp="1"/>
          </p:cNvSpPr>
          <p:nvPr/>
        </p:nvSpPr>
        <p:spPr>
          <a:xfrm>
            <a:off x="3133725" y="1924050"/>
            <a:ext cx="9620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튜닝 적용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9B1954-CD2F-455F-87F0-B96D3E522D9A}"/>
              </a:ext>
            </a:extLst>
          </p:cNvPr>
          <p:cNvSpPr>
            <a:spLocks noGrp="1"/>
          </p:cNvSpPr>
          <p:nvPr/>
        </p:nvSpPr>
        <p:spPr>
          <a:xfrm>
            <a:off x="3133725" y="2124075"/>
            <a:ext cx="96202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4000"/>
              </a:lnSpc>
              <a:defRPr sz="127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tuning_results.json이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있으면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LGBM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파라미터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병합</a:t>
            </a:r>
            <a:endParaRPr sz="900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A7EA8DD-B62C-4FA0-8DA8-7B14648DDF93}"/>
              </a:ext>
            </a:extLst>
          </p:cNvPr>
          <p:cNvSpPr>
            <a:spLocks noGrp="1"/>
          </p:cNvSpPr>
          <p:nvPr/>
        </p:nvSpPr>
        <p:spPr>
          <a:xfrm>
            <a:off x="4329113" y="1822133"/>
            <a:ext cx="1166813" cy="1000125"/>
          </a:xfrm>
          <a:prstGeom prst="roundRect">
            <a:avLst>
              <a:gd name="adj" fmla="val 9796"/>
            </a:avLst>
          </a:prstGeom>
          <a:noFill/>
          <a:ln w="28575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36D75B-829C-4411-967E-FFD0D410B391}"/>
              </a:ext>
            </a:extLst>
          </p:cNvPr>
          <p:cNvSpPr>
            <a:spLocks noGrp="1"/>
          </p:cNvSpPr>
          <p:nvPr/>
        </p:nvSpPr>
        <p:spPr>
          <a:xfrm>
            <a:off x="4438650" y="1924050"/>
            <a:ext cx="9620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Threshold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2F9061-1D1E-4D0C-9064-45C7B880E0B0}"/>
              </a:ext>
            </a:extLst>
          </p:cNvPr>
          <p:cNvSpPr>
            <a:spLocks noGrp="1"/>
          </p:cNvSpPr>
          <p:nvPr/>
        </p:nvSpPr>
        <p:spPr>
          <a:xfrm>
            <a:off x="4438650" y="2124075"/>
            <a:ext cx="962025" cy="2286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4000"/>
              </a:lnSpc>
              <a:defRPr sz="1275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전략별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threshold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예측에</a:t>
            </a:r>
            <a:r>
              <a:rPr sz="90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반영</a:t>
            </a:r>
            <a:endParaRPr sz="900" dirty="0">
              <a:solidFill>
                <a:srgbClr val="D5E0E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1DC2029-E2FE-4B16-89F5-470EE9934D67}"/>
              </a:ext>
            </a:extLst>
          </p:cNvPr>
          <p:cNvSpPr>
            <a:spLocks noGrp="1"/>
          </p:cNvSpPr>
          <p:nvPr/>
        </p:nvSpPr>
        <p:spPr>
          <a:xfrm>
            <a:off x="428625" y="3291909"/>
            <a:ext cx="4905375" cy="697230"/>
          </a:xfrm>
          <a:prstGeom prst="roundRect">
            <a:avLst>
              <a:gd name="adj" fmla="val 16393"/>
            </a:avLst>
          </a:prstGeom>
          <a:solidFill>
            <a:srgbClr val="0B356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C1004A-6525-4467-BEA7-13355852C3AC}"/>
              </a:ext>
            </a:extLst>
          </p:cNvPr>
          <p:cNvSpPr>
            <a:spLocks noGrp="1"/>
          </p:cNvSpPr>
          <p:nvPr/>
        </p:nvSpPr>
        <p:spPr>
          <a:xfrm>
            <a:off x="571500" y="3403351"/>
            <a:ext cx="4619625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예시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49610A-3067-4E82-A717-EEE8A76B6095}"/>
              </a:ext>
            </a:extLst>
          </p:cNvPr>
          <p:cNvSpPr>
            <a:spLocks noGrp="1"/>
          </p:cNvSpPr>
          <p:nvPr/>
        </p:nvSpPr>
        <p:spPr>
          <a:xfrm>
            <a:off x="571500" y="3622426"/>
            <a:ext cx="3914775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E0EBFF"/>
                </a:solidFill>
                <a:latin typeface="Consolas"/>
                <a:ea typeface="Consolas"/>
                <a:cs typeface="Consolas"/>
              </a:defRPr>
            </a:pPr>
            <a:r>
              <a:rPr sz="825" dirty="0">
                <a:solidFill>
                  <a:srgbClr val="E0EBFF"/>
                </a:solidFill>
                <a:latin typeface="Consolas"/>
                <a:ea typeface="Consolas"/>
                <a:cs typeface="Consolas"/>
              </a:rPr>
              <a:t>python run_experiment.py --strategy member_b_strategy_3 --model </a:t>
            </a:r>
            <a:r>
              <a:rPr sz="825" dirty="0" err="1">
                <a:solidFill>
                  <a:srgbClr val="E0EBFF"/>
                </a:solidFill>
                <a:latin typeface="Consolas"/>
                <a:ea typeface="Consolas"/>
                <a:cs typeface="Consolas"/>
              </a:rPr>
              <a:t>lgbm</a:t>
            </a:r>
            <a:r>
              <a:rPr sz="825" dirty="0">
                <a:solidFill>
                  <a:srgbClr val="E0EBFF"/>
                </a:solidFill>
                <a:latin typeface="Consolas"/>
                <a:ea typeface="Consolas"/>
                <a:cs typeface="Consolas"/>
              </a:rPr>
              <a:t> --use-tuning --generate-report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2570C9-B702-42C9-BC82-9BA47AF3A847}"/>
              </a:ext>
            </a:extLst>
          </p:cNvPr>
          <p:cNvSpPr>
            <a:spLocks noGrp="1"/>
          </p:cNvSpPr>
          <p:nvPr/>
        </p:nvSpPr>
        <p:spPr>
          <a:xfrm>
            <a:off x="5667375" y="1476375"/>
            <a:ext cx="3048000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실행 진입점: run_experiment.py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F436D25-A2A0-4239-9E5F-CD3E8388BF99}"/>
              </a:ext>
            </a:extLst>
          </p:cNvPr>
          <p:cNvSpPr>
            <a:spLocks noGrp="1"/>
          </p:cNvSpPr>
          <p:nvPr/>
        </p:nvSpPr>
        <p:spPr>
          <a:xfrm>
            <a:off x="5667375" y="1781175"/>
            <a:ext cx="24765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9FB4C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4C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2539BB-A40F-490B-8EE1-05435D8DBF69}"/>
              </a:ext>
            </a:extLst>
          </p:cNvPr>
          <p:cNvSpPr>
            <a:spLocks noGrp="1"/>
          </p:cNvSpPr>
          <p:nvPr/>
        </p:nvSpPr>
        <p:spPr>
          <a:xfrm>
            <a:off x="6000750" y="1781175"/>
            <a:ext cx="27146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--prepare-only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D5A193-3DA8-4A3D-A149-53619E3B2CF2}"/>
              </a:ext>
            </a:extLst>
          </p:cNvPr>
          <p:cNvSpPr>
            <a:spLocks noGrp="1"/>
          </p:cNvSpPr>
          <p:nvPr/>
        </p:nvSpPr>
        <p:spPr>
          <a:xfrm>
            <a:off x="6000750" y="1990725"/>
            <a:ext cx="2057400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>
                <a:solidFill>
                  <a:srgbClr val="D0DCE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전처리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CSV만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생성하고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학습은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실행하지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않음</a:t>
            </a:r>
            <a:endParaRPr sz="788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2C06671-DE36-410B-8506-EEB500D89511}"/>
              </a:ext>
            </a:extLst>
          </p:cNvPr>
          <p:cNvSpPr>
            <a:spLocks noGrp="1"/>
          </p:cNvSpPr>
          <p:nvPr/>
        </p:nvSpPr>
        <p:spPr>
          <a:xfrm>
            <a:off x="5667375" y="2228850"/>
            <a:ext cx="24765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9FB4C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4C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925BC3-D250-4140-A938-EE7A095DB1EB}"/>
              </a:ext>
            </a:extLst>
          </p:cNvPr>
          <p:cNvSpPr>
            <a:spLocks noGrp="1"/>
          </p:cNvSpPr>
          <p:nvPr/>
        </p:nvSpPr>
        <p:spPr>
          <a:xfrm>
            <a:off x="6000750" y="2228850"/>
            <a:ext cx="27146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--force-preprocess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DB58D88-141C-4F5F-B6FC-B3909C2C7ACF}"/>
              </a:ext>
            </a:extLst>
          </p:cNvPr>
          <p:cNvSpPr>
            <a:spLocks noGrp="1"/>
          </p:cNvSpPr>
          <p:nvPr/>
        </p:nvSpPr>
        <p:spPr>
          <a:xfrm>
            <a:off x="6000750" y="2438400"/>
            <a:ext cx="219075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>
                <a:solidFill>
                  <a:srgbClr val="D0DCE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CSV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캐시를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무시하고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전처리를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강제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재실행</a:t>
            </a:r>
            <a:endParaRPr sz="788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AD29264-4471-41C9-A47E-0C87D511085C}"/>
              </a:ext>
            </a:extLst>
          </p:cNvPr>
          <p:cNvSpPr>
            <a:spLocks noGrp="1"/>
          </p:cNvSpPr>
          <p:nvPr/>
        </p:nvSpPr>
        <p:spPr>
          <a:xfrm>
            <a:off x="5667375" y="2790825"/>
            <a:ext cx="24765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9FB4C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4C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F32841-8B14-46D4-B80D-424D53A3A715}"/>
              </a:ext>
            </a:extLst>
          </p:cNvPr>
          <p:cNvSpPr>
            <a:spLocks noGrp="1"/>
          </p:cNvSpPr>
          <p:nvPr/>
        </p:nvSpPr>
        <p:spPr>
          <a:xfrm>
            <a:off x="6000750" y="2790825"/>
            <a:ext cx="27146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--use-tuning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3E18FAC-8E87-4E69-BE0D-A4FB8480AD8D}"/>
              </a:ext>
            </a:extLst>
          </p:cNvPr>
          <p:cNvSpPr>
            <a:spLocks noGrp="1"/>
          </p:cNvSpPr>
          <p:nvPr/>
        </p:nvSpPr>
        <p:spPr>
          <a:xfrm>
            <a:off x="6000750" y="3000375"/>
            <a:ext cx="2276475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>
                <a:solidFill>
                  <a:srgbClr val="D0DCE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저장된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튜닝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결과가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있으면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하이퍼파라미터를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병합</a:t>
            </a:r>
            <a:endParaRPr sz="788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4BA9340-CC59-4133-AD61-7F3B0528202C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247650" cy="1333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650">
                <a:solidFill>
                  <a:srgbClr val="9FB4C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4C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6EA204-3F7C-4617-AB08-AEDB5EAC4297}"/>
              </a:ext>
            </a:extLst>
          </p:cNvPr>
          <p:cNvSpPr>
            <a:spLocks noGrp="1"/>
          </p:cNvSpPr>
          <p:nvPr/>
        </p:nvSpPr>
        <p:spPr>
          <a:xfrm>
            <a:off x="6000750" y="3238500"/>
            <a:ext cx="27146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--generate-report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4968A65-2FE9-42AF-8F2E-FDBEF65310AC}"/>
              </a:ext>
            </a:extLst>
          </p:cNvPr>
          <p:cNvSpPr>
            <a:spLocks noGrp="1"/>
          </p:cNvSpPr>
          <p:nvPr/>
        </p:nvSpPr>
        <p:spPr>
          <a:xfrm>
            <a:off x="6000750" y="3448050"/>
            <a:ext cx="1714500" cy="2476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>
                <a:solidFill>
                  <a:srgbClr val="D0DCEA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리포트를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788" dirty="0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88" dirty="0" err="1">
                <a:solidFill>
                  <a:schemeClr val="bg1"/>
                </a:solidFill>
                <a:latin typeface="Malgun Gothic"/>
                <a:ea typeface="Malgun Gothic"/>
                <a:cs typeface="Malgun Gothic"/>
              </a:rPr>
              <a:t>생성</a:t>
            </a:r>
            <a:endParaRPr sz="788" dirty="0">
              <a:solidFill>
                <a:schemeClr val="bg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AAFF3EB-1EEC-42DD-9465-06ACDE72D3B6}"/>
              </a:ext>
            </a:extLst>
          </p:cNvPr>
          <p:cNvSpPr>
            <a:spLocks noGrp="1"/>
          </p:cNvSpPr>
          <p:nvPr/>
        </p:nvSpPr>
        <p:spPr>
          <a:xfrm>
            <a:off x="5667375" y="3797618"/>
            <a:ext cx="3048000" cy="681038"/>
          </a:xfrm>
          <a:prstGeom prst="roundRect">
            <a:avLst>
              <a:gd name="adj" fmla="val 15385"/>
            </a:avLst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F592EDA-6757-4D1E-95D4-5325B0F59915}"/>
              </a:ext>
            </a:extLst>
          </p:cNvPr>
          <p:cNvSpPr>
            <a:spLocks noGrp="1"/>
          </p:cNvSpPr>
          <p:nvPr/>
        </p:nvSpPr>
        <p:spPr>
          <a:xfrm>
            <a:off x="5800725" y="3905250"/>
            <a:ext cx="2657475" cy="4762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650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2F6FA"/>
                </a:solidFill>
                <a:latin typeface="Malgun Gothic"/>
                <a:ea typeface="Malgun Gothic"/>
                <a:cs typeface="Malgun Gothic"/>
              </a:rPr>
              <a:t>핵심 효과: 같은 전략을 같은 옵션으로 재실행할 수 있어, A/B/C 전략 비교와 threshold 최적화 결과를 일관되게 관리할 수 있었습니다.</a:t>
            </a:r>
          </a:p>
        </p:txBody>
      </p:sp>
    </p:spTree>
    <p:extLst>
      <p:ext uri="{BB962C8B-B14F-4D97-AF65-F5344CB8AC3E}">
        <p14:creationId xmlns:p14="http://schemas.microsoft.com/office/powerpoint/2010/main" val="60373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">
            <a:extLst>
              <a:ext uri="{FF2B5EF4-FFF2-40B4-BE49-F238E27FC236}">
                <a16:creationId xmlns:a16="http://schemas.microsoft.com/office/drawing/2014/main" id="{07966CB1-BB7C-4971-8619-8B0F0AB860E4}"/>
              </a:ext>
            </a:extLst>
          </p:cNvPr>
          <p:cNvSpPr>
            <a:spLocks noGrp="1"/>
          </p:cNvSpPr>
          <p:nvPr/>
        </p:nvSpPr>
        <p:spPr>
          <a:xfrm>
            <a:off x="-28575" y="0"/>
            <a:ext cx="9209314" cy="5191125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D6DE58C4-A49D-404B-A84D-A5C5C23897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6212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C601BA7F-9264-4EF1-B7D6-6467F1463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7153F79-3283-4BBF-B4B7-B66EDC0E47AF}"/>
              </a:ext>
            </a:extLst>
          </p:cNvPr>
          <p:cNvSpPr>
            <a:spLocks noGrp="1"/>
          </p:cNvSpPr>
          <p:nvPr/>
        </p:nvSpPr>
        <p:spPr>
          <a:xfrm>
            <a:off x="406400" y="190500"/>
            <a:ext cx="990600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37D223-0186-4578-AF49-CE2006612F53}"/>
              </a:ext>
            </a:extLst>
          </p:cNvPr>
          <p:cNvSpPr>
            <a:spLocks noGrp="1"/>
          </p:cNvSpPr>
          <p:nvPr/>
        </p:nvSpPr>
        <p:spPr>
          <a:xfrm>
            <a:off x="533854" y="316071"/>
            <a:ext cx="711200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병합 실험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99D0E3-4485-4143-AE16-C55F58170000}"/>
              </a:ext>
            </a:extLst>
          </p:cNvPr>
          <p:cNvSpPr>
            <a:spLocks noGrp="1"/>
          </p:cNvSpPr>
          <p:nvPr/>
        </p:nvSpPr>
        <p:spPr>
          <a:xfrm>
            <a:off x="406400" y="774700"/>
            <a:ext cx="828675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9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병합 실험 — test_member_abc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3F5507-530F-4532-B54A-080D94D4760B}"/>
              </a:ext>
            </a:extLst>
          </p:cNvPr>
          <p:cNvSpPr>
            <a:spLocks noGrp="1"/>
          </p:cNvSpPr>
          <p:nvPr/>
        </p:nvSpPr>
        <p:spPr>
          <a:xfrm>
            <a:off x="406400" y="1193800"/>
            <a:ext cx="8523514" cy="3905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4000"/>
              </a:lnSpc>
              <a:defRPr sz="2025" i="1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세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전략의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feature를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가로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병합하고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CorrelationRemover를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제거한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뒤, threshold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최적화로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Recall과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F1을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동시에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끌어올린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최종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병합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13" i="1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전략입니다</a:t>
            </a:r>
            <a:r>
              <a:rPr sz="1013" i="1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B3ABED-7036-4711-90F4-A1A2243A82DB}"/>
              </a:ext>
            </a:extLst>
          </p:cNvPr>
          <p:cNvSpPr>
            <a:spLocks noGrp="1"/>
          </p:cNvSpPr>
          <p:nvPr/>
        </p:nvSpPr>
        <p:spPr>
          <a:xfrm>
            <a:off x="406400" y="1625600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1A092B5-AA9D-4084-A617-A8F0C7825218}"/>
              </a:ext>
            </a:extLst>
          </p:cNvPr>
          <p:cNvSpPr>
            <a:spLocks noGrp="1"/>
          </p:cNvSpPr>
          <p:nvPr/>
        </p:nvSpPr>
        <p:spPr>
          <a:xfrm>
            <a:off x="371475" y="1942783"/>
            <a:ext cx="581025" cy="581025"/>
          </a:xfrm>
          <a:prstGeom prst="roundRect">
            <a:avLst>
              <a:gd name="adj" fmla="val 16364"/>
            </a:avLst>
          </a:prstGeom>
          <a:solidFill>
            <a:srgbClr val="101923"/>
          </a:solidFill>
          <a:ln w="28575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71CED-B392-4DE2-A874-EF0D734AFFC9}"/>
              </a:ext>
            </a:extLst>
          </p:cNvPr>
          <p:cNvSpPr>
            <a:spLocks noGrp="1"/>
          </p:cNvSpPr>
          <p:nvPr/>
        </p:nvSpPr>
        <p:spPr>
          <a:xfrm>
            <a:off x="1085850" y="1957755"/>
            <a:ext cx="3629025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Malgun Gothic"/>
                <a:ea typeface="Malgun Gothic"/>
                <a:cs typeface="Malgun Gothic"/>
              </a:rPr>
              <a:t>구성</a:t>
            </a:r>
            <a:endParaRPr sz="1600" b="1" dirty="0">
              <a:solidFill>
                <a:schemeClr val="accent1">
                  <a:lumMod val="20000"/>
                  <a:lumOff val="80000"/>
                </a:schemeClr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732615-B5D2-4FE0-85BA-D69467C232EF}"/>
              </a:ext>
            </a:extLst>
          </p:cNvPr>
          <p:cNvSpPr>
            <a:spLocks noGrp="1"/>
          </p:cNvSpPr>
          <p:nvPr/>
        </p:nvSpPr>
        <p:spPr>
          <a:xfrm>
            <a:off x="1085850" y="2227385"/>
            <a:ext cx="3533775" cy="3429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8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A4(ma4_*), B3(mb3_*), C4(mc4_*)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feature를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고객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단위로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가로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병합했습니다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CSV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학습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feature는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279개입니다.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120F5CA-215F-4D33-8DC3-2067BE4E3E07}"/>
              </a:ext>
            </a:extLst>
          </p:cNvPr>
          <p:cNvSpPr>
            <a:spLocks noGrp="1"/>
          </p:cNvSpPr>
          <p:nvPr/>
        </p:nvSpPr>
        <p:spPr>
          <a:xfrm>
            <a:off x="371475" y="2991975"/>
            <a:ext cx="581025" cy="581025"/>
          </a:xfrm>
          <a:prstGeom prst="roundRect">
            <a:avLst>
              <a:gd name="adj" fmla="val 16364"/>
            </a:avLst>
          </a:prstGeom>
          <a:solidFill>
            <a:srgbClr val="101923"/>
          </a:solidFill>
          <a:ln w="28575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B26AD1-CCE7-42EB-950F-93ABDD4A9C2D}"/>
              </a:ext>
            </a:extLst>
          </p:cNvPr>
          <p:cNvSpPr>
            <a:spLocks noGrp="1"/>
          </p:cNvSpPr>
          <p:nvPr/>
        </p:nvSpPr>
        <p:spPr>
          <a:xfrm>
            <a:off x="1085850" y="3011367"/>
            <a:ext cx="3629025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Malgun Gothic"/>
                <a:ea typeface="Malgun Gothic"/>
                <a:cs typeface="Malgun Gothic"/>
              </a:rPr>
              <a:t>성능 (LightGBM)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C40265-5BB8-4315-A6B7-82F054D992A1}"/>
              </a:ext>
            </a:extLst>
          </p:cNvPr>
          <p:cNvSpPr>
            <a:spLocks noGrp="1"/>
          </p:cNvSpPr>
          <p:nvPr/>
        </p:nvSpPr>
        <p:spPr>
          <a:xfrm>
            <a:off x="1085850" y="3271472"/>
            <a:ext cx="3705225" cy="3429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8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artifact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Recall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0.7417, F1 0.6919, F1 Macro 0.8300을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기록했습니다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적용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threshold는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0.3109입니다.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68C398-BE95-41EE-B90D-FB809442D5BC}"/>
              </a:ext>
            </a:extLst>
          </p:cNvPr>
          <p:cNvSpPr>
            <a:spLocks noGrp="1"/>
          </p:cNvSpPr>
          <p:nvPr/>
        </p:nvSpPr>
        <p:spPr>
          <a:xfrm>
            <a:off x="371475" y="3991871"/>
            <a:ext cx="581025" cy="581025"/>
          </a:xfrm>
          <a:prstGeom prst="roundRect">
            <a:avLst>
              <a:gd name="adj" fmla="val 16364"/>
            </a:avLst>
          </a:prstGeom>
          <a:solidFill>
            <a:srgbClr val="101923"/>
          </a:solidFill>
          <a:ln w="28575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065EF1-1CF6-4980-8FDE-0C2141CE8457}"/>
              </a:ext>
            </a:extLst>
          </p:cNvPr>
          <p:cNvSpPr>
            <a:spLocks noGrp="1"/>
          </p:cNvSpPr>
          <p:nvPr/>
        </p:nvSpPr>
        <p:spPr>
          <a:xfrm>
            <a:off x="1085850" y="3989509"/>
            <a:ext cx="3629025" cy="2000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5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chemeClr val="accent1">
                    <a:lumMod val="20000"/>
                    <a:lumOff val="80000"/>
                  </a:schemeClr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88BC42-45E0-475E-96CA-E27B6EA63FF7}"/>
              </a:ext>
            </a:extLst>
          </p:cNvPr>
          <p:cNvSpPr>
            <a:spLocks noGrp="1"/>
          </p:cNvSpPr>
          <p:nvPr/>
        </p:nvSpPr>
        <p:spPr>
          <a:xfrm>
            <a:off x="1085850" y="4259139"/>
            <a:ext cx="3857625" cy="504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8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서로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다른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관점의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feature가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상호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보완되었고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CorrelationRemover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제거와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threshold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최적화가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성능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개선에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1" dirty="0" err="1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기여했습니다</a:t>
            </a:r>
            <a:r>
              <a:rPr sz="900" b="1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6E522D-8CD9-4F9E-94F1-83C912523B99}"/>
              </a:ext>
            </a:extLst>
          </p:cNvPr>
          <p:cNvSpPr>
            <a:spLocks noGrp="1"/>
          </p:cNvSpPr>
          <p:nvPr/>
        </p:nvSpPr>
        <p:spPr>
          <a:xfrm>
            <a:off x="5000625" y="1819275"/>
            <a:ext cx="3714750" cy="2190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85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2000" b="1" dirty="0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 dirty="0" err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sz="2000" b="1" dirty="0">
              <a:solidFill>
                <a:srgbClr val="F3F7F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1C26561-DA1B-4592-AA70-F4F51DF632D8}"/>
              </a:ext>
            </a:extLst>
          </p:cNvPr>
          <p:cNvSpPr>
            <a:spLocks noGrp="1"/>
          </p:cNvSpPr>
          <p:nvPr/>
        </p:nvSpPr>
        <p:spPr>
          <a:xfrm>
            <a:off x="5000625" y="2161947"/>
            <a:ext cx="3714750" cy="1379220"/>
          </a:xfrm>
          <a:prstGeom prst="roundRect">
            <a:avLst>
              <a:gd name="adj" fmla="val 8287"/>
            </a:avLst>
          </a:prstGeom>
          <a:noFill/>
          <a:ln w="9525">
            <a:solidFill>
              <a:srgbClr val="3C53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DFCB57-D630-42B8-8B0A-2D68CE9DFAD2}"/>
              </a:ext>
            </a:extLst>
          </p:cNvPr>
          <p:cNvSpPr>
            <a:spLocks noGrp="1"/>
          </p:cNvSpPr>
          <p:nvPr/>
        </p:nvSpPr>
        <p:spPr>
          <a:xfrm>
            <a:off x="5153025" y="2305050"/>
            <a:ext cx="164782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685800"/>
            <a:r>
              <a:rPr lang="en-US" altLang="ko-KR" sz="24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0.7417</a:t>
            </a:r>
            <a:endParaRPr lang="ko-KR" altLang="en-US" sz="2400" b="1" dirty="0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1BED01A-0246-4AD6-9719-D02C81339A64}"/>
              </a:ext>
            </a:extLst>
          </p:cNvPr>
          <p:cNvSpPr>
            <a:spLocks noGrp="1"/>
          </p:cNvSpPr>
          <p:nvPr/>
        </p:nvSpPr>
        <p:spPr>
          <a:xfrm>
            <a:off x="5153025" y="2667000"/>
            <a:ext cx="1647825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 dirty="0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Recall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391753-636E-402D-AD67-E0D78DA96DAC}"/>
              </a:ext>
            </a:extLst>
          </p:cNvPr>
          <p:cNvSpPr>
            <a:spLocks noGrp="1"/>
          </p:cNvSpPr>
          <p:nvPr/>
        </p:nvSpPr>
        <p:spPr>
          <a:xfrm>
            <a:off x="6924675" y="2305050"/>
            <a:ext cx="164782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685800"/>
            <a:r>
              <a:rPr lang="en-US" altLang="ko-KR" sz="2400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0.6919</a:t>
            </a:r>
            <a:endParaRPr lang="ko-KR" altLang="en-US" sz="2400" b="1" dirty="0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11BB341-E38F-45D0-86D9-591F64B8F445}"/>
              </a:ext>
            </a:extLst>
          </p:cNvPr>
          <p:cNvSpPr>
            <a:spLocks noGrp="1"/>
          </p:cNvSpPr>
          <p:nvPr/>
        </p:nvSpPr>
        <p:spPr>
          <a:xfrm>
            <a:off x="6924675" y="2667000"/>
            <a:ext cx="1647825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F1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005E0AB-D764-4E88-8953-87FC699CD681}"/>
              </a:ext>
            </a:extLst>
          </p:cNvPr>
          <p:cNvSpPr>
            <a:spLocks noGrp="1"/>
          </p:cNvSpPr>
          <p:nvPr/>
        </p:nvSpPr>
        <p:spPr>
          <a:xfrm>
            <a:off x="5153025" y="2914650"/>
            <a:ext cx="164782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685800"/>
            <a:r>
              <a:rPr lang="en-US" altLang="ko-KR" sz="2000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0.8300</a:t>
            </a:r>
            <a:endParaRPr lang="ko-KR" altLang="en-US" sz="2000" b="1" dirty="0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A0F2DD-5567-44D5-8443-818F61A56E8C}"/>
              </a:ext>
            </a:extLst>
          </p:cNvPr>
          <p:cNvSpPr>
            <a:spLocks noGrp="1"/>
          </p:cNvSpPr>
          <p:nvPr/>
        </p:nvSpPr>
        <p:spPr>
          <a:xfrm>
            <a:off x="5153025" y="3276600"/>
            <a:ext cx="1647825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F1 Macro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4864071-13F7-4EC9-B456-3587AE4A1D16}"/>
              </a:ext>
            </a:extLst>
          </p:cNvPr>
          <p:cNvSpPr>
            <a:spLocks noGrp="1"/>
          </p:cNvSpPr>
          <p:nvPr/>
        </p:nvSpPr>
        <p:spPr>
          <a:xfrm>
            <a:off x="6924675" y="2914650"/>
            <a:ext cx="164782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685800"/>
            <a:r>
              <a:rPr lang="en-US" altLang="ko-KR" sz="20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0.3109</a:t>
            </a:r>
            <a:endParaRPr lang="ko-KR" altLang="en-US" sz="2000" b="1" dirty="0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F1EE55E-FAB9-438B-AFB0-B519D91E7328}"/>
              </a:ext>
            </a:extLst>
          </p:cNvPr>
          <p:cNvSpPr>
            <a:spLocks noGrp="1"/>
          </p:cNvSpPr>
          <p:nvPr/>
        </p:nvSpPr>
        <p:spPr>
          <a:xfrm>
            <a:off x="6924675" y="3276600"/>
            <a:ext cx="1647825" cy="1238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75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Threshold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77D1F04-21FB-4627-A33B-F64FDBCA5518}"/>
              </a:ext>
            </a:extLst>
          </p:cNvPr>
          <p:cNvSpPr>
            <a:spLocks noGrp="1"/>
          </p:cNvSpPr>
          <p:nvPr/>
        </p:nvSpPr>
        <p:spPr>
          <a:xfrm>
            <a:off x="5000625" y="3664992"/>
            <a:ext cx="3714750" cy="950119"/>
          </a:xfrm>
          <a:prstGeom prst="roundRect">
            <a:avLst>
              <a:gd name="adj" fmla="val 12030"/>
            </a:avLst>
          </a:prstGeom>
          <a:solidFill>
            <a:srgbClr val="0B356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516BA82-3D29-4A9B-B1D7-6331E0B6AF22}"/>
              </a:ext>
            </a:extLst>
          </p:cNvPr>
          <p:cNvSpPr>
            <a:spLocks noGrp="1"/>
          </p:cNvSpPr>
          <p:nvPr/>
        </p:nvSpPr>
        <p:spPr>
          <a:xfrm>
            <a:off x="5143500" y="3781425"/>
            <a:ext cx="3429000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개선 포인트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15DA13-D35F-461E-87CE-920A5CAC2555}"/>
              </a:ext>
            </a:extLst>
          </p:cNvPr>
          <p:cNvSpPr>
            <a:spLocks noGrp="1"/>
          </p:cNvSpPr>
          <p:nvPr/>
        </p:nvSpPr>
        <p:spPr>
          <a:xfrm>
            <a:off x="5143500" y="4010025"/>
            <a:ext cx="3419475" cy="495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725">
                <a:solidFill>
                  <a:srgbClr val="E0EB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CorrelationRemover 제거 후 문서 기준 F1은 0.6420에서 0.6919로 상승했습니다. 상관이 높은 feature라도 서로 다른 전략의 관점을 담고 있으면 정보 손실이 생길 수 있음을 확인했습니다.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E149C6-D9DC-0411-30C6-D3E9C2710C0E}"/>
              </a:ext>
            </a:extLst>
          </p:cNvPr>
          <p:cNvSpPr txBox="1"/>
          <p:nvPr/>
        </p:nvSpPr>
        <p:spPr>
          <a:xfrm>
            <a:off x="395759" y="2076452"/>
            <a:ext cx="5524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20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200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1DE0EE-C375-B652-8FEE-351BC196B6E0}"/>
              </a:ext>
            </a:extLst>
          </p:cNvPr>
          <p:cNvSpPr txBox="1"/>
          <p:nvPr/>
        </p:nvSpPr>
        <p:spPr>
          <a:xfrm>
            <a:off x="406645" y="3137670"/>
            <a:ext cx="5524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20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200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844B84-0B2E-FCF6-CF6B-08027568FC7E}"/>
              </a:ext>
            </a:extLst>
          </p:cNvPr>
          <p:cNvSpPr txBox="1"/>
          <p:nvPr/>
        </p:nvSpPr>
        <p:spPr>
          <a:xfrm>
            <a:off x="406645" y="4118993"/>
            <a:ext cx="5524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2000" b="1" dirty="0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2000" b="1" dirty="0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789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">
            <a:extLst>
              <a:ext uri="{FF2B5EF4-FFF2-40B4-BE49-F238E27FC236}">
                <a16:creationId xmlns:a16="http://schemas.microsoft.com/office/drawing/2014/main" id="{30DA9254-A710-4555-9FC4-783F2E9F9747}"/>
              </a:ext>
            </a:extLst>
          </p:cNvPr>
          <p:cNvSpPr>
            <a:spLocks noGrp="1"/>
          </p:cNvSpPr>
          <p:nvPr/>
        </p:nvSpPr>
        <p:spPr>
          <a:xfrm>
            <a:off x="-4082" y="0"/>
            <a:ext cx="9213396" cy="5143500"/>
          </a:xfrm>
          <a:prstGeom prst="rect">
            <a:avLst/>
          </a:prstGeom>
          <a:solidFill>
            <a:srgbClr val="07161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left-depth">
            <a:extLst>
              <a:ext uri="{FF2B5EF4-FFF2-40B4-BE49-F238E27FC236}">
                <a16:creationId xmlns:a16="http://schemas.microsoft.com/office/drawing/2014/main" id="{E7B2F0B1-A5DB-4A1E-966E-301BBD2F51EC}"/>
              </a:ext>
            </a:extLst>
          </p:cNvPr>
          <p:cNvSpPr>
            <a:spLocks noGrp="1"/>
          </p:cNvSpPr>
          <p:nvPr/>
        </p:nvSpPr>
        <p:spPr>
          <a:xfrm>
            <a:off x="-4082" y="0"/>
            <a:ext cx="1762125" cy="5143500"/>
          </a:xfrm>
          <a:prstGeom prst="rect">
            <a:avLst/>
          </a:prstGeom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3" name="top-line">
            <a:extLst>
              <a:ext uri="{FF2B5EF4-FFF2-40B4-BE49-F238E27FC236}">
                <a16:creationId xmlns:a16="http://schemas.microsoft.com/office/drawing/2014/main" id="{B4F79F3E-A3F5-45C7-9105-3A47EEC75F60}"/>
              </a:ext>
            </a:extLst>
          </p:cNvPr>
          <p:cNvSpPr>
            <a:spLocks noGrp="1"/>
          </p:cNvSpPr>
          <p:nvPr/>
        </p:nvSpPr>
        <p:spPr>
          <a:xfrm>
            <a:off x="-4082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5EDD676-51B3-4BD5-A7E0-2D99C10D52B0}"/>
              </a:ext>
            </a:extLst>
          </p:cNvPr>
          <p:cNvSpPr>
            <a:spLocks noGrp="1"/>
          </p:cNvSpPr>
          <p:nvPr/>
        </p:nvSpPr>
        <p:spPr>
          <a:xfrm>
            <a:off x="406400" y="190500"/>
            <a:ext cx="990600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803D0C-A137-4C56-8A5B-75D768CF9365}"/>
              </a:ext>
            </a:extLst>
          </p:cNvPr>
          <p:cNvSpPr>
            <a:spLocks noGrp="1"/>
          </p:cNvSpPr>
          <p:nvPr/>
        </p:nvSpPr>
        <p:spPr>
          <a:xfrm>
            <a:off x="546100" y="311150"/>
            <a:ext cx="711200" cy="279400"/>
          </a:xfrm>
          <a:prstGeom prst="rect">
            <a:avLst/>
          </a:prstGeom>
        </p:spPr>
        <p:txBody>
          <a:bodyPr lIns="0" tIns="0" rIns="0" bIns="0"/>
          <a:lstStyle/>
          <a:p>
            <a:pPr algn="ctr" defTabSz="457200" latinLnBrk="0">
              <a:defRPr sz="1800" b="1">
                <a:solidFill>
                  <a:srgbClr val="6CA7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200" b="1" dirty="0">
                <a:solidFill>
                  <a:srgbClr val="6CA7FF"/>
                </a:solidFill>
                <a:latin typeface="Malgun Gothic"/>
                <a:ea typeface="Malgun Gothic"/>
                <a:cs typeface="Malgun Gothic"/>
              </a:rPr>
              <a:t>최종 결과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BF6438-E595-4568-8AAF-AE071C011967}"/>
              </a:ext>
            </a:extLst>
          </p:cNvPr>
          <p:cNvSpPr>
            <a:spLocks noGrp="1"/>
          </p:cNvSpPr>
          <p:nvPr/>
        </p:nvSpPr>
        <p:spPr>
          <a:xfrm>
            <a:off x="406400" y="774700"/>
            <a:ext cx="8267700" cy="3810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4950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5F8FB"/>
                </a:solidFill>
                <a:latin typeface="Malgun Gothic"/>
                <a:ea typeface="Malgun Gothic"/>
                <a:cs typeface="Malgun Gothic"/>
              </a:rPr>
              <a:t>최종 결과와 결론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678E20-87B6-4454-99AB-24C0EF36C82E}"/>
              </a:ext>
            </a:extLst>
          </p:cNvPr>
          <p:cNvSpPr>
            <a:spLocks noGrp="1"/>
          </p:cNvSpPr>
          <p:nvPr/>
        </p:nvSpPr>
        <p:spPr>
          <a:xfrm>
            <a:off x="406400" y="1193800"/>
            <a:ext cx="6452507" cy="4000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4000"/>
              </a:lnSpc>
              <a:defRPr sz="2100">
                <a:solidFill>
                  <a:srgbClr val="D5E0E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A4 + B3 + C4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병합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전략인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test_member_abc가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threshold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최적화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후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가장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높은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종합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성능을</a:t>
            </a:r>
            <a:r>
              <a:rPr sz="1050" dirty="0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 </a:t>
            </a:r>
            <a:r>
              <a:rPr sz="1050" dirty="0" err="1">
                <a:solidFill>
                  <a:srgbClr val="D5E0EA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algun Gothic"/>
              </a:rPr>
              <a:t>보였습니다</a:t>
            </a:r>
            <a:r>
              <a:rPr sz="1050" dirty="0">
                <a:solidFill>
                  <a:srgbClr val="D5E0E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8EC09F-8F3E-46A1-B8E1-A8ED7BE2F907}"/>
              </a:ext>
            </a:extLst>
          </p:cNvPr>
          <p:cNvSpPr>
            <a:spLocks noGrp="1"/>
          </p:cNvSpPr>
          <p:nvPr/>
        </p:nvSpPr>
        <p:spPr>
          <a:xfrm>
            <a:off x="406400" y="1625600"/>
            <a:ext cx="1238250" cy="19050"/>
          </a:xfrm>
          <a:prstGeom prst="rect">
            <a:avLst/>
          </a:prstGeom>
          <a:solidFill>
            <a:srgbClr val="2D6DF6"/>
          </a:solidFill>
          <a:ln w="0">
            <a:solidFill>
              <a:srgbClr val="2D6D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E38866-5255-4BD4-B2A8-43A8F35D762A}"/>
              </a:ext>
            </a:extLst>
          </p:cNvPr>
          <p:cNvSpPr>
            <a:spLocks noGrp="1"/>
          </p:cNvSpPr>
          <p:nvPr/>
        </p:nvSpPr>
        <p:spPr>
          <a:xfrm>
            <a:off x="434068" y="1876425"/>
            <a:ext cx="2257425" cy="4286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0.7417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012D55-6AC4-4F97-9724-3A0F93FB1062}"/>
              </a:ext>
            </a:extLst>
          </p:cNvPr>
          <p:cNvSpPr>
            <a:spLocks noGrp="1"/>
          </p:cNvSpPr>
          <p:nvPr/>
        </p:nvSpPr>
        <p:spPr>
          <a:xfrm>
            <a:off x="434068" y="2343150"/>
            <a:ext cx="2257425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02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Recall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E7E9C9-4319-4E38-9566-9818172C08EA}"/>
              </a:ext>
            </a:extLst>
          </p:cNvPr>
          <p:cNvSpPr>
            <a:spLocks noGrp="1"/>
          </p:cNvSpPr>
          <p:nvPr/>
        </p:nvSpPr>
        <p:spPr>
          <a:xfrm>
            <a:off x="434068" y="2543175"/>
            <a:ext cx="2257425" cy="114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test_member_abc · LGBM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F8C010-FA4B-489F-8B7F-69EF26BBB444}"/>
              </a:ext>
            </a:extLst>
          </p:cNvPr>
          <p:cNvSpPr>
            <a:spLocks noGrp="1"/>
          </p:cNvSpPr>
          <p:nvPr/>
        </p:nvSpPr>
        <p:spPr>
          <a:xfrm>
            <a:off x="2853418" y="1876425"/>
            <a:ext cx="2257425" cy="4286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0.6919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16E34B-8918-4818-A4D0-5B5D115146BD}"/>
              </a:ext>
            </a:extLst>
          </p:cNvPr>
          <p:cNvSpPr>
            <a:spLocks noGrp="1"/>
          </p:cNvSpPr>
          <p:nvPr/>
        </p:nvSpPr>
        <p:spPr>
          <a:xfrm>
            <a:off x="2853418" y="2343150"/>
            <a:ext cx="2257425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02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F1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4DA988-5C81-4AB9-8330-54271666FA5B}"/>
              </a:ext>
            </a:extLst>
          </p:cNvPr>
          <p:cNvSpPr>
            <a:spLocks noGrp="1"/>
          </p:cNvSpPr>
          <p:nvPr/>
        </p:nvSpPr>
        <p:spPr>
          <a:xfrm>
            <a:off x="2853418" y="2543175"/>
            <a:ext cx="2257425" cy="114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threshold 0.3109 적용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4E170F-6215-47A1-ACDD-06B33DE841CC}"/>
              </a:ext>
            </a:extLst>
          </p:cNvPr>
          <p:cNvSpPr>
            <a:spLocks noGrp="1"/>
          </p:cNvSpPr>
          <p:nvPr/>
        </p:nvSpPr>
        <p:spPr>
          <a:xfrm>
            <a:off x="434068" y="2819400"/>
            <a:ext cx="4667250" cy="4286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5550" b="1">
                <a:solidFill>
                  <a:srgbClr val="BBD2F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BBD2FF"/>
                </a:solidFill>
                <a:latin typeface="Malgun Gothic"/>
                <a:ea typeface="Malgun Gothic"/>
                <a:cs typeface="Malgun Gothic"/>
              </a:rPr>
              <a:t>0.8300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9DCC89-D136-4C38-BED6-22BB67BD6D23}"/>
              </a:ext>
            </a:extLst>
          </p:cNvPr>
          <p:cNvSpPr>
            <a:spLocks noGrp="1"/>
          </p:cNvSpPr>
          <p:nvPr/>
        </p:nvSpPr>
        <p:spPr>
          <a:xfrm>
            <a:off x="434068" y="3295650"/>
            <a:ext cx="46672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025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F1 Macro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C35314-E2FF-4B4F-93A8-58356F2C640F}"/>
              </a:ext>
            </a:extLst>
          </p:cNvPr>
          <p:cNvSpPr>
            <a:spLocks noGrp="1"/>
          </p:cNvSpPr>
          <p:nvPr/>
        </p:nvSpPr>
        <p:spPr>
          <a:xfrm>
            <a:off x="434068" y="3495675"/>
            <a:ext cx="4667250" cy="11430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500">
                <a:solidFill>
                  <a:srgbClr val="BFD0D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BFD0DF"/>
                </a:solidFill>
                <a:latin typeface="Malgun Gothic"/>
                <a:ea typeface="Malgun Gothic"/>
                <a:cs typeface="Malgun Gothic"/>
              </a:rPr>
              <a:t>class 균형 성능도 함께 유지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22746BC-13CC-4408-9AF8-661917E3CEFE}"/>
              </a:ext>
            </a:extLst>
          </p:cNvPr>
          <p:cNvSpPr>
            <a:spLocks noGrp="1"/>
          </p:cNvSpPr>
          <p:nvPr/>
        </p:nvSpPr>
        <p:spPr>
          <a:xfrm>
            <a:off x="434068" y="3770605"/>
            <a:ext cx="4667250" cy="793433"/>
          </a:xfrm>
          <a:prstGeom prst="roundRect">
            <a:avLst>
              <a:gd name="adj" fmla="val 14406"/>
            </a:avLst>
          </a:prstGeom>
          <a:solidFill>
            <a:srgbClr val="0B356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9C850D-0693-42CF-9785-D9D047E76901}"/>
              </a:ext>
            </a:extLst>
          </p:cNvPr>
          <p:cNvSpPr>
            <a:spLocks noGrp="1"/>
          </p:cNvSpPr>
          <p:nvPr/>
        </p:nvSpPr>
        <p:spPr>
          <a:xfrm>
            <a:off x="586468" y="3895725"/>
            <a:ext cx="4362450" cy="1619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선택 전략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CBBCE1-D486-4D53-A7F9-746C73D17ACB}"/>
              </a:ext>
            </a:extLst>
          </p:cNvPr>
          <p:cNvSpPr>
            <a:spLocks noGrp="1"/>
          </p:cNvSpPr>
          <p:nvPr/>
        </p:nvSpPr>
        <p:spPr>
          <a:xfrm>
            <a:off x="586468" y="4114800"/>
            <a:ext cx="4067175" cy="3333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5000"/>
              </a:lnSpc>
              <a:defRPr sz="1725">
                <a:solidFill>
                  <a:srgbClr val="E0EB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>
                <a:solidFill>
                  <a:srgbClr val="E0EBFF"/>
                </a:solidFill>
                <a:latin typeface="Malgun Gothic"/>
                <a:ea typeface="Malgun Gothic"/>
                <a:cs typeface="Malgun Gothic"/>
              </a:rPr>
              <a:t>test_member_abc: Member A4, B3, C4의 feature를 병합하고 threshold를 최적화한 전략입니다. 최종 feature 수는 295개입니다.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6DCEDE-879D-49BD-81BB-6DB0C90D577D}"/>
              </a:ext>
            </a:extLst>
          </p:cNvPr>
          <p:cNvSpPr>
            <a:spLocks noGrp="1"/>
          </p:cNvSpPr>
          <p:nvPr/>
        </p:nvSpPr>
        <p:spPr>
          <a:xfrm>
            <a:off x="5396593" y="1876425"/>
            <a:ext cx="3305175" cy="2095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7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핵심 인사이트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E20019-B36E-4AB5-85F6-F241241E753B}"/>
              </a:ext>
            </a:extLst>
          </p:cNvPr>
          <p:cNvSpPr>
            <a:spLocks noGrp="1"/>
          </p:cNvSpPr>
          <p:nvPr/>
        </p:nvSpPr>
        <p:spPr>
          <a:xfrm>
            <a:off x="5396593" y="2200275"/>
            <a:ext cx="257175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300">
                <a:solidFill>
                  <a:srgbClr val="DD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DDE8F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6EADE1-94AC-46DB-8AA6-4B85A38014CC}"/>
              </a:ext>
            </a:extLst>
          </p:cNvPr>
          <p:cNvSpPr>
            <a:spLocks noGrp="1"/>
          </p:cNvSpPr>
          <p:nvPr/>
        </p:nvSpPr>
        <p:spPr>
          <a:xfrm>
            <a:off x="5749018" y="2200275"/>
            <a:ext cx="2952750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전략 병합이 효과적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EFCDD1-AF0A-40B8-B4E6-872DD16DFD48}"/>
              </a:ext>
            </a:extLst>
          </p:cNvPr>
          <p:cNvSpPr>
            <a:spLocks noGrp="1"/>
          </p:cNvSpPr>
          <p:nvPr/>
        </p:nvSpPr>
        <p:spPr>
          <a:xfrm>
            <a:off x="5749018" y="2371725"/>
            <a:ext cx="2724150" cy="2762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8000"/>
              </a:lnSpc>
              <a:defRPr sz="1500">
                <a:solidFill>
                  <a:srgbClr val="C9D7E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C9D7E3"/>
                </a:solidFill>
                <a:latin typeface="Malgun Gothic"/>
                <a:ea typeface="Malgun Gothic"/>
                <a:cs typeface="Malgun Gothic"/>
              </a:rPr>
              <a:t>A/B/C가 서로 다른 관점의 feature를 제공해 단일 전략보다 넓은 패턴을 포착했습니다.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ABA10C-F1BE-4AA7-AFE0-DFC8D7BA8B23}"/>
              </a:ext>
            </a:extLst>
          </p:cNvPr>
          <p:cNvSpPr>
            <a:spLocks noGrp="1"/>
          </p:cNvSpPr>
          <p:nvPr/>
        </p:nvSpPr>
        <p:spPr>
          <a:xfrm>
            <a:off x="5396593" y="2762250"/>
            <a:ext cx="257175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300">
                <a:solidFill>
                  <a:srgbClr val="DD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DDE8F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BFA1ACD-823B-4830-BA86-17D15135739A}"/>
              </a:ext>
            </a:extLst>
          </p:cNvPr>
          <p:cNvSpPr>
            <a:spLocks noGrp="1"/>
          </p:cNvSpPr>
          <p:nvPr/>
        </p:nvSpPr>
        <p:spPr>
          <a:xfrm>
            <a:off x="5749018" y="2762250"/>
            <a:ext cx="2952750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Threshold 최적화가 Recall을 보강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D4F6C3-D544-4707-B18D-0A0BBCBD22B3}"/>
              </a:ext>
            </a:extLst>
          </p:cNvPr>
          <p:cNvSpPr>
            <a:spLocks noGrp="1"/>
          </p:cNvSpPr>
          <p:nvPr/>
        </p:nvSpPr>
        <p:spPr>
          <a:xfrm>
            <a:off x="5749018" y="2924175"/>
            <a:ext cx="2867025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8000"/>
              </a:lnSpc>
              <a:defRPr sz="1500">
                <a:solidFill>
                  <a:srgbClr val="C9D7E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C9D7E3"/>
                </a:solidFill>
                <a:latin typeface="Malgun Gothic"/>
                <a:ea typeface="Malgun Gothic"/>
                <a:cs typeface="Malgun Gothic"/>
              </a:rPr>
              <a:t>기본 threshold 대비 Recall이 0.6587에서 0.7417로 개선되었습니다.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E003DC-FA0A-4750-9C89-0998CBBDC8B3}"/>
              </a:ext>
            </a:extLst>
          </p:cNvPr>
          <p:cNvSpPr>
            <a:spLocks noGrp="1"/>
          </p:cNvSpPr>
          <p:nvPr/>
        </p:nvSpPr>
        <p:spPr>
          <a:xfrm>
            <a:off x="5396593" y="3190875"/>
            <a:ext cx="257175" cy="2571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3300">
                <a:solidFill>
                  <a:srgbClr val="DD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DDE8F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7B93D6-5789-494C-898F-48806E3EA6AB}"/>
              </a:ext>
            </a:extLst>
          </p:cNvPr>
          <p:cNvSpPr>
            <a:spLocks noGrp="1"/>
          </p:cNvSpPr>
          <p:nvPr/>
        </p:nvSpPr>
        <p:spPr>
          <a:xfrm>
            <a:off x="5749018" y="3190875"/>
            <a:ext cx="2952750" cy="14287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18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3F7FB"/>
                </a:solidFill>
                <a:latin typeface="Malgun Gothic"/>
                <a:ea typeface="Malgun Gothic"/>
                <a:cs typeface="Malgun Gothic"/>
              </a:rPr>
              <a:t>무작정 feature를 줄이는 방식은 신중해야 함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E27866-6D7C-4A3E-A7AC-781C6DF894D0}"/>
              </a:ext>
            </a:extLst>
          </p:cNvPr>
          <p:cNvSpPr>
            <a:spLocks noGrp="1"/>
          </p:cNvSpPr>
          <p:nvPr/>
        </p:nvSpPr>
        <p:spPr>
          <a:xfrm>
            <a:off x="5749018" y="3352800"/>
            <a:ext cx="2857500" cy="2762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18000"/>
              </a:lnSpc>
              <a:defRPr sz="1500">
                <a:solidFill>
                  <a:srgbClr val="C9D7E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C9D7E3"/>
                </a:solidFill>
                <a:latin typeface="Malgun Gothic"/>
                <a:ea typeface="Malgun Gothic"/>
                <a:cs typeface="Malgun Gothic"/>
              </a:rPr>
              <a:t>최종 문서 기준, 병합 전략에서는 CorrelationRemover 제거 후 F1이 0.6919까지 개선되었습니다.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7D642F8-E920-46C1-B9D3-C10ABD6710F0}"/>
              </a:ext>
            </a:extLst>
          </p:cNvPr>
          <p:cNvSpPr>
            <a:spLocks noGrp="1"/>
          </p:cNvSpPr>
          <p:nvPr/>
        </p:nvSpPr>
        <p:spPr>
          <a:xfrm>
            <a:off x="5396593" y="3745840"/>
            <a:ext cx="3305175" cy="763981"/>
          </a:xfrm>
          <a:prstGeom prst="roundRect">
            <a:avLst>
              <a:gd name="adj" fmla="val 14961"/>
            </a:avLst>
          </a:prstGeom>
          <a:solidFill>
            <a:srgbClr val="DFA72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526984-C3F8-46E8-8C0C-681667F7CA98}"/>
              </a:ext>
            </a:extLst>
          </p:cNvPr>
          <p:cNvSpPr>
            <a:spLocks noGrp="1"/>
          </p:cNvSpPr>
          <p:nvPr/>
        </p:nvSpPr>
        <p:spPr>
          <a:xfrm>
            <a:off x="5539468" y="3857625"/>
            <a:ext cx="3019425" cy="171450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defRPr sz="2250" b="1">
                <a:solidFill>
                  <a:srgbClr val="0610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향후 과제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FF2E0C2-5AD6-4183-999F-75B2CFE2C4BD}"/>
              </a:ext>
            </a:extLst>
          </p:cNvPr>
          <p:cNvSpPr>
            <a:spLocks noGrp="1"/>
          </p:cNvSpPr>
          <p:nvPr/>
        </p:nvSpPr>
        <p:spPr>
          <a:xfrm>
            <a:off x="5539468" y="4086225"/>
            <a:ext cx="2895600" cy="314325"/>
          </a:xfrm>
          <a:prstGeom prst="rect">
            <a:avLst/>
          </a:prstGeom>
        </p:spPr>
        <p:txBody>
          <a:bodyPr lIns="0" tIns="0" rIns="0" bIns="0"/>
          <a:lstStyle/>
          <a:p>
            <a:pPr defTabSz="457200" latinLnBrk="0">
              <a:lnSpc>
                <a:spcPct val="122000"/>
              </a:lnSpc>
              <a:defRPr sz="1650">
                <a:solidFill>
                  <a:srgbClr val="061018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061018"/>
                </a:solidFill>
                <a:latin typeface="Malgun Gothic"/>
                <a:ea typeface="Malgun Gothic"/>
                <a:cs typeface="Malgun Gothic"/>
              </a:rPr>
              <a:t>test_member_abc의 하이퍼파라미터 튜닝과 CatBoost/XGBoost 비교를 통해 추가 개선 여지를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211117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36FF537-72AC-73BB-B522-7EA8F11B8B73}"/>
              </a:ext>
            </a:extLst>
          </p:cNvPr>
          <p:cNvSpPr/>
          <p:nvPr/>
        </p:nvSpPr>
        <p:spPr>
          <a:xfrm>
            <a:off x="-4082" y="0"/>
            <a:ext cx="9152164" cy="5143500"/>
          </a:xfrm>
          <a:prstGeom prst="rect">
            <a:avLst/>
          </a:prstGeom>
          <a:solidFill>
            <a:srgbClr val="0716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D4CB2B3-0E8F-833A-2DDF-92740B3B850A}"/>
              </a:ext>
            </a:extLst>
          </p:cNvPr>
          <p:cNvSpPr/>
          <p:nvPr/>
        </p:nvSpPr>
        <p:spPr>
          <a:xfrm>
            <a:off x="406400" y="190500"/>
            <a:ext cx="1276350" cy="419100"/>
          </a:xfrm>
          <a:prstGeom prst="roundRect">
            <a:avLst>
              <a:gd name="adj" fmla="val 50000"/>
            </a:avLst>
          </a:prstGeom>
          <a:solidFill>
            <a:srgbClr val="0A1C2B"/>
          </a:solidFill>
          <a:ln w="19050">
            <a:solidFill>
              <a:srgbClr val="5A9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960DF-BDE9-B981-6307-D45EE2228E8F}"/>
              </a:ext>
            </a:extLst>
          </p:cNvPr>
          <p:cNvSpPr txBox="1"/>
          <p:nvPr/>
        </p:nvSpPr>
        <p:spPr>
          <a:xfrm>
            <a:off x="546100" y="330200"/>
            <a:ext cx="9779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ko-KR" altLang="en-US" sz="1200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인사이트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76A52-E952-81EE-6007-8AFE604E7887}"/>
              </a:ext>
            </a:extLst>
          </p:cNvPr>
          <p:cNvSpPr txBox="1"/>
          <p:nvPr/>
        </p:nvSpPr>
        <p:spPr>
          <a:xfrm>
            <a:off x="457200" y="1028700"/>
            <a:ext cx="5905500" cy="3577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232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인사이트 </a:t>
            </a:r>
            <a:r>
              <a:rPr lang="en-US" altLang="ko-KR" sz="232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— 4</a:t>
            </a:r>
            <a:r>
              <a:rPr lang="ko-KR" altLang="en-US" sz="232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가지 발견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F4165-C739-17D8-C57D-E6DBEFF3248D}"/>
              </a:ext>
            </a:extLst>
          </p:cNvPr>
          <p:cNvSpPr txBox="1"/>
          <p:nvPr/>
        </p:nvSpPr>
        <p:spPr>
          <a:xfrm>
            <a:off x="476250" y="1587500"/>
            <a:ext cx="6096000" cy="1558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013" i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실험 결과로 정리한 전처리 전략 설계의 </a:t>
            </a:r>
            <a:r>
              <a:rPr lang="en-US" altLang="ko-KR" sz="1013" i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r>
              <a:rPr lang="ko-KR" altLang="en-US" sz="1013" i="1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가지 원칙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740E959-ED27-9680-B206-9A610D829D0C}"/>
              </a:ext>
            </a:extLst>
          </p:cNvPr>
          <p:cNvCxnSpPr/>
          <p:nvPr/>
        </p:nvCxnSpPr>
        <p:spPr>
          <a:xfrm>
            <a:off x="457200" y="1857375"/>
            <a:ext cx="1276350" cy="0"/>
          </a:xfrm>
          <a:prstGeom prst="line">
            <a:avLst/>
          </a:prstGeom>
          <a:ln w="30480">
            <a:solidFill>
              <a:srgbClr val="2D6D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94250B3-E901-C2B6-D5C5-2E8AF42D2D37}"/>
              </a:ext>
            </a:extLst>
          </p:cNvPr>
          <p:cNvSpPr/>
          <p:nvPr/>
        </p:nvSpPr>
        <p:spPr>
          <a:xfrm>
            <a:off x="457200" y="2095500"/>
            <a:ext cx="514350" cy="552450"/>
          </a:xfrm>
          <a:prstGeom prst="roundRect">
            <a:avLst/>
          </a:prstGeom>
          <a:solidFill>
            <a:srgbClr val="0B1823"/>
          </a:solidFill>
          <a:ln w="27940">
            <a:solidFill>
              <a:srgbClr val="2D6D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0BBA91-784F-A70B-CB5B-D66EE63C8CF2}"/>
              </a:ext>
            </a:extLst>
          </p:cNvPr>
          <p:cNvSpPr txBox="1"/>
          <p:nvPr/>
        </p:nvSpPr>
        <p:spPr>
          <a:xfrm>
            <a:off x="457200" y="2228850"/>
            <a:ext cx="514350" cy="2423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57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1575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5B2FC-C031-5830-52DE-D75D06BD2915}"/>
              </a:ext>
            </a:extLst>
          </p:cNvPr>
          <p:cNvSpPr txBox="1"/>
          <p:nvPr/>
        </p:nvSpPr>
        <p:spPr>
          <a:xfrm>
            <a:off x="1181100" y="2114551"/>
            <a:ext cx="4476750" cy="1915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 </a:t>
            </a:r>
            <a:r>
              <a:rPr lang="ko-KR" altLang="en-US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설계가 성능 차이를 만든다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E8FA2-248C-5EEF-0D43-EA22A57B0980}"/>
              </a:ext>
            </a:extLst>
          </p:cNvPr>
          <p:cNvSpPr txBox="1"/>
          <p:nvPr/>
        </p:nvSpPr>
        <p:spPr>
          <a:xfrm>
            <a:off x="1181100" y="2390775"/>
            <a:ext cx="4476750" cy="2517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F1 0.6919, C v3 F1 0.6729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고객 단위 집계 기반 전략이 강했습니다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복잡도보다 집계 정보의 질이 핵심입니다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18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E5A2B42-9EBF-FCF5-A0A9-D323D4C0FE8B}"/>
              </a:ext>
            </a:extLst>
          </p:cNvPr>
          <p:cNvSpPr/>
          <p:nvPr/>
        </p:nvSpPr>
        <p:spPr>
          <a:xfrm>
            <a:off x="457200" y="2857500"/>
            <a:ext cx="514350" cy="552450"/>
          </a:xfrm>
          <a:prstGeom prst="roundRect">
            <a:avLst/>
          </a:prstGeom>
          <a:solidFill>
            <a:srgbClr val="0B1823"/>
          </a:solidFill>
          <a:ln w="27940">
            <a:solidFill>
              <a:srgbClr val="5A9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14686D-8E27-7C9F-8CC9-9214F169F52E}"/>
              </a:ext>
            </a:extLst>
          </p:cNvPr>
          <p:cNvSpPr txBox="1"/>
          <p:nvPr/>
        </p:nvSpPr>
        <p:spPr>
          <a:xfrm>
            <a:off x="457200" y="2990850"/>
            <a:ext cx="514350" cy="2423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57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1575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B6CBB0-1F1F-CF6D-DFD2-13001305C21B}"/>
              </a:ext>
            </a:extLst>
          </p:cNvPr>
          <p:cNvSpPr txBox="1"/>
          <p:nvPr/>
        </p:nvSpPr>
        <p:spPr>
          <a:xfrm>
            <a:off x="1181100" y="2876551"/>
            <a:ext cx="4476750" cy="1915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과도한 최적화보다 목적 분리가 중요하다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1223FC-8588-79BF-6753-21CB45F94791}"/>
              </a:ext>
            </a:extLst>
          </p:cNvPr>
          <p:cNvSpPr txBox="1"/>
          <p:nvPr/>
        </p:nvSpPr>
        <p:spPr>
          <a:xfrm>
            <a:off x="1181100" y="3152775"/>
            <a:ext cx="4476750" cy="2517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 v3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균형형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C v4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threshold 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적용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 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강화형입니다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지표 목적에 따라 따로 해석해야 합니다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18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5112348-689F-96A8-0FE9-A3163FB73E8B}"/>
              </a:ext>
            </a:extLst>
          </p:cNvPr>
          <p:cNvSpPr/>
          <p:nvPr/>
        </p:nvSpPr>
        <p:spPr>
          <a:xfrm>
            <a:off x="457200" y="3619500"/>
            <a:ext cx="514350" cy="552450"/>
          </a:xfrm>
          <a:prstGeom prst="roundRect">
            <a:avLst/>
          </a:prstGeom>
          <a:solidFill>
            <a:srgbClr val="0B1823"/>
          </a:solidFill>
          <a:ln w="27940">
            <a:solidFill>
              <a:srgbClr val="6C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CC3C29-14B7-CD2F-1FB4-284662F67593}"/>
              </a:ext>
            </a:extLst>
          </p:cNvPr>
          <p:cNvSpPr txBox="1"/>
          <p:nvPr/>
        </p:nvSpPr>
        <p:spPr>
          <a:xfrm>
            <a:off x="457200" y="3752850"/>
            <a:ext cx="514350" cy="2423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57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1575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D9C827-5292-A08D-6DFC-907BAED12F6D}"/>
              </a:ext>
            </a:extLst>
          </p:cNvPr>
          <p:cNvSpPr txBox="1"/>
          <p:nvPr/>
        </p:nvSpPr>
        <p:spPr>
          <a:xfrm>
            <a:off x="1181100" y="3638551"/>
            <a:ext cx="4476750" cy="1915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좋은 </a:t>
            </a:r>
            <a:r>
              <a:rPr lang="en-US" altLang="ko-KR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</a:t>
            </a:r>
            <a:r>
              <a:rPr lang="ko-KR" altLang="en-US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</a:t>
            </a:r>
            <a:r>
              <a:rPr lang="en-US" altLang="ko-KR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Selection</a:t>
            </a:r>
            <a:r>
              <a:rPr lang="ko-KR" altLang="en-US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보다 우선한다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2C888-97FC-9C36-4BA0-B8C48F63EDE6}"/>
              </a:ext>
            </a:extLst>
          </p:cNvPr>
          <p:cNvSpPr txBox="1"/>
          <p:nvPr/>
        </p:nvSpPr>
        <p:spPr>
          <a:xfrm>
            <a:off x="1181100" y="3914775"/>
            <a:ext cx="4476750" cy="2517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B v3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326→100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개를 선별했지만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0.6165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였습니다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C v3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177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개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feature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0.6729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기록했습니다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18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065F3D-441E-8F94-87E2-5DE1D2E3240E}"/>
              </a:ext>
            </a:extLst>
          </p:cNvPr>
          <p:cNvSpPr/>
          <p:nvPr/>
        </p:nvSpPr>
        <p:spPr>
          <a:xfrm>
            <a:off x="457200" y="4381500"/>
            <a:ext cx="514350" cy="552450"/>
          </a:xfrm>
          <a:prstGeom prst="roundRect">
            <a:avLst/>
          </a:prstGeom>
          <a:solidFill>
            <a:srgbClr val="0B1823"/>
          </a:solidFill>
          <a:ln w="27940">
            <a:solidFill>
              <a:srgbClr val="8AF0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EF7C7-910C-A32B-97AD-043C0274349B}"/>
              </a:ext>
            </a:extLst>
          </p:cNvPr>
          <p:cNvSpPr txBox="1"/>
          <p:nvPr/>
        </p:nvSpPr>
        <p:spPr>
          <a:xfrm>
            <a:off x="457200" y="4514850"/>
            <a:ext cx="514350" cy="2423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85800"/>
            <a:r>
              <a:rPr lang="en-US" altLang="ko-KR" sz="157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1575" b="1">
              <a:solidFill>
                <a:srgbClr val="F5F8F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DECEB6-F117-BCB9-B261-49ECE90288D0}"/>
              </a:ext>
            </a:extLst>
          </p:cNvPr>
          <p:cNvSpPr txBox="1"/>
          <p:nvPr/>
        </p:nvSpPr>
        <p:spPr>
          <a:xfrm>
            <a:off x="1181100" y="4400551"/>
            <a:ext cx="4476750" cy="1915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24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최종 선택은 운영 목표 기준으로 한다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D438ED-33CF-20C9-D1B1-948D4F4A17A8}"/>
              </a:ext>
            </a:extLst>
          </p:cNvPr>
          <p:cNvSpPr txBox="1"/>
          <p:nvPr/>
        </p:nvSpPr>
        <p:spPr>
          <a:xfrm>
            <a:off x="1181100" y="4676775"/>
            <a:ext cx="4476750" cy="2517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사기 고객을 더 많이 잡는 목적이면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Recall, 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균형 비교 목적이면 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F1 </a:t>
            </a:r>
            <a:r>
              <a:rPr lang="ko-KR" altLang="en-US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기준으로 전략을 분리해야 합니다</a:t>
            </a:r>
            <a:r>
              <a:rPr lang="en-US" altLang="ko-KR" sz="818">
                <a:solidFill>
                  <a:srgbClr val="D5E0E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18">
              <a:solidFill>
                <a:srgbClr val="D5E0E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BAC03D-D7CB-7E69-03B2-1EF538B375B4}"/>
              </a:ext>
            </a:extLst>
          </p:cNvPr>
          <p:cNvSpPr txBox="1"/>
          <p:nvPr/>
        </p:nvSpPr>
        <p:spPr>
          <a:xfrm>
            <a:off x="6191250" y="2057401"/>
            <a:ext cx="2381250" cy="2192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ko-KR" altLang="en-US" sz="1425" b="1">
                <a:solidFill>
                  <a:srgbClr val="F5F8F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검증된 주요 수치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B8BF22E-6DCF-3C2D-7D95-DA3B2207DC65}"/>
              </a:ext>
            </a:extLst>
          </p:cNvPr>
          <p:cNvSpPr/>
          <p:nvPr/>
        </p:nvSpPr>
        <p:spPr>
          <a:xfrm>
            <a:off x="6191250" y="2400300"/>
            <a:ext cx="2476500" cy="1219200"/>
          </a:xfrm>
          <a:prstGeom prst="roundRect">
            <a:avLst/>
          </a:prstGeom>
          <a:solidFill>
            <a:srgbClr val="081D28"/>
          </a:solidFill>
          <a:ln w="12700">
            <a:solidFill>
              <a:srgbClr val="3656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ko-KR" altLang="en-US" sz="1350">
              <a:solidFill>
                <a:prstClr val="white"/>
              </a:solidFill>
              <a:latin typeface="맑은 고딕" panose="02110004020202020204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C67DDA-30B5-63D2-BE4D-1B6492DE02FF}"/>
              </a:ext>
            </a:extLst>
          </p:cNvPr>
          <p:cNvSpPr txBox="1"/>
          <p:nvPr/>
        </p:nvSpPr>
        <p:spPr>
          <a:xfrm>
            <a:off x="6400800" y="2609850"/>
            <a:ext cx="1066800" cy="2366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538" b="1" dirty="0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0.6919</a:t>
            </a:r>
            <a:endParaRPr lang="ko-KR" altLang="en-US" sz="1538" b="1" dirty="0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EDB6BF-14A4-5C67-1D19-E254CF4C0485}"/>
              </a:ext>
            </a:extLst>
          </p:cNvPr>
          <p:cNvSpPr txBox="1"/>
          <p:nvPr/>
        </p:nvSpPr>
        <p:spPr>
          <a:xfrm>
            <a:off x="6400800" y="2895600"/>
            <a:ext cx="1123950" cy="1015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66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F1</a:t>
            </a:r>
            <a:endParaRPr lang="ko-KR" altLang="en-US" sz="660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9412AB-654B-81E3-298F-605236BC897D}"/>
              </a:ext>
            </a:extLst>
          </p:cNvPr>
          <p:cNvSpPr txBox="1"/>
          <p:nvPr/>
        </p:nvSpPr>
        <p:spPr>
          <a:xfrm>
            <a:off x="7524750" y="2609850"/>
            <a:ext cx="1066800" cy="2366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538" b="1" dirty="0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0.7417</a:t>
            </a:r>
            <a:endParaRPr lang="ko-KR" altLang="en-US" sz="1538" b="1" dirty="0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ECA252-BF1B-5B11-6EF2-663C9E55D99F}"/>
              </a:ext>
            </a:extLst>
          </p:cNvPr>
          <p:cNvSpPr txBox="1"/>
          <p:nvPr/>
        </p:nvSpPr>
        <p:spPr>
          <a:xfrm>
            <a:off x="7524750" y="2895600"/>
            <a:ext cx="1123950" cy="1015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66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ABC Recall</a:t>
            </a:r>
            <a:endParaRPr lang="ko-KR" altLang="en-US" sz="660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D076F1-4A84-3043-6CC0-7B6A40E1F2D4}"/>
              </a:ext>
            </a:extLst>
          </p:cNvPr>
          <p:cNvSpPr txBox="1"/>
          <p:nvPr/>
        </p:nvSpPr>
        <p:spPr>
          <a:xfrm>
            <a:off x="6400800" y="3124200"/>
            <a:ext cx="1066800" cy="2366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538" b="1">
                <a:solidFill>
                  <a:srgbClr val="6CA7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0.6729</a:t>
            </a:r>
            <a:endParaRPr lang="ko-KR" altLang="en-US" sz="1538" b="1">
              <a:solidFill>
                <a:srgbClr val="6CA7F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BF345-81A0-9823-2816-9D76D99EBAAE}"/>
              </a:ext>
            </a:extLst>
          </p:cNvPr>
          <p:cNvSpPr txBox="1"/>
          <p:nvPr/>
        </p:nvSpPr>
        <p:spPr>
          <a:xfrm>
            <a:off x="6400800" y="3409950"/>
            <a:ext cx="1123950" cy="1015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66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 v3 F1</a:t>
            </a:r>
            <a:endParaRPr lang="ko-KR" altLang="en-US" sz="660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A4B09B-271C-F421-2048-A6EF80B9B023}"/>
              </a:ext>
            </a:extLst>
          </p:cNvPr>
          <p:cNvSpPr txBox="1"/>
          <p:nvPr/>
        </p:nvSpPr>
        <p:spPr>
          <a:xfrm>
            <a:off x="7524750" y="3124200"/>
            <a:ext cx="1066800" cy="23666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1538" b="1">
                <a:solidFill>
                  <a:srgbClr val="8AF0A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0.7399</a:t>
            </a:r>
            <a:endParaRPr lang="ko-KR" altLang="en-US" sz="1538" b="1">
              <a:solidFill>
                <a:srgbClr val="8AF0A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DF6B05-E9BA-4BBF-8CDB-FB8140F36245}"/>
              </a:ext>
            </a:extLst>
          </p:cNvPr>
          <p:cNvSpPr txBox="1"/>
          <p:nvPr/>
        </p:nvSpPr>
        <p:spPr>
          <a:xfrm>
            <a:off x="7524750" y="3409950"/>
            <a:ext cx="1123950" cy="1015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685800"/>
            <a:r>
              <a:rPr lang="en-US" altLang="ko-KR" sz="660">
                <a:solidFill>
                  <a:srgbClr val="AFC4D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 v4 Recall</a:t>
            </a:r>
            <a:endParaRPr lang="ko-KR" altLang="en-US" sz="660">
              <a:solidFill>
                <a:srgbClr val="AFC4D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0" name="top-line">
            <a:extLst>
              <a:ext uri="{FF2B5EF4-FFF2-40B4-BE49-F238E27FC236}">
                <a16:creationId xmlns:a16="http://schemas.microsoft.com/office/drawing/2014/main" id="{2DBB2800-EDAC-DD3B-8B70-1107F7B66032}"/>
              </a:ext>
            </a:extLst>
          </p:cNvPr>
          <p:cNvSpPr>
            <a:spLocks noGrp="1"/>
          </p:cNvSpPr>
          <p:nvPr/>
        </p:nvSpPr>
        <p:spPr>
          <a:xfrm>
            <a:off x="-4082" y="0"/>
            <a:ext cx="9144000" cy="47625"/>
          </a:xfrm>
          <a:prstGeom prst="rect">
            <a:avLst/>
          </a:prstGeom>
          <a:solidFill>
            <a:srgbClr val="2D6DF6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435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BD03CC-A8E0-4BF3-BFEC-1CD1167FC8A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d16e3e8-1ec8-4974-a82a-2fdd20ac2f2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3402</Words>
  <Application>Microsoft Office PowerPoint</Application>
  <PresentationFormat>화면 슬라이드 쇼(16:9)</PresentationFormat>
  <Paragraphs>608</Paragraphs>
  <Slides>24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24</vt:i4>
      </vt:variant>
    </vt:vector>
  </HeadingPairs>
  <TitlesOfParts>
    <vt:vector size="36" baseType="lpstr">
      <vt:lpstr>맑은 고딕</vt:lpstr>
      <vt:lpstr>Consolas</vt:lpstr>
      <vt:lpstr>Yu Gothic</vt:lpstr>
      <vt:lpstr>Noto Sans</vt:lpstr>
      <vt:lpstr>Calibri</vt:lpstr>
      <vt:lpstr>맑은 고딕</vt:lpstr>
      <vt:lpstr>나눔고딕 ExtraBold</vt:lpstr>
      <vt:lpstr>Arial</vt:lpstr>
      <vt:lpstr>ChatGPT</vt:lpstr>
      <vt:lpstr>Office 테마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차규진</dc:creator>
  <cp:lastModifiedBy>김동환</cp:lastModifiedBy>
  <cp:revision>277</cp:revision>
  <dcterms:created xsi:type="dcterms:W3CDTF">2026-05-13T07:23:47Z</dcterms:created>
  <dcterms:modified xsi:type="dcterms:W3CDTF">2026-05-17T09:59:12Z</dcterms:modified>
</cp:coreProperties>
</file>